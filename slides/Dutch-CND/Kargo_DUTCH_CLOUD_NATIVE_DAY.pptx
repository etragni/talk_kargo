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70" r:id="rId11"/>
    <p:sldId id="271" r:id="rId12"/>
    <p:sldId id="272" r:id="rId13"/>
    <p:sldId id="265" r:id="rId14"/>
    <p:sldId id="266" r:id="rId15"/>
    <p:sldId id="267" r:id="rId16"/>
    <p:sldId id="268" r:id="rId17"/>
    <p:sldId id="269"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BDD"/>
    <a:srgbClr val="DAE3F3"/>
    <a:srgbClr val="F3B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96"/>
    <p:restoredTop sz="96127"/>
  </p:normalViewPr>
  <p:slideViewPr>
    <p:cSldViewPr snapToGrid="0" snapToObjects="1">
      <p:cViewPr varScale="1">
        <p:scale>
          <a:sx n="80" d="100"/>
          <a:sy n="80" d="100"/>
        </p:scale>
        <p:origin x="92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02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good to be at Dutch Cloud Native Day. This is a tool-in-action talk, about 25 minutes. The premise is deliberately provocative: you adopted GitOps, and it's genuinely great — but on its own it doesn't tell you how to move a change safely from dev to staging to prod. That gap is what this talk is about, and Kargo is the tool we'll see in action.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 on me. I'm Evangelista Tragni, I lead the Benelux team for AI and Digital Sovereignty. Scan the QR if you'd like to connect on LinkedIn — I'm happy to keep the conversation going after the talk.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next 25 minutes. We start with the promotion gap, then patterns you should know, a Kargo deep-dive, the live demo — which is the heart of it — a quick comparison, and time for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adopted GitOps. Deployments are declarative, you have an audit trail, drift heals itself. All of that is real and good — the left column. But look at the right column: none of those wins tell you how to move an artifact from dev to staging to prod, in what order, with what verification, and who gets to say yes. GitOps reconciles one desired state. It is silent on the journey between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fills that gap today? Usually a quiet re-introduction of manual steps. A shell script someone wrote. A hand-crafted PR to bump the prod values. A Slack message saying staging looks green. A Jira ticket tracking two approvals. None of this is in version control, none of it is enforced, and all of it lives in people's heads. That's the promotion process most teams actually 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further, one distinction that the Kargo docs are very deliberate about, and it's the mental model the whole tool rests on. A promotion and a deployment are not the same thing. A promotion propagates a change to the desired state of the next stage in the lifecycle — it's about moving the intent forward. A deployment is the act of making a cluster's actual state match that desired state, and that job is left to a GitOps agent like Argo CD. Kargo orchestrates the promotions; Argo CD does the deploying. Keep those two in separate boxes and everything else clicks.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going to build a promotion process, build it on these four pillars. Separate your application code from your environment manifests. Pin to immutable digests, not mutable tags, so you deploy exactly what you tested. Use a mix of automated gates and manual approvals. And encode ownership in tooling — who triggers, who approves — not in a Slack thread. Kargo gives you a place to put all four.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Kargo — the first Kubernetes-native promotion engine. It introduces very little new vocabulary, four terms really. A Warehouse monitors your artifact sources and, when it sees a new revision, packs the latest of each into a piece of Freight. Freight is the unit of promotion — think of it as a sealed box of artifacts, an image digest plus a chart version plus a git commit, that travel together all the way down the pipeline. A Stage is a promotion target, usually an environment. And a Promotion is the act of moving Freight from one stage to the next, with verification. That's the whole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pieces fit together as a flow. CI pushes an image to the registry. The Warehouse detects it and emits a new Freight. That Freight auto-promotes into dev, then auto-promotes into staging once the gates pass. The step into prod is gated by a manual approval — someone clicks approve. Every one of these is a native Kubernetes object: Warehouse, Freight, Stage, Promotion, PromotionTask. Your entire pipeline is a set of CRDs, which means it's version-controlled and auditable just like everything else in your cluster.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let's see it in action. I'm going to push an image, watch Kargo pick it up as Freight, and promote it through dev and staging automatically, then approve the step into production myself. Verification gates run between each stage. The repo is on screen if you want to follow along later.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the demo gods aren't kind, here's exactly what you're seeing, step by step. CI builds and pushes to GHCR with a digest. The Warehouse polls and creates a Freight object. It auto-promotes to dev, where an AnalysisRun checks HTTP 200 and latency under 300 milliseconds. Then to staging with a full regression suite and a Prometheus metrics check. And finally, a human approves the promotion to prod from the Kargo UI or CLI, and Argo CD syncs production.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Kargo compare to the alternatives? ApplicationSets are great for templating and rolling out apps, but they don't track freight or run gates — you bolt those on with scripts. Flux's image automation does some of this natively but is limited on gates and approvals and lives in a separate stack. Kargo is purpose-built for promotion: native freight tracking, built-in analysis gates, manual approvals with RBAC and a UI, multi-step pipelines, and it's first-class with Argo CD. Use the right tool for the job — and for promotion, that's Kargo.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home. GitOps gives you deployment; Kargo gives you promotion — they're complementary, not competing. Pin to digests, not tags; immutability is the foundation of safe promotion. Encode your gates and approvals in tooling, not in Slack and not in scripts. And because Kargo is just CRDs, your whole pipeline is version-controlled, auditable, and GitOps-friendly. That's the talk.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everything. Here are the links — the Kargo docs, the source, Argo CD, Flux image automation, and the demo repo. And with that, I'd love to take your questions. Thank you, Dutch Cloud Native Day.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2" name="Google Shape;246;p24" descr="image.png">
            <a:extLst>
              <a:ext uri="{FF2B5EF4-FFF2-40B4-BE49-F238E27FC236}">
                <a16:creationId xmlns:a16="http://schemas.microsoft.com/office/drawing/2014/main" id="{E13AE427-A399-0968-F054-78AD5E85F25D}"/>
              </a:ext>
            </a:extLst>
          </p:cNvPr>
          <p:cNvPicPr preferRelativeResize="0"/>
          <p:nvPr/>
        </p:nvPicPr>
        <p:blipFill rotWithShape="1">
          <a:blip r:embed="rId3">
            <a:alphaModFix/>
          </a:blip>
          <a:srcRect/>
          <a:stretch/>
        </p:blipFill>
        <p:spPr>
          <a:xfrm>
            <a:off x="16042" y="0"/>
            <a:ext cx="18288000" cy="10287000"/>
          </a:xfrm>
          <a:prstGeom prst="rect">
            <a:avLst/>
          </a:prstGeom>
          <a:noFill/>
          <a:ln>
            <a:noFill/>
          </a:ln>
        </p:spPr>
      </p:pic>
      <p:pic>
        <p:nvPicPr>
          <p:cNvPr id="2" name="Image 0" descr="preencoded.png"/>
          <p:cNvPicPr>
            <a:picLocks noChangeAspect="1"/>
          </p:cNvPicPr>
          <p:nvPr/>
        </p:nvPicPr>
        <p:blipFill>
          <a:blip r:embed="rId4"/>
          <a:stretch>
            <a:fillRect/>
          </a:stretch>
        </p:blipFill>
        <p:spPr>
          <a:xfrm>
            <a:off x="1066800" y="819150"/>
            <a:ext cx="1904256" cy="590550"/>
          </a:xfrm>
          <a:prstGeom prst="rect">
            <a:avLst/>
          </a:prstGeom>
        </p:spPr>
      </p:pic>
      <p:sp>
        <p:nvSpPr>
          <p:cNvPr id="3" name="Shape 0"/>
          <p:cNvSpPr/>
          <p:nvPr/>
        </p:nvSpPr>
        <p:spPr>
          <a:xfrm>
            <a:off x="1066800" y="3454172"/>
            <a:ext cx="76200" cy="76200"/>
          </a:xfrm>
          <a:prstGeom prst="ellipse">
            <a:avLst/>
          </a:prstGeom>
          <a:solidFill>
            <a:srgbClr val="EE4D62"/>
          </a:solidFill>
          <a:ln/>
        </p:spPr>
        <p:txBody>
          <a:bodyPr/>
          <a:lstStyle/>
          <a:p>
            <a:endParaRPr lang="en-US"/>
          </a:p>
        </p:txBody>
      </p:sp>
      <p:sp>
        <p:nvSpPr>
          <p:cNvPr id="4" name="Text 1"/>
          <p:cNvSpPr/>
          <p:nvPr/>
        </p:nvSpPr>
        <p:spPr>
          <a:xfrm>
            <a:off x="1295400" y="3339872"/>
            <a:ext cx="3936870"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DUTCH CLOUD NATIVE DAY</a:t>
            </a:r>
            <a:endParaRPr lang="en-US" sz="1800" dirty="0"/>
          </a:p>
        </p:txBody>
      </p:sp>
      <p:sp>
        <p:nvSpPr>
          <p:cNvPr id="6" name="Text 3"/>
          <p:cNvSpPr/>
          <p:nvPr/>
        </p:nvSpPr>
        <p:spPr>
          <a:xfrm>
            <a:off x="1656080" y="4108222"/>
            <a:ext cx="8595717" cy="896838"/>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6900" b="1" kern="0" spc="-241" dirty="0">
                <a:solidFill>
                  <a:srgbClr val="2B3035"/>
                </a:solidFill>
                <a:latin typeface="Arial" pitchFamily="34" charset="0"/>
                <a:ea typeface="Arial" pitchFamily="34" charset="-122"/>
                <a:cs typeface="Arial" pitchFamily="34" charset="-120"/>
              </a:rPr>
              <a:t>GitOps is </a:t>
            </a:r>
            <a:r>
              <a:rPr lang="en-US" sz="6900" b="1" kern="0" spc="-241" dirty="0">
                <a:solidFill>
                  <a:srgbClr val="EE4D62"/>
                </a:solidFill>
                <a:latin typeface="Arial" pitchFamily="34" charset="0"/>
                <a:ea typeface="Arial" pitchFamily="34" charset="-122"/>
                <a:cs typeface="Arial" pitchFamily="34" charset="-120"/>
              </a:rPr>
              <a:t>not enough.</a:t>
            </a:r>
            <a:endParaRPr lang="en-US" sz="6900" dirty="0"/>
          </a:p>
        </p:txBody>
      </p:sp>
      <p:sp>
        <p:nvSpPr>
          <p:cNvPr id="7" name="Text 4"/>
          <p:cNvSpPr/>
          <p:nvPr/>
        </p:nvSpPr>
        <p:spPr>
          <a:xfrm>
            <a:off x="1201827" y="5727176"/>
            <a:ext cx="12165330" cy="501253"/>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850" dirty="0">
                <a:solidFill>
                  <a:srgbClr val="4F555B"/>
                </a:solidFill>
                <a:latin typeface="Arial" pitchFamily="34" charset="0"/>
                <a:ea typeface="Arial" pitchFamily="34" charset="-122"/>
                <a:cs typeface="Arial" pitchFamily="34" charset="-120"/>
              </a:rPr>
              <a:t>Taming environment promotion in Kubernetes with Kargo.</a:t>
            </a:r>
            <a:endParaRPr lang="en-US" sz="2850" dirty="0"/>
          </a:p>
        </p:txBody>
      </p:sp>
      <p:sp>
        <p:nvSpPr>
          <p:cNvPr id="8" name="Shape 5"/>
          <p:cNvSpPr/>
          <p:nvPr/>
        </p:nvSpPr>
        <p:spPr>
          <a:xfrm>
            <a:off x="1066800" y="6484213"/>
            <a:ext cx="2395538" cy="581025"/>
          </a:xfrm>
          <a:prstGeom prst="roundRect">
            <a:avLst>
              <a:gd name="adj" fmla="val 50000"/>
            </a:avLst>
          </a:prstGeom>
          <a:solidFill>
            <a:srgbClr val="F8F6F6"/>
          </a:solidFill>
          <a:ln w="9525">
            <a:solidFill>
              <a:srgbClr val="E7E7E9"/>
            </a:solidFill>
            <a:prstDash val="solid"/>
          </a:ln>
        </p:spPr>
        <p:txBody>
          <a:bodyPr/>
          <a:lstStyle/>
          <a:p>
            <a:endParaRPr lang="en-US"/>
          </a:p>
        </p:txBody>
      </p:sp>
      <p:sp>
        <p:nvSpPr>
          <p:cNvPr id="9" name="Text 6"/>
          <p:cNvSpPr/>
          <p:nvPr/>
        </p:nvSpPr>
        <p:spPr>
          <a:xfrm>
            <a:off x="1304925" y="6617563"/>
            <a:ext cx="1995487"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4F555B"/>
                </a:solidFill>
                <a:latin typeface="Courier New" pitchFamily="34" charset="0"/>
                <a:ea typeface="Courier New" pitchFamily="34" charset="-122"/>
                <a:cs typeface="Courier New" pitchFamily="34" charset="-120"/>
              </a:rPr>
              <a:t>CI / Registry</a:t>
            </a:r>
            <a:endParaRPr lang="en-US" sz="1875" dirty="0"/>
          </a:p>
        </p:txBody>
      </p:sp>
      <p:sp>
        <p:nvSpPr>
          <p:cNvPr id="10" name="Text 7"/>
          <p:cNvSpPr/>
          <p:nvPr/>
        </p:nvSpPr>
        <p:spPr>
          <a:xfrm>
            <a:off x="3633788"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11" name="Shape 8"/>
          <p:cNvSpPr/>
          <p:nvPr/>
        </p:nvSpPr>
        <p:spPr>
          <a:xfrm>
            <a:off x="3953917" y="6484213"/>
            <a:ext cx="1804988" cy="581025"/>
          </a:xfrm>
          <a:prstGeom prst="roundRect">
            <a:avLst>
              <a:gd name="adj" fmla="val 50000"/>
            </a:avLst>
          </a:prstGeom>
          <a:solidFill>
            <a:srgbClr val="FFFFFF"/>
          </a:solidFill>
          <a:ln w="9525">
            <a:solidFill>
              <a:srgbClr val="E7E7E9"/>
            </a:solidFill>
            <a:prstDash val="solid"/>
          </a:ln>
        </p:spPr>
        <p:txBody>
          <a:bodyPr/>
          <a:lstStyle/>
          <a:p>
            <a:endParaRPr lang="en-US"/>
          </a:p>
        </p:txBody>
      </p:sp>
      <p:sp>
        <p:nvSpPr>
          <p:cNvPr id="12" name="Text 9"/>
          <p:cNvSpPr/>
          <p:nvPr/>
        </p:nvSpPr>
        <p:spPr>
          <a:xfrm>
            <a:off x="4192042" y="6617563"/>
            <a:ext cx="1404938"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4F555B"/>
                </a:solidFill>
                <a:latin typeface="Courier New" pitchFamily="34" charset="0"/>
                <a:ea typeface="Courier New" pitchFamily="34" charset="-122"/>
                <a:cs typeface="Courier New" pitchFamily="34" charset="-120"/>
              </a:rPr>
              <a:t>Warehouse</a:t>
            </a:r>
            <a:endParaRPr lang="en-US" sz="1875" dirty="0"/>
          </a:p>
        </p:txBody>
      </p:sp>
      <p:sp>
        <p:nvSpPr>
          <p:cNvPr id="13" name="Text 10"/>
          <p:cNvSpPr/>
          <p:nvPr/>
        </p:nvSpPr>
        <p:spPr>
          <a:xfrm>
            <a:off x="5930354"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14" name="Shape 11"/>
          <p:cNvSpPr/>
          <p:nvPr/>
        </p:nvSpPr>
        <p:spPr>
          <a:xfrm>
            <a:off x="6250484" y="6484213"/>
            <a:ext cx="919162" cy="581025"/>
          </a:xfrm>
          <a:prstGeom prst="roundRect">
            <a:avLst>
              <a:gd name="adj" fmla="val 50000"/>
            </a:avLst>
          </a:prstGeom>
          <a:solidFill>
            <a:srgbClr val="FDF4F5"/>
          </a:solidFill>
          <a:ln w="9525">
            <a:solidFill>
              <a:srgbClr val="EE4D62"/>
            </a:solidFill>
            <a:prstDash val="solid"/>
          </a:ln>
        </p:spPr>
        <p:txBody>
          <a:bodyPr/>
          <a:lstStyle/>
          <a:p>
            <a:endParaRPr lang="en-US"/>
          </a:p>
        </p:txBody>
      </p:sp>
      <p:sp>
        <p:nvSpPr>
          <p:cNvPr id="15" name="Text 12"/>
          <p:cNvSpPr/>
          <p:nvPr/>
        </p:nvSpPr>
        <p:spPr>
          <a:xfrm>
            <a:off x="6488609" y="6617563"/>
            <a:ext cx="519112"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D02A44"/>
                </a:solidFill>
                <a:latin typeface="Courier New" pitchFamily="34" charset="0"/>
                <a:ea typeface="Courier New" pitchFamily="34" charset="-122"/>
                <a:cs typeface="Courier New" pitchFamily="34" charset="-120"/>
              </a:rPr>
              <a:t>dev</a:t>
            </a:r>
            <a:endParaRPr lang="en-US" sz="1875" dirty="0"/>
          </a:p>
        </p:txBody>
      </p:sp>
      <p:sp>
        <p:nvSpPr>
          <p:cNvPr id="16" name="Text 13"/>
          <p:cNvSpPr/>
          <p:nvPr/>
        </p:nvSpPr>
        <p:spPr>
          <a:xfrm>
            <a:off x="7341096"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17" name="Shape 14"/>
          <p:cNvSpPr/>
          <p:nvPr/>
        </p:nvSpPr>
        <p:spPr>
          <a:xfrm>
            <a:off x="7661225" y="6484213"/>
            <a:ext cx="1509713" cy="581025"/>
          </a:xfrm>
          <a:prstGeom prst="roundRect">
            <a:avLst>
              <a:gd name="adj" fmla="val 50000"/>
            </a:avLst>
          </a:prstGeom>
          <a:solidFill>
            <a:srgbClr val="FDF4F5"/>
          </a:solidFill>
          <a:ln w="9525">
            <a:solidFill>
              <a:srgbClr val="EE4D62"/>
            </a:solidFill>
            <a:prstDash val="solid"/>
          </a:ln>
        </p:spPr>
        <p:txBody>
          <a:bodyPr/>
          <a:lstStyle/>
          <a:p>
            <a:endParaRPr lang="en-US"/>
          </a:p>
        </p:txBody>
      </p:sp>
      <p:sp>
        <p:nvSpPr>
          <p:cNvPr id="18" name="Text 15"/>
          <p:cNvSpPr/>
          <p:nvPr/>
        </p:nvSpPr>
        <p:spPr>
          <a:xfrm>
            <a:off x="7899350" y="6617563"/>
            <a:ext cx="1109663"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D02A44"/>
                </a:solidFill>
                <a:latin typeface="Courier New" pitchFamily="34" charset="0"/>
                <a:ea typeface="Courier New" pitchFamily="34" charset="-122"/>
                <a:cs typeface="Courier New" pitchFamily="34" charset="-120"/>
              </a:rPr>
              <a:t>staging</a:t>
            </a:r>
            <a:endParaRPr lang="en-US" sz="1875" dirty="0"/>
          </a:p>
        </p:txBody>
      </p:sp>
      <p:sp>
        <p:nvSpPr>
          <p:cNvPr id="19" name="Text 16"/>
          <p:cNvSpPr/>
          <p:nvPr/>
        </p:nvSpPr>
        <p:spPr>
          <a:xfrm>
            <a:off x="9342388"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20" name="Shape 17"/>
          <p:cNvSpPr/>
          <p:nvPr/>
        </p:nvSpPr>
        <p:spPr>
          <a:xfrm>
            <a:off x="9662517" y="6484213"/>
            <a:ext cx="1066800" cy="581025"/>
          </a:xfrm>
          <a:prstGeom prst="roundRect">
            <a:avLst>
              <a:gd name="adj" fmla="val 50000"/>
            </a:avLst>
          </a:prstGeom>
          <a:solidFill>
            <a:srgbClr val="EE4D62"/>
          </a:solidFill>
          <a:ln w="9525">
            <a:solidFill>
              <a:srgbClr val="EE4D62"/>
            </a:solidFill>
            <a:prstDash val="solid"/>
          </a:ln>
        </p:spPr>
        <p:txBody>
          <a:bodyPr/>
          <a:lstStyle/>
          <a:p>
            <a:endParaRPr lang="en-US"/>
          </a:p>
        </p:txBody>
      </p:sp>
      <p:sp>
        <p:nvSpPr>
          <p:cNvPr id="21" name="Text 18"/>
          <p:cNvSpPr/>
          <p:nvPr/>
        </p:nvSpPr>
        <p:spPr>
          <a:xfrm>
            <a:off x="9900642" y="6617563"/>
            <a:ext cx="666750"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FFFFFF"/>
                </a:solidFill>
                <a:latin typeface="Courier New" pitchFamily="34" charset="0"/>
                <a:ea typeface="Courier New" pitchFamily="34" charset="-122"/>
                <a:cs typeface="Courier New" pitchFamily="34" charset="-120"/>
              </a:rPr>
              <a:t>prod</a:t>
            </a:r>
            <a:endParaRPr lang="en-US" sz="1875" dirty="0"/>
          </a:p>
        </p:txBody>
      </p:sp>
      <p:sp>
        <p:nvSpPr>
          <p:cNvPr id="23" name="Shape 20"/>
          <p:cNvSpPr/>
          <p:nvPr/>
        </p:nvSpPr>
        <p:spPr>
          <a:xfrm>
            <a:off x="1066800" y="9439275"/>
            <a:ext cx="16154400" cy="9525"/>
          </a:xfrm>
          <a:prstGeom prst="rect">
            <a:avLst/>
          </a:prstGeom>
          <a:solidFill>
            <a:srgbClr val="E7E7E9"/>
          </a:solidFill>
          <a:ln/>
        </p:spPr>
        <p:txBody>
          <a:bodyPr/>
          <a:lstStyle/>
          <a:p>
            <a:endParaRPr lang="en-US"/>
          </a:p>
        </p:txBody>
      </p:sp>
      <p:sp>
        <p:nvSpPr>
          <p:cNvPr id="24" name="Text 2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5" name="Text 2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6" name="Text 2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latin typeface="Courier New" pitchFamily="34" charset="0"/>
                <a:ea typeface="Courier New" pitchFamily="34" charset="-122"/>
                <a:cs typeface="Courier New" pitchFamily="34" charset="-120"/>
              </a:rPr>
              <a:t>02</a:t>
            </a:r>
            <a:endParaRPr lang="en-US" sz="1800" dirty="0"/>
          </a:p>
        </p:txBody>
      </p:sp>
      <p:sp>
        <p:nvSpPr>
          <p:cNvPr id="3" name="Text 1"/>
          <p:cNvSpPr/>
          <p:nvPr/>
        </p:nvSpPr>
        <p:spPr>
          <a:xfrm>
            <a:off x="1566714" y="819151"/>
            <a:ext cx="3042252"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ABOUT THE SPEAKER</a:t>
            </a:r>
            <a:endParaRPr lang="en-US" sz="1800" dirty="0"/>
          </a:p>
        </p:txBody>
      </p:sp>
      <p:sp>
        <p:nvSpPr>
          <p:cNvPr id="4" name="Text 2"/>
          <p:cNvSpPr/>
          <p:nvPr/>
        </p:nvSpPr>
        <p:spPr>
          <a:xfrm>
            <a:off x="6858000" y="3648023"/>
            <a:ext cx="10674096" cy="718096"/>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5250" b="1" kern="0" spc="-105" dirty="0">
                <a:solidFill>
                  <a:srgbClr val="2B3035"/>
                </a:solidFill>
                <a:latin typeface="Arial" pitchFamily="34" charset="0"/>
                <a:ea typeface="Arial" pitchFamily="34" charset="-122"/>
                <a:cs typeface="Arial" pitchFamily="34" charset="-120"/>
              </a:rPr>
              <a:t>Evangelista Tragni</a:t>
            </a:r>
            <a:endParaRPr lang="en-US" sz="5250" dirty="0"/>
          </a:p>
        </p:txBody>
      </p:sp>
      <p:sp>
        <p:nvSpPr>
          <p:cNvPr id="5" name="Text 3"/>
          <p:cNvSpPr/>
          <p:nvPr/>
        </p:nvSpPr>
        <p:spPr>
          <a:xfrm>
            <a:off x="6858000" y="4499468"/>
            <a:ext cx="4067175" cy="4667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700" dirty="0">
                <a:solidFill>
                  <a:srgbClr val="D02A44"/>
                </a:solidFill>
                <a:latin typeface="Arial" pitchFamily="34" charset="0"/>
                <a:ea typeface="Arial" pitchFamily="34" charset="-122"/>
                <a:cs typeface="Arial" pitchFamily="34" charset="-120"/>
              </a:rPr>
              <a:t>Benelux Team Leader</a:t>
            </a:r>
            <a:endParaRPr lang="en-US" sz="2700" dirty="0"/>
          </a:p>
        </p:txBody>
      </p:sp>
      <p:sp>
        <p:nvSpPr>
          <p:cNvPr id="6" name="Text 4"/>
          <p:cNvSpPr/>
          <p:nvPr/>
        </p:nvSpPr>
        <p:spPr>
          <a:xfrm>
            <a:off x="6858000" y="5561506"/>
            <a:ext cx="2747010" cy="314325"/>
          </a:xfrm>
          <a:prstGeom prst="rect">
            <a:avLst/>
          </a:prstGeom>
          <a:noFill/>
          <a:ln/>
        </p:spPr>
        <p:txBody>
          <a:bodyPr wrap="square" lIns="25400" tIns="25400" rIns="25400" bIns="25400" rtlCol="0" anchor="t">
            <a:normAutofit fontScale="92500"/>
          </a:bodyPr>
          <a:lstStyle/>
          <a:p>
            <a:pPr marL="0" indent="0" algn="l">
              <a:buNone/>
            </a:pPr>
            <a:r>
              <a:rPr lang="en-US" sz="1875" kern="0" spc="150" dirty="0">
                <a:latin typeface="Courier New" pitchFamily="34" charset="0"/>
                <a:ea typeface="Courier New" pitchFamily="34" charset="-122"/>
                <a:cs typeface="Courier New" pitchFamily="34" charset="-120"/>
              </a:rPr>
              <a:t>COMPANY</a:t>
            </a:r>
            <a:endParaRPr lang="en-US" sz="1875" dirty="0"/>
          </a:p>
        </p:txBody>
      </p:sp>
      <p:sp>
        <p:nvSpPr>
          <p:cNvPr id="7" name="Shape 5"/>
          <p:cNvSpPr/>
          <p:nvPr/>
        </p:nvSpPr>
        <p:spPr>
          <a:xfrm>
            <a:off x="9906000" y="5423393"/>
            <a:ext cx="9525" cy="1600200"/>
          </a:xfrm>
          <a:prstGeom prst="rect">
            <a:avLst/>
          </a:prstGeom>
          <a:solidFill>
            <a:srgbClr val="E7E7E9"/>
          </a:solidFill>
          <a:ln/>
        </p:spPr>
        <p:txBody>
          <a:bodyPr/>
          <a:lstStyle/>
          <a:p>
            <a:endParaRPr lang="en-US"/>
          </a:p>
        </p:txBody>
      </p:sp>
      <p:sp>
        <p:nvSpPr>
          <p:cNvPr id="8" name="Text 6"/>
          <p:cNvSpPr/>
          <p:nvPr/>
        </p:nvSpPr>
        <p:spPr>
          <a:xfrm>
            <a:off x="11719021" y="5537307"/>
            <a:ext cx="1784003" cy="314325"/>
          </a:xfrm>
          <a:prstGeom prst="rect">
            <a:avLst/>
          </a:prstGeom>
          <a:noFill/>
          <a:ln/>
        </p:spPr>
        <p:txBody>
          <a:bodyPr wrap="square" lIns="25400" tIns="25400" rIns="25400" bIns="25400" rtlCol="0" anchor="t">
            <a:normAutofit fontScale="92500"/>
          </a:bodyPr>
          <a:lstStyle/>
          <a:p>
            <a:pPr marL="0" indent="0" algn="l">
              <a:buNone/>
            </a:pPr>
            <a:r>
              <a:rPr lang="en-US" sz="1875" kern="0" spc="150" dirty="0">
                <a:latin typeface="Courier New" pitchFamily="34" charset="0"/>
                <a:ea typeface="Courier New" pitchFamily="34" charset="-122"/>
                <a:cs typeface="Courier New" pitchFamily="34" charset="-120"/>
              </a:rPr>
              <a:t>CONNECT</a:t>
            </a:r>
            <a:endParaRPr lang="en-US" sz="1875" dirty="0"/>
          </a:p>
        </p:txBody>
      </p:sp>
      <p:sp>
        <p:nvSpPr>
          <p:cNvPr id="11" name="Shape 9"/>
          <p:cNvSpPr/>
          <p:nvPr/>
        </p:nvSpPr>
        <p:spPr>
          <a:xfrm>
            <a:off x="1066800" y="9439275"/>
            <a:ext cx="16154400" cy="9525"/>
          </a:xfrm>
          <a:prstGeom prst="rect">
            <a:avLst/>
          </a:prstGeom>
          <a:solidFill>
            <a:srgbClr val="E7E7E9"/>
          </a:solidFill>
          <a:ln/>
        </p:spPr>
        <p:txBody>
          <a:bodyPr/>
          <a:lstStyle/>
          <a:p>
            <a:endParaRPr lang="en-US"/>
          </a:p>
        </p:txBody>
      </p:sp>
      <p:sp>
        <p:nvSpPr>
          <p:cNvPr id="12" name="Text 10"/>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13" name="Text 11"/>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14" name="Text 12"/>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02</a:t>
            </a:r>
            <a:endParaRPr lang="en-US" sz="1800" dirty="0"/>
          </a:p>
        </p:txBody>
      </p:sp>
      <p:pic>
        <p:nvPicPr>
          <p:cNvPr id="15" name="Picture 14">
            <a:extLst>
              <a:ext uri="{FF2B5EF4-FFF2-40B4-BE49-F238E27FC236}">
                <a16:creationId xmlns:a16="http://schemas.microsoft.com/office/drawing/2014/main" id="{92810F9D-00B9-0CCA-631D-2AF3D6E3259C}"/>
              </a:ext>
            </a:extLst>
          </p:cNvPr>
          <p:cNvPicPr>
            <a:picLocks noChangeAspect="1"/>
          </p:cNvPicPr>
          <p:nvPr/>
        </p:nvPicPr>
        <p:blipFill>
          <a:blip r:embed="rId3"/>
          <a:stretch>
            <a:fillRect/>
          </a:stretch>
        </p:blipFill>
        <p:spPr>
          <a:xfrm>
            <a:off x="1175321" y="1457046"/>
            <a:ext cx="5500543" cy="7334057"/>
          </a:xfrm>
          <a:prstGeom prst="rect">
            <a:avLst/>
          </a:prstGeom>
        </p:spPr>
      </p:pic>
      <p:pic>
        <p:nvPicPr>
          <p:cNvPr id="16" name="Google Shape;138;p16" title="Copy of devoteam_cmyk_innovativetech.jpg">
            <a:extLst>
              <a:ext uri="{FF2B5EF4-FFF2-40B4-BE49-F238E27FC236}">
                <a16:creationId xmlns:a16="http://schemas.microsoft.com/office/drawing/2014/main" id="{12E220DE-470C-AB06-1A02-11CB50A0C7C4}"/>
              </a:ext>
            </a:extLst>
          </p:cNvPr>
          <p:cNvPicPr preferRelativeResize="0"/>
          <p:nvPr/>
        </p:nvPicPr>
        <p:blipFill rotWithShape="1">
          <a:blip r:embed="rId4">
            <a:alphaModFix/>
          </a:blip>
          <a:srcRect/>
          <a:stretch/>
        </p:blipFill>
        <p:spPr>
          <a:xfrm>
            <a:off x="6708343" y="5875831"/>
            <a:ext cx="2896667" cy="1147762"/>
          </a:xfrm>
          <a:prstGeom prst="rect">
            <a:avLst/>
          </a:prstGeom>
          <a:noFill/>
          <a:ln>
            <a:noFill/>
          </a:ln>
        </p:spPr>
      </p:pic>
      <p:pic>
        <p:nvPicPr>
          <p:cNvPr id="17" name="Picture 10">
            <a:extLst>
              <a:ext uri="{FF2B5EF4-FFF2-40B4-BE49-F238E27FC236}">
                <a16:creationId xmlns:a16="http://schemas.microsoft.com/office/drawing/2014/main" id="{3166F05D-3DC5-F5C6-68CC-EC2C9FFB0865}"/>
              </a:ext>
            </a:extLst>
          </p:cNvPr>
          <p:cNvPicPr>
            <a:picLocks noChangeAspect="1"/>
          </p:cNvPicPr>
          <p:nvPr/>
        </p:nvPicPr>
        <p:blipFill>
          <a:blip r:embed="rId5"/>
          <a:stretch>
            <a:fillRect/>
          </a:stretch>
        </p:blipFill>
        <p:spPr>
          <a:xfrm>
            <a:off x="10062535" y="6023710"/>
            <a:ext cx="2358048" cy="2358048"/>
          </a:xfrm>
          <a:prstGeom prst="rect">
            <a:avLst/>
          </a:prstGeom>
        </p:spPr>
      </p:pic>
      <p:pic>
        <p:nvPicPr>
          <p:cNvPr id="18" name="Picture 11">
            <a:extLst>
              <a:ext uri="{FF2B5EF4-FFF2-40B4-BE49-F238E27FC236}">
                <a16:creationId xmlns:a16="http://schemas.microsoft.com/office/drawing/2014/main" id="{E6B0F142-CB46-96D2-7A33-4D5067DE8B89}"/>
              </a:ext>
            </a:extLst>
          </p:cNvPr>
          <p:cNvPicPr>
            <a:picLocks noChangeAspect="1"/>
          </p:cNvPicPr>
          <p:nvPr/>
        </p:nvPicPr>
        <p:blipFill>
          <a:blip r:embed="rId6"/>
          <a:stretch>
            <a:fillRect/>
          </a:stretch>
        </p:blipFill>
        <p:spPr>
          <a:xfrm>
            <a:off x="12530853" y="5993986"/>
            <a:ext cx="2284518" cy="2284518"/>
          </a:xfrm>
          <a:prstGeom prst="rect">
            <a:avLst/>
          </a:prstGeom>
        </p:spPr>
      </p:pic>
      <p:pic>
        <p:nvPicPr>
          <p:cNvPr id="19" name="Picture 16">
            <a:extLst>
              <a:ext uri="{FF2B5EF4-FFF2-40B4-BE49-F238E27FC236}">
                <a16:creationId xmlns:a16="http://schemas.microsoft.com/office/drawing/2014/main" id="{880623F2-293A-F9E1-E65A-2ED8A7B2603C}"/>
              </a:ext>
            </a:extLst>
          </p:cNvPr>
          <p:cNvPicPr>
            <a:picLocks noChangeAspect="1"/>
          </p:cNvPicPr>
          <p:nvPr/>
        </p:nvPicPr>
        <p:blipFill>
          <a:blip r:embed="rId7"/>
          <a:stretch>
            <a:fillRect/>
          </a:stretch>
        </p:blipFill>
        <p:spPr>
          <a:xfrm>
            <a:off x="14925642" y="5980606"/>
            <a:ext cx="2187037" cy="21870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03</a:t>
            </a:r>
            <a:endParaRPr lang="en-US" sz="1800" dirty="0"/>
          </a:p>
        </p:txBody>
      </p:sp>
      <p:sp>
        <p:nvSpPr>
          <p:cNvPr id="3" name="Text 1"/>
          <p:cNvSpPr/>
          <p:nvPr/>
        </p:nvSpPr>
        <p:spPr>
          <a:xfrm>
            <a:off x="1566714" y="819151"/>
            <a:ext cx="3400038"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AGENDA — </a:t>
            </a:r>
            <a:endParaRPr lang="en-US" sz="1800" dirty="0"/>
          </a:p>
        </p:txBody>
      </p:sp>
      <p:sp>
        <p:nvSpPr>
          <p:cNvPr id="6" name="Text 4"/>
          <p:cNvSpPr/>
          <p:nvPr/>
        </p:nvSpPr>
        <p:spPr>
          <a:xfrm>
            <a:off x="3028950" y="2943653"/>
            <a:ext cx="14539532" cy="442913"/>
          </a:xfrm>
          <a:prstGeom prst="rect">
            <a:avLst/>
          </a:prstGeom>
          <a:noFill/>
          <a:ln/>
        </p:spPr>
        <p:txBody>
          <a:bodyPr wrap="square" lIns="25400" tIns="25400" rIns="25400" bIns="25400" rtlCol="0" anchor="t">
            <a:noAutofit/>
          </a:bodyPr>
          <a:lstStyle/>
          <a:p>
            <a:pPr marL="0" indent="0" algn="l">
              <a:lnSpc>
                <a:spcPct val="125000"/>
              </a:lnSpc>
              <a:buNone/>
            </a:pPr>
            <a:r>
              <a:rPr lang="en-US" sz="3600" dirty="0">
                <a:solidFill>
                  <a:srgbClr val="2B3035"/>
                </a:solidFill>
                <a:latin typeface="Arial" pitchFamily="34" charset="0"/>
                <a:ea typeface="Arial" pitchFamily="34" charset="-122"/>
                <a:cs typeface="Arial" pitchFamily="34" charset="-120"/>
              </a:rPr>
              <a:t>The promotion gap: why GitOps alone is not enough</a:t>
            </a:r>
            <a:endParaRPr lang="en-US" sz="3600" dirty="0"/>
          </a:p>
        </p:txBody>
      </p:sp>
      <p:sp>
        <p:nvSpPr>
          <p:cNvPr id="7" name="Shape 5"/>
          <p:cNvSpPr/>
          <p:nvPr/>
        </p:nvSpPr>
        <p:spPr>
          <a:xfrm>
            <a:off x="1066800" y="3586590"/>
            <a:ext cx="16154400" cy="9525"/>
          </a:xfrm>
          <a:prstGeom prst="rect">
            <a:avLst/>
          </a:prstGeom>
          <a:solidFill>
            <a:srgbClr val="E7E7E9"/>
          </a:solidFill>
          <a:ln/>
        </p:spPr>
        <p:txBody>
          <a:bodyPr/>
          <a:lstStyle/>
          <a:p>
            <a:endParaRPr lang="en-US" sz="3600"/>
          </a:p>
        </p:txBody>
      </p:sp>
      <p:sp>
        <p:nvSpPr>
          <p:cNvPr id="9" name="Text 7"/>
          <p:cNvSpPr/>
          <p:nvPr/>
        </p:nvSpPr>
        <p:spPr>
          <a:xfrm>
            <a:off x="3028950" y="3834240"/>
            <a:ext cx="14539532" cy="442913"/>
          </a:xfrm>
          <a:prstGeom prst="rect">
            <a:avLst/>
          </a:prstGeom>
          <a:noFill/>
          <a:ln/>
        </p:spPr>
        <p:txBody>
          <a:bodyPr wrap="square" lIns="25400" tIns="25400" rIns="25400" bIns="25400" rtlCol="0" anchor="t">
            <a:noAutofit/>
          </a:bodyPr>
          <a:lstStyle/>
          <a:p>
            <a:pPr marL="0" indent="0" algn="l">
              <a:lnSpc>
                <a:spcPct val="125000"/>
              </a:lnSpc>
              <a:buNone/>
            </a:pPr>
            <a:r>
              <a:rPr lang="en-US" sz="3600" dirty="0">
                <a:solidFill>
                  <a:srgbClr val="2B3035"/>
                </a:solidFill>
                <a:latin typeface="Arial" pitchFamily="34" charset="0"/>
                <a:ea typeface="Arial" pitchFamily="34" charset="-122"/>
                <a:cs typeface="Arial" pitchFamily="34" charset="-120"/>
              </a:rPr>
              <a:t>Promotion patterns &amp; Kargo concepts</a:t>
            </a:r>
            <a:endParaRPr lang="en-US" sz="3600" dirty="0"/>
          </a:p>
        </p:txBody>
      </p:sp>
      <p:sp>
        <p:nvSpPr>
          <p:cNvPr id="10" name="Shape 8"/>
          <p:cNvSpPr/>
          <p:nvPr/>
        </p:nvSpPr>
        <p:spPr>
          <a:xfrm>
            <a:off x="1066800" y="4478636"/>
            <a:ext cx="16154400" cy="9525"/>
          </a:xfrm>
          <a:prstGeom prst="rect">
            <a:avLst/>
          </a:prstGeom>
          <a:solidFill>
            <a:srgbClr val="E7E7E9"/>
          </a:solidFill>
          <a:ln/>
        </p:spPr>
        <p:txBody>
          <a:bodyPr/>
          <a:lstStyle/>
          <a:p>
            <a:endParaRPr lang="en-US" sz="3600"/>
          </a:p>
        </p:txBody>
      </p:sp>
      <p:sp>
        <p:nvSpPr>
          <p:cNvPr id="12" name="Text 10"/>
          <p:cNvSpPr/>
          <p:nvPr/>
        </p:nvSpPr>
        <p:spPr>
          <a:xfrm>
            <a:off x="3028950" y="4726286"/>
            <a:ext cx="14539532" cy="442913"/>
          </a:xfrm>
          <a:prstGeom prst="rect">
            <a:avLst/>
          </a:prstGeom>
          <a:noFill/>
          <a:ln/>
        </p:spPr>
        <p:txBody>
          <a:bodyPr wrap="square" lIns="25400" tIns="25400" rIns="25400" bIns="25400" rtlCol="0" anchor="t">
            <a:noAutofit/>
          </a:bodyPr>
          <a:lstStyle/>
          <a:p>
            <a:pPr marL="0" indent="0" algn="l">
              <a:lnSpc>
                <a:spcPct val="125000"/>
              </a:lnSpc>
              <a:buNone/>
            </a:pPr>
            <a:r>
              <a:rPr lang="en-US" sz="3600" dirty="0">
                <a:solidFill>
                  <a:srgbClr val="2B3035"/>
                </a:solidFill>
                <a:latin typeface="Arial" pitchFamily="34" charset="0"/>
                <a:ea typeface="Arial" pitchFamily="34" charset="-122"/>
                <a:cs typeface="Arial" pitchFamily="34" charset="-120"/>
              </a:rPr>
              <a:t>Beyond Argo CD: Flux and any GitOps agent</a:t>
            </a:r>
            <a:endParaRPr lang="en-US" sz="3600" dirty="0"/>
          </a:p>
        </p:txBody>
      </p:sp>
      <p:sp>
        <p:nvSpPr>
          <p:cNvPr id="13" name="Shape 11"/>
          <p:cNvSpPr/>
          <p:nvPr/>
        </p:nvSpPr>
        <p:spPr>
          <a:xfrm>
            <a:off x="1066800" y="5369223"/>
            <a:ext cx="16154400" cy="9525"/>
          </a:xfrm>
          <a:prstGeom prst="rect">
            <a:avLst/>
          </a:prstGeom>
          <a:solidFill>
            <a:srgbClr val="E7E7E9"/>
          </a:solidFill>
          <a:ln/>
        </p:spPr>
        <p:txBody>
          <a:bodyPr/>
          <a:lstStyle/>
          <a:p>
            <a:endParaRPr lang="en-US" sz="3600"/>
          </a:p>
        </p:txBody>
      </p:sp>
      <p:sp>
        <p:nvSpPr>
          <p:cNvPr id="15" name="Text 13"/>
          <p:cNvSpPr/>
          <p:nvPr/>
        </p:nvSpPr>
        <p:spPr>
          <a:xfrm>
            <a:off x="3028950" y="5616873"/>
            <a:ext cx="14539532" cy="442913"/>
          </a:xfrm>
          <a:prstGeom prst="rect">
            <a:avLst/>
          </a:prstGeom>
          <a:noFill/>
          <a:ln/>
        </p:spPr>
        <p:txBody>
          <a:bodyPr wrap="square" lIns="25400" tIns="25400" rIns="25400" bIns="25400" rtlCol="0" anchor="t">
            <a:noAutofit/>
          </a:bodyPr>
          <a:lstStyle/>
          <a:p>
            <a:pPr marL="0" indent="0" algn="l">
              <a:lnSpc>
                <a:spcPct val="125000"/>
              </a:lnSpc>
              <a:buNone/>
            </a:pPr>
            <a:r>
              <a:rPr lang="en-US" sz="3600" dirty="0">
                <a:solidFill>
                  <a:srgbClr val="2B3035"/>
                </a:solidFill>
                <a:latin typeface="Arial" pitchFamily="34" charset="0"/>
                <a:ea typeface="Arial" pitchFamily="34" charset="-122"/>
                <a:cs typeface="Arial" pitchFamily="34" charset="-120"/>
              </a:rPr>
              <a:t>Access control: who is allowed to promote?</a:t>
            </a:r>
            <a:endParaRPr lang="en-US" sz="3600" dirty="0"/>
          </a:p>
        </p:txBody>
      </p:sp>
      <p:sp>
        <p:nvSpPr>
          <p:cNvPr id="16" name="Shape 14"/>
          <p:cNvSpPr/>
          <p:nvPr/>
        </p:nvSpPr>
        <p:spPr>
          <a:xfrm>
            <a:off x="1066800" y="6262850"/>
            <a:ext cx="16154400" cy="9525"/>
          </a:xfrm>
          <a:prstGeom prst="rect">
            <a:avLst/>
          </a:prstGeom>
          <a:solidFill>
            <a:srgbClr val="E7E7E9"/>
          </a:solidFill>
          <a:ln/>
        </p:spPr>
        <p:txBody>
          <a:bodyPr/>
          <a:lstStyle/>
          <a:p>
            <a:endParaRPr lang="en-US" sz="3600"/>
          </a:p>
        </p:txBody>
      </p:sp>
      <p:sp>
        <p:nvSpPr>
          <p:cNvPr id="18" name="Text 16"/>
          <p:cNvSpPr/>
          <p:nvPr/>
        </p:nvSpPr>
        <p:spPr>
          <a:xfrm>
            <a:off x="3028950" y="6510500"/>
            <a:ext cx="14539532" cy="690564"/>
          </a:xfrm>
          <a:prstGeom prst="rect">
            <a:avLst/>
          </a:prstGeom>
          <a:noFill/>
          <a:ln/>
        </p:spPr>
        <p:txBody>
          <a:bodyPr wrap="square" lIns="25400" tIns="25400" rIns="25400" bIns="25400" rtlCol="0" anchor="t">
            <a:noAutofit/>
          </a:bodyPr>
          <a:lstStyle/>
          <a:p>
            <a:pPr marL="0" indent="0" algn="l">
              <a:lnSpc>
                <a:spcPct val="125000"/>
              </a:lnSpc>
              <a:buNone/>
            </a:pPr>
            <a:r>
              <a:rPr lang="en-US" sz="3600" dirty="0">
                <a:solidFill>
                  <a:srgbClr val="2B3035"/>
                </a:solidFill>
                <a:latin typeface="Arial" pitchFamily="34" charset="0"/>
                <a:ea typeface="Arial" pitchFamily="34" charset="-122"/>
                <a:cs typeface="Arial" pitchFamily="34" charset="-120"/>
              </a:rPr>
              <a:t>Live demo: CI → Kargo → dev → staging → prod</a:t>
            </a:r>
            <a:endParaRPr lang="en-US" sz="3600" dirty="0"/>
          </a:p>
        </p:txBody>
      </p:sp>
      <p:sp>
        <p:nvSpPr>
          <p:cNvPr id="19" name="Shape 17"/>
          <p:cNvSpPr/>
          <p:nvPr/>
        </p:nvSpPr>
        <p:spPr>
          <a:xfrm>
            <a:off x="1066800" y="8044025"/>
            <a:ext cx="16154400" cy="9525"/>
          </a:xfrm>
          <a:prstGeom prst="rect">
            <a:avLst/>
          </a:prstGeom>
          <a:solidFill>
            <a:srgbClr val="E7E7E9"/>
          </a:solidFill>
          <a:ln/>
        </p:spPr>
        <p:txBody>
          <a:bodyPr/>
          <a:lstStyle/>
          <a:p>
            <a:endParaRPr lang="en-US" sz="3600"/>
          </a:p>
        </p:txBody>
      </p:sp>
      <p:sp>
        <p:nvSpPr>
          <p:cNvPr id="20" name="Shape 18"/>
          <p:cNvSpPr/>
          <p:nvPr/>
        </p:nvSpPr>
        <p:spPr>
          <a:xfrm>
            <a:off x="1066800" y="7153438"/>
            <a:ext cx="16154400" cy="9525"/>
          </a:xfrm>
          <a:prstGeom prst="rect">
            <a:avLst/>
          </a:prstGeom>
          <a:solidFill>
            <a:srgbClr val="E7E7E9"/>
          </a:solidFill>
          <a:ln/>
        </p:spPr>
        <p:txBody>
          <a:bodyPr/>
          <a:lstStyle/>
          <a:p>
            <a:endParaRPr lang="en-US" sz="3600"/>
          </a:p>
        </p:txBody>
      </p:sp>
      <p:sp>
        <p:nvSpPr>
          <p:cNvPr id="22" name="Text 20"/>
          <p:cNvSpPr/>
          <p:nvPr/>
        </p:nvSpPr>
        <p:spPr>
          <a:xfrm>
            <a:off x="3028950" y="7401088"/>
            <a:ext cx="14539532" cy="442913"/>
          </a:xfrm>
          <a:prstGeom prst="rect">
            <a:avLst/>
          </a:prstGeom>
          <a:noFill/>
          <a:ln/>
        </p:spPr>
        <p:txBody>
          <a:bodyPr wrap="square" lIns="25400" tIns="25400" rIns="25400" bIns="25400" rtlCol="0" anchor="t">
            <a:noAutofit/>
          </a:bodyPr>
          <a:lstStyle/>
          <a:p>
            <a:pPr marL="0" indent="0" algn="l">
              <a:lnSpc>
                <a:spcPct val="125000"/>
              </a:lnSpc>
              <a:buNone/>
            </a:pPr>
            <a:r>
              <a:rPr lang="en-US" sz="3600" dirty="0">
                <a:solidFill>
                  <a:srgbClr val="4F555B"/>
                </a:solidFill>
                <a:latin typeface="Arial" pitchFamily="34" charset="0"/>
                <a:ea typeface="Arial" pitchFamily="34" charset="-122"/>
                <a:cs typeface="Arial" pitchFamily="34" charset="-120"/>
              </a:rPr>
              <a:t>Comparison &amp; Q&amp;A</a:t>
            </a:r>
            <a:endParaRPr lang="en-US" sz="3600" dirty="0"/>
          </a:p>
        </p:txBody>
      </p:sp>
      <p:sp>
        <p:nvSpPr>
          <p:cNvPr id="23" name="Shape 21"/>
          <p:cNvSpPr/>
          <p:nvPr/>
        </p:nvSpPr>
        <p:spPr>
          <a:xfrm>
            <a:off x="1066800" y="9439275"/>
            <a:ext cx="16154400" cy="9525"/>
          </a:xfrm>
          <a:prstGeom prst="rect">
            <a:avLst/>
          </a:prstGeom>
          <a:solidFill>
            <a:srgbClr val="E7E7E9"/>
          </a:solidFill>
          <a:ln/>
        </p:spPr>
        <p:txBody>
          <a:bodyPr/>
          <a:lstStyle/>
          <a:p>
            <a:endParaRPr lang="en-US"/>
          </a:p>
        </p:txBody>
      </p:sp>
      <p:sp>
        <p:nvSpPr>
          <p:cNvPr id="24" name="Text 22"/>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5" name="Text 23"/>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6" name="Text 24"/>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03</a:t>
            </a:r>
            <a:endParaRPr lang="en-US" sz="1800" dirty="0"/>
          </a:p>
        </p:txBody>
      </p:sp>
      <p:pic>
        <p:nvPicPr>
          <p:cNvPr id="27" name="Image 0" descr="preencoded.png">
            <a:extLst>
              <a:ext uri="{FF2B5EF4-FFF2-40B4-BE49-F238E27FC236}">
                <a16:creationId xmlns:a16="http://schemas.microsoft.com/office/drawing/2014/main" id="{1F6CDA28-B788-402C-8D00-13D215530F89}"/>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BE9EC"/>
          </a:solidFill>
          <a:ln/>
        </p:spPr>
        <p:txBody>
          <a:bodyPr/>
          <a:lstStyle/>
          <a:p>
            <a:endParaRPr lang="en-US"/>
          </a:p>
        </p:txBody>
      </p:sp>
      <p:sp>
        <p:nvSpPr>
          <p:cNvPr id="3" name="Text 1"/>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04</a:t>
            </a:r>
            <a:endParaRPr lang="en-US" sz="1800" dirty="0"/>
          </a:p>
        </p:txBody>
      </p:sp>
      <p:sp>
        <p:nvSpPr>
          <p:cNvPr id="4" name="Text 2"/>
          <p:cNvSpPr/>
          <p:nvPr/>
        </p:nvSpPr>
        <p:spPr>
          <a:xfrm>
            <a:off x="1566714" y="819151"/>
            <a:ext cx="3042252"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THE PROMOTION GAP</a:t>
            </a:r>
            <a:endParaRPr lang="en-US" sz="1800" dirty="0"/>
          </a:p>
        </p:txBody>
      </p:sp>
      <p:sp>
        <p:nvSpPr>
          <p:cNvPr id="5" name="Text 3"/>
          <p:cNvSpPr/>
          <p:nvPr/>
        </p:nvSpPr>
        <p:spPr>
          <a:xfrm>
            <a:off x="1066800" y="1391077"/>
            <a:ext cx="16639032" cy="1345406"/>
          </a:xfrm>
          <a:prstGeom prst="rect">
            <a:avLst/>
          </a:prstGeom>
          <a:noFill/>
          <a:ln/>
        </p:spPr>
        <p:txBody>
          <a:bodyPr wrap="square" lIns="25400" tIns="25400" rIns="25400" bIns="25400" rtlCol="0" anchor="t">
            <a:normAutofit fontScale="925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You adopted GitOps. Deployments are declarative. And yet…</a:t>
            </a:r>
            <a:endParaRPr lang="en-US" sz="4950" dirty="0"/>
          </a:p>
        </p:txBody>
      </p:sp>
      <p:sp>
        <p:nvSpPr>
          <p:cNvPr id="6" name="Shape 4"/>
          <p:cNvSpPr/>
          <p:nvPr/>
        </p:nvSpPr>
        <p:spPr>
          <a:xfrm>
            <a:off x="1066800" y="3157041"/>
            <a:ext cx="7886700" cy="6388894"/>
          </a:xfrm>
          <a:prstGeom prst="roundRect">
            <a:avLst>
              <a:gd name="adj" fmla="val 2982"/>
            </a:avLst>
          </a:prstGeom>
          <a:solidFill>
            <a:srgbClr val="FFFFFF"/>
          </a:solidFill>
          <a:ln w="9525">
            <a:solidFill>
              <a:srgbClr val="E7E7E9"/>
            </a:solidFill>
            <a:prstDash val="solid"/>
          </a:ln>
        </p:spPr>
        <p:txBody>
          <a:bodyPr/>
          <a:lstStyle/>
          <a:p>
            <a:endParaRPr lang="en-US"/>
          </a:p>
        </p:txBody>
      </p:sp>
      <p:sp>
        <p:nvSpPr>
          <p:cNvPr id="7" name="Shape 5"/>
          <p:cNvSpPr/>
          <p:nvPr/>
        </p:nvSpPr>
        <p:spPr>
          <a:xfrm>
            <a:off x="1419225" y="3528516"/>
            <a:ext cx="438150" cy="438150"/>
          </a:xfrm>
          <a:prstGeom prst="roundRect">
            <a:avLst>
              <a:gd name="adj" fmla="val 26087"/>
            </a:avLst>
          </a:prstGeom>
          <a:solidFill>
            <a:srgbClr val="E7F2EB"/>
          </a:solidFill>
          <a:ln/>
        </p:spPr>
        <p:txBody>
          <a:bodyPr/>
          <a:lstStyle/>
          <a:p>
            <a:endParaRPr lang="en-US"/>
          </a:p>
        </p:txBody>
      </p:sp>
      <p:sp>
        <p:nvSpPr>
          <p:cNvPr id="8" name="Text 6"/>
          <p:cNvSpPr/>
          <p:nvPr/>
        </p:nvSpPr>
        <p:spPr>
          <a:xfrm>
            <a:off x="1381125" y="3528516"/>
            <a:ext cx="514350" cy="476250"/>
          </a:xfrm>
          <a:prstGeom prst="rect">
            <a:avLst/>
          </a:prstGeom>
          <a:noFill/>
          <a:ln/>
        </p:spPr>
        <p:txBody>
          <a:bodyPr wrap="square" lIns="25400" tIns="25400" rIns="25400" bIns="25400" rtlCol="0" anchor="ctr">
            <a:normAutofit/>
          </a:bodyPr>
          <a:lstStyle/>
          <a:p>
            <a:pPr marL="0" indent="0" algn="ctr">
              <a:buNone/>
            </a:pPr>
            <a:r>
              <a:rPr lang="en-US" sz="2250" b="1" dirty="0">
                <a:solidFill>
                  <a:srgbClr val="1F8A4C"/>
                </a:solidFill>
                <a:latin typeface="Arial" pitchFamily="34" charset="0"/>
                <a:ea typeface="Arial" pitchFamily="34" charset="-122"/>
                <a:cs typeface="Arial" pitchFamily="34" charset="-120"/>
              </a:rPr>
              <a:t>✓</a:t>
            </a:r>
            <a:endParaRPr lang="en-US" sz="2250" dirty="0"/>
          </a:p>
        </p:txBody>
      </p:sp>
      <p:sp>
        <p:nvSpPr>
          <p:cNvPr id="9" name="Text 7"/>
          <p:cNvSpPr/>
          <p:nvPr/>
        </p:nvSpPr>
        <p:spPr>
          <a:xfrm>
            <a:off x="2047874" y="3609478"/>
            <a:ext cx="3102739" cy="357188"/>
          </a:xfrm>
          <a:prstGeom prst="rect">
            <a:avLst/>
          </a:prstGeom>
          <a:noFill/>
          <a:ln/>
        </p:spPr>
        <p:txBody>
          <a:bodyPr wrap="square" lIns="25400" tIns="25400" rIns="25400" bIns="25400" rtlCol="0" anchor="t">
            <a:noAutofit/>
          </a:bodyPr>
          <a:lstStyle/>
          <a:p>
            <a:pPr marL="0" indent="0" algn="l">
              <a:buNone/>
            </a:pPr>
            <a:r>
              <a:rPr lang="en-US" sz="2400" kern="0" spc="75" dirty="0">
                <a:solidFill>
                  <a:srgbClr val="1F8A4C"/>
                </a:solidFill>
                <a:latin typeface="Courier New" pitchFamily="34" charset="0"/>
                <a:ea typeface="Courier New" pitchFamily="34" charset="-122"/>
                <a:cs typeface="Courier New" pitchFamily="34" charset="-120"/>
              </a:rPr>
              <a:t>GITOPS SOLVES</a:t>
            </a:r>
            <a:endParaRPr lang="en-US" sz="2400" dirty="0"/>
          </a:p>
        </p:txBody>
      </p:sp>
      <p:sp>
        <p:nvSpPr>
          <p:cNvPr id="10" name="Text 8"/>
          <p:cNvSpPr/>
          <p:nvPr/>
        </p:nvSpPr>
        <p:spPr>
          <a:xfrm>
            <a:off x="1419225" y="425241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1" name="Text 9"/>
          <p:cNvSpPr/>
          <p:nvPr/>
        </p:nvSpPr>
        <p:spPr>
          <a:xfrm>
            <a:off x="1860947" y="4252416"/>
            <a:ext cx="313116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Declarative desired state</a:t>
            </a:r>
            <a:endParaRPr lang="en-US" sz="2175" dirty="0"/>
          </a:p>
        </p:txBody>
      </p:sp>
      <p:sp>
        <p:nvSpPr>
          <p:cNvPr id="12" name="Text 10"/>
          <p:cNvSpPr/>
          <p:nvPr/>
        </p:nvSpPr>
        <p:spPr>
          <a:xfrm>
            <a:off x="1419225" y="486454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3" name="Text 11"/>
          <p:cNvSpPr/>
          <p:nvPr/>
        </p:nvSpPr>
        <p:spPr>
          <a:xfrm>
            <a:off x="1860947" y="4864546"/>
            <a:ext cx="2548086"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Auditable Git history</a:t>
            </a:r>
            <a:endParaRPr lang="en-US" sz="2175" dirty="0"/>
          </a:p>
        </p:txBody>
      </p:sp>
      <p:sp>
        <p:nvSpPr>
          <p:cNvPr id="14" name="Text 12"/>
          <p:cNvSpPr/>
          <p:nvPr/>
        </p:nvSpPr>
        <p:spPr>
          <a:xfrm>
            <a:off x="1419225" y="547667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5" name="Text 13"/>
          <p:cNvSpPr/>
          <p:nvPr/>
        </p:nvSpPr>
        <p:spPr>
          <a:xfrm>
            <a:off x="1860947" y="5476676"/>
            <a:ext cx="3289667"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Drift detection &amp; auto-heal</a:t>
            </a:r>
            <a:endParaRPr lang="en-US" sz="2175" dirty="0"/>
          </a:p>
        </p:txBody>
      </p:sp>
      <p:sp>
        <p:nvSpPr>
          <p:cNvPr id="16" name="Text 14"/>
          <p:cNvSpPr/>
          <p:nvPr/>
        </p:nvSpPr>
        <p:spPr>
          <a:xfrm>
            <a:off x="1419225" y="608880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7" name="Text 15"/>
          <p:cNvSpPr/>
          <p:nvPr/>
        </p:nvSpPr>
        <p:spPr>
          <a:xfrm>
            <a:off x="1860947" y="6088806"/>
            <a:ext cx="3368766"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Reproducible deployments</a:t>
            </a:r>
            <a:endParaRPr lang="en-US" sz="2175" dirty="0"/>
          </a:p>
        </p:txBody>
      </p:sp>
      <p:sp>
        <p:nvSpPr>
          <p:cNvPr id="18" name="Text 16"/>
          <p:cNvSpPr/>
          <p:nvPr/>
        </p:nvSpPr>
        <p:spPr>
          <a:xfrm>
            <a:off x="1419225" y="670093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9" name="Text 17"/>
          <p:cNvSpPr/>
          <p:nvPr/>
        </p:nvSpPr>
        <p:spPr>
          <a:xfrm>
            <a:off x="1860947" y="6700936"/>
            <a:ext cx="268860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Single source of truth</a:t>
            </a:r>
            <a:endParaRPr lang="en-US" sz="2175" dirty="0"/>
          </a:p>
        </p:txBody>
      </p:sp>
      <p:sp>
        <p:nvSpPr>
          <p:cNvPr id="20" name="Shape 18"/>
          <p:cNvSpPr/>
          <p:nvPr/>
        </p:nvSpPr>
        <p:spPr>
          <a:xfrm>
            <a:off x="9334500" y="3157041"/>
            <a:ext cx="7886700" cy="6388894"/>
          </a:xfrm>
          <a:prstGeom prst="roundRect">
            <a:avLst>
              <a:gd name="adj" fmla="val 2982"/>
            </a:avLst>
          </a:prstGeom>
          <a:solidFill>
            <a:srgbClr val="FFFFFF"/>
          </a:solidFill>
          <a:ln w="9525">
            <a:solidFill>
              <a:srgbClr val="E7E7E9"/>
            </a:solidFill>
            <a:prstDash val="solid"/>
          </a:ln>
        </p:spPr>
        <p:txBody>
          <a:bodyPr/>
          <a:lstStyle/>
          <a:p>
            <a:endParaRPr lang="en-US"/>
          </a:p>
        </p:txBody>
      </p:sp>
      <p:sp>
        <p:nvSpPr>
          <p:cNvPr id="21" name="Shape 19"/>
          <p:cNvSpPr/>
          <p:nvPr/>
        </p:nvSpPr>
        <p:spPr>
          <a:xfrm>
            <a:off x="9686925" y="3528516"/>
            <a:ext cx="438150" cy="438150"/>
          </a:xfrm>
          <a:prstGeom prst="roundRect">
            <a:avLst>
              <a:gd name="adj" fmla="val 26087"/>
            </a:avLst>
          </a:prstGeom>
          <a:solidFill>
            <a:srgbClr val="F8F6F6"/>
          </a:solidFill>
          <a:ln/>
        </p:spPr>
        <p:txBody>
          <a:bodyPr/>
          <a:lstStyle/>
          <a:p>
            <a:endParaRPr lang="en-US"/>
          </a:p>
        </p:txBody>
      </p:sp>
      <p:sp>
        <p:nvSpPr>
          <p:cNvPr id="22" name="Text 20"/>
          <p:cNvSpPr/>
          <p:nvPr/>
        </p:nvSpPr>
        <p:spPr>
          <a:xfrm>
            <a:off x="9648825" y="3528516"/>
            <a:ext cx="514350" cy="476250"/>
          </a:xfrm>
          <a:prstGeom prst="rect">
            <a:avLst/>
          </a:prstGeom>
          <a:noFill/>
          <a:ln/>
        </p:spPr>
        <p:txBody>
          <a:bodyPr wrap="square" lIns="25400" tIns="25400" rIns="25400" bIns="25400" rtlCol="0" anchor="ctr">
            <a:normAutofit/>
          </a:bodyPr>
          <a:lstStyle/>
          <a:p>
            <a:pPr marL="0" indent="0" algn="ctr">
              <a:buNone/>
            </a:pPr>
            <a:r>
              <a:rPr lang="en-US" sz="2250" b="1" dirty="0">
                <a:solidFill>
                  <a:srgbClr val="4F555B"/>
                </a:solidFill>
                <a:latin typeface="Arial" pitchFamily="34" charset="0"/>
                <a:ea typeface="Arial" pitchFamily="34" charset="-122"/>
                <a:cs typeface="Arial" pitchFamily="34" charset="-120"/>
              </a:rPr>
              <a:t>✗</a:t>
            </a:r>
            <a:endParaRPr lang="en-US" sz="2250" dirty="0"/>
          </a:p>
        </p:txBody>
      </p:sp>
      <p:sp>
        <p:nvSpPr>
          <p:cNvPr id="23" name="Text 21"/>
          <p:cNvSpPr/>
          <p:nvPr/>
        </p:nvSpPr>
        <p:spPr>
          <a:xfrm>
            <a:off x="10315575" y="3609478"/>
            <a:ext cx="4971124" cy="357188"/>
          </a:xfrm>
          <a:prstGeom prst="rect">
            <a:avLst/>
          </a:prstGeom>
          <a:noFill/>
          <a:ln/>
        </p:spPr>
        <p:txBody>
          <a:bodyPr wrap="square" lIns="25400" tIns="25400" rIns="25400" bIns="25400" rtlCol="0" anchor="t">
            <a:noAutofit/>
          </a:bodyPr>
          <a:lstStyle/>
          <a:p>
            <a:pPr marL="0" indent="0" algn="l">
              <a:buNone/>
            </a:pPr>
            <a:r>
              <a:rPr lang="en-US" sz="2400" kern="0" spc="75" dirty="0">
                <a:latin typeface="Courier New" pitchFamily="34" charset="0"/>
                <a:ea typeface="Courier New" pitchFamily="34" charset="-122"/>
                <a:cs typeface="Courier New" pitchFamily="34" charset="-120"/>
              </a:rPr>
              <a:t>GITOPS DOES NOT SOLVE</a:t>
            </a:r>
            <a:endParaRPr lang="en-US" sz="2400" dirty="0"/>
          </a:p>
        </p:txBody>
      </p:sp>
      <p:sp>
        <p:nvSpPr>
          <p:cNvPr id="24" name="Text 22"/>
          <p:cNvSpPr/>
          <p:nvPr/>
        </p:nvSpPr>
        <p:spPr>
          <a:xfrm>
            <a:off x="9686925" y="425241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25" name="Text 23"/>
          <p:cNvSpPr/>
          <p:nvPr/>
        </p:nvSpPr>
        <p:spPr>
          <a:xfrm>
            <a:off x="10109150" y="4252416"/>
            <a:ext cx="5075837"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Promoting artifacts across environments</a:t>
            </a:r>
            <a:endParaRPr lang="en-US" sz="2175" dirty="0"/>
          </a:p>
        </p:txBody>
      </p:sp>
      <p:sp>
        <p:nvSpPr>
          <p:cNvPr id="26" name="Text 24"/>
          <p:cNvSpPr/>
          <p:nvPr/>
        </p:nvSpPr>
        <p:spPr>
          <a:xfrm>
            <a:off x="9686925" y="486454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27" name="Text 25"/>
          <p:cNvSpPr/>
          <p:nvPr/>
        </p:nvSpPr>
        <p:spPr>
          <a:xfrm>
            <a:off x="10109150" y="4864546"/>
            <a:ext cx="409583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Ordering: dev → staging → prod</a:t>
            </a:r>
            <a:endParaRPr lang="en-US" sz="2175" dirty="0"/>
          </a:p>
        </p:txBody>
      </p:sp>
      <p:sp>
        <p:nvSpPr>
          <p:cNvPr id="28" name="Text 26"/>
          <p:cNvSpPr/>
          <p:nvPr/>
        </p:nvSpPr>
        <p:spPr>
          <a:xfrm>
            <a:off x="9686925" y="547667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29" name="Text 27"/>
          <p:cNvSpPr/>
          <p:nvPr/>
        </p:nvSpPr>
        <p:spPr>
          <a:xfrm>
            <a:off x="10109150" y="5476676"/>
            <a:ext cx="3337188"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Verification &amp; quality gates</a:t>
            </a:r>
            <a:endParaRPr lang="en-US" sz="2175" dirty="0"/>
          </a:p>
        </p:txBody>
      </p:sp>
      <p:sp>
        <p:nvSpPr>
          <p:cNvPr id="30" name="Text 28"/>
          <p:cNvSpPr/>
          <p:nvPr/>
        </p:nvSpPr>
        <p:spPr>
          <a:xfrm>
            <a:off x="9686925" y="608880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31" name="Text 29"/>
          <p:cNvSpPr/>
          <p:nvPr/>
        </p:nvSpPr>
        <p:spPr>
          <a:xfrm>
            <a:off x="10109150" y="6088806"/>
            <a:ext cx="3431616"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Manual approval workflows</a:t>
            </a:r>
            <a:endParaRPr lang="en-US" sz="2175" dirty="0"/>
          </a:p>
        </p:txBody>
      </p:sp>
      <p:sp>
        <p:nvSpPr>
          <p:cNvPr id="32" name="Text 30"/>
          <p:cNvSpPr/>
          <p:nvPr/>
        </p:nvSpPr>
        <p:spPr>
          <a:xfrm>
            <a:off x="9686925" y="670093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33" name="Text 31"/>
          <p:cNvSpPr/>
          <p:nvPr/>
        </p:nvSpPr>
        <p:spPr>
          <a:xfrm>
            <a:off x="10109150" y="6700936"/>
            <a:ext cx="4428174"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Who owns the promotion decision?</a:t>
            </a:r>
            <a:endParaRPr lang="en-US" sz="2175" dirty="0"/>
          </a:p>
        </p:txBody>
      </p:sp>
      <p:sp>
        <p:nvSpPr>
          <p:cNvPr id="34" name="Shape 32"/>
          <p:cNvSpPr/>
          <p:nvPr/>
        </p:nvSpPr>
        <p:spPr>
          <a:xfrm>
            <a:off x="1066800" y="9439275"/>
            <a:ext cx="16154400" cy="9525"/>
          </a:xfrm>
          <a:prstGeom prst="rect">
            <a:avLst/>
          </a:prstGeom>
          <a:solidFill>
            <a:srgbClr val="E7E7E9"/>
          </a:solidFill>
          <a:ln/>
        </p:spPr>
        <p:txBody>
          <a:bodyPr/>
          <a:lstStyle/>
          <a:p>
            <a:endParaRPr lang="en-US"/>
          </a:p>
        </p:txBody>
      </p:sp>
      <p:sp>
        <p:nvSpPr>
          <p:cNvPr id="35" name="Text 33"/>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36" name="Text 34"/>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37" name="Text 35"/>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04</a:t>
            </a:r>
            <a:endParaRPr lang="en-US" sz="1800" dirty="0"/>
          </a:p>
        </p:txBody>
      </p:sp>
      <p:pic>
        <p:nvPicPr>
          <p:cNvPr id="39" name="Image 0" descr="preencoded.png">
            <a:extLst>
              <a:ext uri="{FF2B5EF4-FFF2-40B4-BE49-F238E27FC236}">
                <a16:creationId xmlns:a16="http://schemas.microsoft.com/office/drawing/2014/main" id="{17AA79C4-0A17-B9FF-F239-F25941E4896C}"/>
              </a:ext>
            </a:extLst>
          </p:cNvPr>
          <p:cNvPicPr>
            <a:picLocks noChangeAspect="1"/>
          </p:cNvPicPr>
          <p:nvPr/>
        </p:nvPicPr>
        <p:blipFill>
          <a:blip r:embed="rId3"/>
          <a:stretch>
            <a:fillRect/>
          </a:stretch>
        </p:blipFill>
        <p:spPr>
          <a:xfrm>
            <a:off x="15769158" y="381702"/>
            <a:ext cx="1904256" cy="590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1" name="Google Shape;130;p16" descr="image.png">
            <a:extLst>
              <a:ext uri="{FF2B5EF4-FFF2-40B4-BE49-F238E27FC236}">
                <a16:creationId xmlns:a16="http://schemas.microsoft.com/office/drawing/2014/main" id="{8435CA74-E7C6-8918-9457-9DF33774EF18}"/>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 name="Text 0"/>
          <p:cNvSpPr/>
          <p:nvPr/>
        </p:nvSpPr>
        <p:spPr>
          <a:xfrm>
            <a:off x="1066800" y="81917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05</a:t>
            </a:r>
            <a:endParaRPr lang="en-US" sz="1800" dirty="0"/>
          </a:p>
        </p:txBody>
      </p:sp>
      <p:sp>
        <p:nvSpPr>
          <p:cNvPr id="3" name="Text 1"/>
          <p:cNvSpPr/>
          <p:nvPr/>
        </p:nvSpPr>
        <p:spPr>
          <a:xfrm>
            <a:off x="1566714" y="819171"/>
            <a:ext cx="4294809"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WHAT HAPPENS IN PRACTICE</a:t>
            </a:r>
            <a:endParaRPr lang="en-US" sz="1800" dirty="0"/>
          </a:p>
        </p:txBody>
      </p:sp>
      <p:sp>
        <p:nvSpPr>
          <p:cNvPr id="4" name="Text 2"/>
          <p:cNvSpPr/>
          <p:nvPr/>
        </p:nvSpPr>
        <p:spPr>
          <a:xfrm>
            <a:off x="1066800" y="1391276"/>
            <a:ext cx="14716125"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The quiet re-introduction of manual steps</a:t>
            </a:r>
            <a:endParaRPr lang="en-US" sz="4950" dirty="0"/>
          </a:p>
        </p:txBody>
      </p:sp>
      <p:sp>
        <p:nvSpPr>
          <p:cNvPr id="5" name="Shape 3"/>
          <p:cNvSpPr/>
          <p:nvPr/>
        </p:nvSpPr>
        <p:spPr>
          <a:xfrm>
            <a:off x="1066800" y="3648638"/>
            <a:ext cx="7934325" cy="1838325"/>
          </a:xfrm>
          <a:prstGeom prst="roundRect">
            <a:avLst>
              <a:gd name="adj" fmla="val 9326"/>
            </a:avLst>
          </a:prstGeom>
          <a:solidFill>
            <a:schemeClr val="bg1"/>
          </a:solidFill>
          <a:ln/>
        </p:spPr>
        <p:txBody>
          <a:bodyPr/>
          <a:lstStyle/>
          <a:p>
            <a:endParaRPr lang="en-US"/>
          </a:p>
        </p:txBody>
      </p:sp>
      <p:pic>
        <p:nvPicPr>
          <p:cNvPr id="6" name="Image 0" descr="preencoded.png"/>
          <p:cNvPicPr>
            <a:picLocks noChangeAspect="1"/>
          </p:cNvPicPr>
          <p:nvPr/>
        </p:nvPicPr>
        <p:blipFill>
          <a:blip r:embed="rId4">
            <a:alphaModFix amt="90000"/>
          </a:blip>
          <a:stretch>
            <a:fillRect/>
          </a:stretch>
        </p:blipFill>
        <p:spPr>
          <a:xfrm>
            <a:off x="1409700" y="4020113"/>
            <a:ext cx="285750" cy="285750"/>
          </a:xfrm>
          <a:prstGeom prst="rect">
            <a:avLst/>
          </a:prstGeom>
        </p:spPr>
      </p:pic>
      <p:sp>
        <p:nvSpPr>
          <p:cNvPr id="7" name="Text 4"/>
          <p:cNvSpPr/>
          <p:nvPr/>
        </p:nvSpPr>
        <p:spPr>
          <a:xfrm>
            <a:off x="1847850" y="3972488"/>
            <a:ext cx="1889820"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Shell scripts</a:t>
            </a:r>
            <a:endParaRPr lang="en-US" sz="2400" dirty="0"/>
          </a:p>
        </p:txBody>
      </p:sp>
      <p:sp>
        <p:nvSpPr>
          <p:cNvPr id="8" name="Shape 5"/>
          <p:cNvSpPr/>
          <p:nvPr/>
        </p:nvSpPr>
        <p:spPr>
          <a:xfrm>
            <a:off x="1409700" y="4505888"/>
            <a:ext cx="7248525" cy="657225"/>
          </a:xfrm>
          <a:prstGeom prst="roundRect">
            <a:avLst>
              <a:gd name="adj" fmla="val 14493"/>
            </a:avLst>
          </a:prstGeom>
          <a:solidFill>
            <a:schemeClr val="bg1">
              <a:lumMod val="85000"/>
            </a:schemeClr>
          </a:solidFill>
          <a:ln w="9525">
            <a:solidFill>
              <a:srgbClr val="E7E7E9"/>
            </a:solidFill>
            <a:prstDash val="solid"/>
          </a:ln>
        </p:spPr>
        <p:txBody>
          <a:bodyPr/>
          <a:lstStyle/>
          <a:p>
            <a:endParaRPr lang="en-US"/>
          </a:p>
        </p:txBody>
      </p:sp>
      <p:sp>
        <p:nvSpPr>
          <p:cNvPr id="9" name="Text 6"/>
          <p:cNvSpPr/>
          <p:nvPr/>
        </p:nvSpPr>
        <p:spPr>
          <a:xfrm>
            <a:off x="1609725" y="4667813"/>
            <a:ext cx="7065931"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Courier New" pitchFamily="34" charset="0"/>
                <a:ea typeface="Courier New" pitchFamily="34" charset="-122"/>
                <a:cs typeface="Courier New" pitchFamily="34" charset="-120"/>
              </a:rPr>
              <a:t>$ ./update-image-tag.sh prod v1.4.2</a:t>
            </a:r>
            <a:endParaRPr lang="en-US" sz="1875" dirty="0"/>
          </a:p>
        </p:txBody>
      </p:sp>
      <p:sp>
        <p:nvSpPr>
          <p:cNvPr id="10" name="Shape 7"/>
          <p:cNvSpPr/>
          <p:nvPr/>
        </p:nvSpPr>
        <p:spPr>
          <a:xfrm>
            <a:off x="9286875" y="3648638"/>
            <a:ext cx="7934325" cy="1838325"/>
          </a:xfrm>
          <a:prstGeom prst="roundRect">
            <a:avLst>
              <a:gd name="adj" fmla="val 9326"/>
            </a:avLst>
          </a:prstGeom>
          <a:solidFill>
            <a:schemeClr val="bg1"/>
          </a:solidFill>
          <a:ln/>
        </p:spPr>
        <p:txBody>
          <a:bodyPr/>
          <a:lstStyle/>
          <a:p>
            <a:endParaRPr lang="en-US"/>
          </a:p>
        </p:txBody>
      </p:sp>
      <p:pic>
        <p:nvPicPr>
          <p:cNvPr id="11" name="Image 1" descr="preencoded.png"/>
          <p:cNvPicPr>
            <a:picLocks noChangeAspect="1"/>
          </p:cNvPicPr>
          <p:nvPr/>
        </p:nvPicPr>
        <p:blipFill>
          <a:blip r:embed="rId5">
            <a:alphaModFix amt="90000"/>
          </a:blip>
          <a:stretch>
            <a:fillRect/>
          </a:stretch>
        </p:blipFill>
        <p:spPr>
          <a:xfrm>
            <a:off x="9629775" y="4020113"/>
            <a:ext cx="285750" cy="285750"/>
          </a:xfrm>
          <a:prstGeom prst="rect">
            <a:avLst/>
          </a:prstGeom>
        </p:spPr>
      </p:pic>
      <p:sp>
        <p:nvSpPr>
          <p:cNvPr id="12" name="Text 8"/>
          <p:cNvSpPr/>
          <p:nvPr/>
        </p:nvSpPr>
        <p:spPr>
          <a:xfrm>
            <a:off x="10067925" y="3972488"/>
            <a:ext cx="1761827"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Manual PRs</a:t>
            </a:r>
            <a:endParaRPr lang="en-US" sz="2400" dirty="0"/>
          </a:p>
        </p:txBody>
      </p:sp>
      <p:sp>
        <p:nvSpPr>
          <p:cNvPr id="13" name="Shape 9"/>
          <p:cNvSpPr/>
          <p:nvPr/>
        </p:nvSpPr>
        <p:spPr>
          <a:xfrm>
            <a:off x="9629775" y="4505888"/>
            <a:ext cx="7248525" cy="657225"/>
          </a:xfrm>
          <a:prstGeom prst="roundRect">
            <a:avLst>
              <a:gd name="adj" fmla="val 14493"/>
            </a:avLst>
          </a:prstGeom>
          <a:solidFill>
            <a:schemeClr val="bg1">
              <a:lumMod val="85000"/>
            </a:schemeClr>
          </a:solidFill>
          <a:ln w="9525">
            <a:solidFill>
              <a:srgbClr val="E7E7E9"/>
            </a:solidFill>
            <a:prstDash val="solid"/>
          </a:ln>
        </p:spPr>
        <p:txBody>
          <a:bodyPr/>
          <a:lstStyle/>
          <a:p>
            <a:endParaRPr lang="en-US"/>
          </a:p>
        </p:txBody>
      </p:sp>
      <p:sp>
        <p:nvSpPr>
          <p:cNvPr id="14" name="Text 10"/>
          <p:cNvSpPr/>
          <p:nvPr/>
        </p:nvSpPr>
        <p:spPr>
          <a:xfrm>
            <a:off x="9829800" y="4667813"/>
            <a:ext cx="7065931"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Courier New" pitchFamily="34" charset="0"/>
                <a:ea typeface="Courier New" pitchFamily="34" charset="-122"/>
                <a:cs typeface="Courier New" pitchFamily="34" charset="-120"/>
              </a:rPr>
              <a:t>PR #482 — "bump prod values to v1.4.2"</a:t>
            </a:r>
            <a:endParaRPr lang="en-US" sz="1875" dirty="0"/>
          </a:p>
        </p:txBody>
      </p:sp>
      <p:sp>
        <p:nvSpPr>
          <p:cNvPr id="15" name="Shape 11"/>
          <p:cNvSpPr/>
          <p:nvPr/>
        </p:nvSpPr>
        <p:spPr>
          <a:xfrm>
            <a:off x="1066800" y="5772713"/>
            <a:ext cx="7934325" cy="2171700"/>
          </a:xfrm>
          <a:prstGeom prst="roundRect">
            <a:avLst>
              <a:gd name="adj" fmla="val 7895"/>
            </a:avLst>
          </a:prstGeom>
          <a:solidFill>
            <a:schemeClr val="bg1"/>
          </a:solidFill>
          <a:ln/>
        </p:spPr>
        <p:txBody>
          <a:bodyPr/>
          <a:lstStyle/>
          <a:p>
            <a:endParaRPr lang="en-US"/>
          </a:p>
        </p:txBody>
      </p:sp>
      <p:pic>
        <p:nvPicPr>
          <p:cNvPr id="16" name="Image 2" descr="preencoded.png"/>
          <p:cNvPicPr>
            <a:picLocks noChangeAspect="1"/>
          </p:cNvPicPr>
          <p:nvPr/>
        </p:nvPicPr>
        <p:blipFill>
          <a:blip r:embed="rId6">
            <a:alphaModFix amt="90000"/>
          </a:blip>
          <a:stretch>
            <a:fillRect/>
          </a:stretch>
        </p:blipFill>
        <p:spPr>
          <a:xfrm>
            <a:off x="1409700" y="6144188"/>
            <a:ext cx="285750" cy="285750"/>
          </a:xfrm>
          <a:prstGeom prst="rect">
            <a:avLst/>
          </a:prstGeom>
        </p:spPr>
      </p:pic>
      <p:sp>
        <p:nvSpPr>
          <p:cNvPr id="17" name="Text 12"/>
          <p:cNvSpPr/>
          <p:nvPr/>
        </p:nvSpPr>
        <p:spPr>
          <a:xfrm>
            <a:off x="1847850" y="6096563"/>
            <a:ext cx="2401491"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Slack messages</a:t>
            </a:r>
            <a:endParaRPr lang="en-US" sz="2400" dirty="0"/>
          </a:p>
        </p:txBody>
      </p:sp>
      <p:sp>
        <p:nvSpPr>
          <p:cNvPr id="18" name="Shape 13"/>
          <p:cNvSpPr/>
          <p:nvPr/>
        </p:nvSpPr>
        <p:spPr>
          <a:xfrm>
            <a:off x="1409700" y="6629963"/>
            <a:ext cx="7248525" cy="990600"/>
          </a:xfrm>
          <a:prstGeom prst="roundRect">
            <a:avLst>
              <a:gd name="adj" fmla="val 9615"/>
            </a:avLst>
          </a:prstGeom>
          <a:solidFill>
            <a:schemeClr val="bg1">
              <a:lumMod val="85000"/>
            </a:schemeClr>
          </a:solidFill>
          <a:ln w="9525">
            <a:solidFill>
              <a:srgbClr val="E7E7E9"/>
            </a:solidFill>
            <a:prstDash val="solid"/>
          </a:ln>
        </p:spPr>
        <p:txBody>
          <a:bodyPr/>
          <a:lstStyle/>
          <a:p>
            <a:endParaRPr lang="en-US"/>
          </a:p>
        </p:txBody>
      </p:sp>
      <p:sp>
        <p:nvSpPr>
          <p:cNvPr id="19" name="Text 14"/>
          <p:cNvSpPr/>
          <p:nvPr/>
        </p:nvSpPr>
        <p:spPr>
          <a:xfrm>
            <a:off x="1609725" y="6791888"/>
            <a:ext cx="7065931" cy="70485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75" dirty="0">
                <a:latin typeface="Courier New" pitchFamily="34" charset="0"/>
                <a:ea typeface="Courier New" pitchFamily="34" charset="-122"/>
                <a:cs typeface="Courier New" pitchFamily="34" charset="-120"/>
              </a:rPr>
              <a:t>#deployments: "staging looks green, promoting now"</a:t>
            </a:r>
            <a:endParaRPr lang="en-US" sz="1875" dirty="0"/>
          </a:p>
        </p:txBody>
      </p:sp>
      <p:sp>
        <p:nvSpPr>
          <p:cNvPr id="20" name="Shape 15"/>
          <p:cNvSpPr/>
          <p:nvPr/>
        </p:nvSpPr>
        <p:spPr>
          <a:xfrm>
            <a:off x="9286875" y="5772713"/>
            <a:ext cx="7934325" cy="2171700"/>
          </a:xfrm>
          <a:prstGeom prst="roundRect">
            <a:avLst>
              <a:gd name="adj" fmla="val 7895"/>
            </a:avLst>
          </a:prstGeom>
          <a:solidFill>
            <a:schemeClr val="bg1"/>
          </a:solidFill>
          <a:ln/>
        </p:spPr>
        <p:txBody>
          <a:bodyPr/>
          <a:lstStyle/>
          <a:p>
            <a:endParaRPr lang="en-US"/>
          </a:p>
        </p:txBody>
      </p:sp>
      <p:pic>
        <p:nvPicPr>
          <p:cNvPr id="21" name="Image 3" descr="preencoded.png"/>
          <p:cNvPicPr>
            <a:picLocks noChangeAspect="1"/>
          </p:cNvPicPr>
          <p:nvPr/>
        </p:nvPicPr>
        <p:blipFill>
          <a:blip r:embed="rId7">
            <a:alphaModFix amt="90000"/>
          </a:blip>
          <a:stretch>
            <a:fillRect/>
          </a:stretch>
        </p:blipFill>
        <p:spPr>
          <a:xfrm>
            <a:off x="9629775" y="6144188"/>
            <a:ext cx="285750" cy="285750"/>
          </a:xfrm>
          <a:prstGeom prst="rect">
            <a:avLst/>
          </a:prstGeom>
        </p:spPr>
      </p:pic>
      <p:sp>
        <p:nvSpPr>
          <p:cNvPr id="22" name="Text 16"/>
          <p:cNvSpPr/>
          <p:nvPr/>
        </p:nvSpPr>
        <p:spPr>
          <a:xfrm>
            <a:off x="10067925" y="6096563"/>
            <a:ext cx="1829842"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JIRA tickets</a:t>
            </a:r>
            <a:endParaRPr lang="en-US" sz="2400" dirty="0"/>
          </a:p>
        </p:txBody>
      </p:sp>
      <p:sp>
        <p:nvSpPr>
          <p:cNvPr id="23" name="Shape 17"/>
          <p:cNvSpPr/>
          <p:nvPr/>
        </p:nvSpPr>
        <p:spPr>
          <a:xfrm>
            <a:off x="9629775" y="6629963"/>
            <a:ext cx="7248525" cy="990600"/>
          </a:xfrm>
          <a:prstGeom prst="roundRect">
            <a:avLst>
              <a:gd name="adj" fmla="val 9615"/>
            </a:avLst>
          </a:prstGeom>
          <a:solidFill>
            <a:schemeClr val="bg1">
              <a:lumMod val="85000"/>
            </a:schemeClr>
          </a:solidFill>
          <a:ln w="9525">
            <a:solidFill>
              <a:srgbClr val="E7E7E9"/>
            </a:solidFill>
            <a:prstDash val="solid"/>
          </a:ln>
        </p:spPr>
        <p:txBody>
          <a:bodyPr/>
          <a:lstStyle/>
          <a:p>
            <a:endParaRPr lang="en-US"/>
          </a:p>
        </p:txBody>
      </p:sp>
      <p:sp>
        <p:nvSpPr>
          <p:cNvPr id="24" name="Text 18"/>
          <p:cNvSpPr/>
          <p:nvPr/>
        </p:nvSpPr>
        <p:spPr>
          <a:xfrm>
            <a:off x="9829800" y="6791888"/>
            <a:ext cx="7065931"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latin typeface="Courier New" pitchFamily="34" charset="0"/>
                <a:ea typeface="Courier New" pitchFamily="34" charset="-122"/>
                <a:cs typeface="Courier New" pitchFamily="34" charset="-120"/>
              </a:rPr>
              <a:t>DEPLOY-1234 — "Prod promotion needs 2 approvals"</a:t>
            </a:r>
            <a:endParaRPr lang="en-US" sz="1875" dirty="0"/>
          </a:p>
        </p:txBody>
      </p:sp>
      <p:sp>
        <p:nvSpPr>
          <p:cNvPr id="25" name="Shape 19"/>
          <p:cNvSpPr/>
          <p:nvPr/>
        </p:nvSpPr>
        <p:spPr>
          <a:xfrm>
            <a:off x="1066800" y="9439275"/>
            <a:ext cx="16154400" cy="9525"/>
          </a:xfrm>
          <a:prstGeom prst="rect">
            <a:avLst/>
          </a:prstGeom>
          <a:solidFill>
            <a:srgbClr val="E7E7E9"/>
          </a:solidFill>
          <a:ln/>
        </p:spPr>
        <p:txBody>
          <a:bodyPr/>
          <a:lstStyle/>
          <a:p>
            <a:endParaRPr lang="en-US"/>
          </a:p>
        </p:txBody>
      </p:sp>
      <p:sp>
        <p:nvSpPr>
          <p:cNvPr id="26" name="Text 20"/>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7" name="Text 21"/>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8" name="Text 22"/>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05</a:t>
            </a:r>
            <a:endParaRPr lang="en-US" sz="1800" dirty="0"/>
          </a:p>
        </p:txBody>
      </p:sp>
      <p:pic>
        <p:nvPicPr>
          <p:cNvPr id="29" name="Image 0" descr="preencoded.png">
            <a:extLst>
              <a:ext uri="{FF2B5EF4-FFF2-40B4-BE49-F238E27FC236}">
                <a16:creationId xmlns:a16="http://schemas.microsoft.com/office/drawing/2014/main" id="{B250CF82-0990-E94A-D380-B1C8660F841A}"/>
              </a:ext>
            </a:extLst>
          </p:cNvPr>
          <p:cNvPicPr>
            <a:picLocks noChangeAspect="1"/>
          </p:cNvPicPr>
          <p:nvPr/>
        </p:nvPicPr>
        <p:blipFill>
          <a:blip r:embed="rId8"/>
          <a:stretch>
            <a:fillRect/>
          </a:stretch>
        </p:blipFill>
        <p:spPr>
          <a:xfrm>
            <a:off x="15769158" y="366712"/>
            <a:ext cx="1904256" cy="590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06</a:t>
            </a:r>
            <a:endParaRPr lang="en-US" sz="1800" dirty="0"/>
          </a:p>
        </p:txBody>
      </p:sp>
      <p:sp>
        <p:nvSpPr>
          <p:cNvPr id="3" name="Text 1"/>
          <p:cNvSpPr/>
          <p:nvPr/>
        </p:nvSpPr>
        <p:spPr>
          <a:xfrm>
            <a:off x="1566714" y="819151"/>
            <a:ext cx="4144275" cy="283139"/>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CORE CONCEPT</a:t>
            </a:r>
            <a:endParaRPr lang="en-US" sz="1800" dirty="0"/>
          </a:p>
        </p:txBody>
      </p:sp>
      <p:sp>
        <p:nvSpPr>
          <p:cNvPr id="4" name="Text 2"/>
          <p:cNvSpPr/>
          <p:nvPr/>
        </p:nvSpPr>
        <p:spPr>
          <a:xfrm>
            <a:off x="1066800" y="1391076"/>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Promotions are not deployments</a:t>
            </a:r>
            <a:endParaRPr lang="en-US" sz="4950" dirty="0"/>
          </a:p>
        </p:txBody>
      </p:sp>
      <p:sp>
        <p:nvSpPr>
          <p:cNvPr id="5" name="Shape 3"/>
          <p:cNvSpPr/>
          <p:nvPr/>
        </p:nvSpPr>
        <p:spPr>
          <a:xfrm>
            <a:off x="1066800" y="2465286"/>
            <a:ext cx="7658100" cy="6242447"/>
          </a:xfrm>
          <a:prstGeom prst="roundRect">
            <a:avLst>
              <a:gd name="adj" fmla="val 3357"/>
            </a:avLst>
          </a:prstGeom>
          <a:solidFill>
            <a:srgbClr val="FBE9EC"/>
          </a:solidFill>
          <a:ln/>
        </p:spPr>
        <p:txBody>
          <a:bodyPr/>
          <a:lstStyle/>
          <a:p>
            <a:endParaRPr lang="en-US"/>
          </a:p>
        </p:txBody>
      </p:sp>
      <p:sp>
        <p:nvSpPr>
          <p:cNvPr id="6" name="Text 4"/>
          <p:cNvSpPr/>
          <p:nvPr/>
        </p:nvSpPr>
        <p:spPr>
          <a:xfrm>
            <a:off x="1504950" y="2922486"/>
            <a:ext cx="6985254" cy="523875"/>
          </a:xfrm>
          <a:prstGeom prst="rect">
            <a:avLst/>
          </a:prstGeom>
          <a:noFill/>
          <a:ln/>
        </p:spPr>
        <p:txBody>
          <a:bodyPr wrap="square" lIns="25400" tIns="25400" rIns="25400" bIns="25400" rtlCol="0" anchor="t">
            <a:noAutofit/>
          </a:bodyPr>
          <a:lstStyle/>
          <a:p>
            <a:pPr marL="0" indent="0" algn="l">
              <a:buNone/>
            </a:pPr>
            <a:r>
              <a:rPr lang="en-US" sz="3600" b="1" kern="0" spc="-30" dirty="0">
                <a:solidFill>
                  <a:srgbClr val="2B3035"/>
                </a:solidFill>
                <a:latin typeface="Arial" pitchFamily="34" charset="0"/>
                <a:ea typeface="Arial" pitchFamily="34" charset="-122"/>
                <a:cs typeface="Arial" pitchFamily="34" charset="-120"/>
              </a:rPr>
              <a:t>Promotion</a:t>
            </a:r>
            <a:endParaRPr lang="en-US" sz="3600" dirty="0"/>
          </a:p>
        </p:txBody>
      </p:sp>
      <p:sp>
        <p:nvSpPr>
          <p:cNvPr id="7" name="Text 5"/>
          <p:cNvSpPr/>
          <p:nvPr/>
        </p:nvSpPr>
        <p:spPr>
          <a:xfrm>
            <a:off x="1504950" y="3484461"/>
            <a:ext cx="6985254" cy="314325"/>
          </a:xfrm>
          <a:prstGeom prst="rect">
            <a:avLst/>
          </a:prstGeom>
          <a:noFill/>
          <a:ln/>
        </p:spPr>
        <p:txBody>
          <a:bodyPr wrap="square" lIns="25400" tIns="25400" rIns="25400" bIns="25400" rtlCol="0" anchor="t">
            <a:noAutofit/>
          </a:bodyPr>
          <a:lstStyle/>
          <a:p>
            <a:pPr marL="0" indent="0" algn="l">
              <a:buNone/>
            </a:pPr>
            <a:r>
              <a:rPr lang="en-US" sz="2400" kern="0" spc="113" dirty="0">
                <a:solidFill>
                  <a:srgbClr val="D02A44"/>
                </a:solidFill>
                <a:latin typeface="Courier New" pitchFamily="34" charset="0"/>
                <a:ea typeface="Courier New" pitchFamily="34" charset="-122"/>
                <a:cs typeface="Courier New" pitchFamily="34" charset="-120"/>
              </a:rPr>
              <a:t>KARGO ORCHESTRATES THIS</a:t>
            </a:r>
            <a:endParaRPr lang="en-US" sz="2400" dirty="0"/>
          </a:p>
        </p:txBody>
      </p:sp>
      <p:sp>
        <p:nvSpPr>
          <p:cNvPr id="8" name="Text 6"/>
          <p:cNvSpPr/>
          <p:nvPr/>
        </p:nvSpPr>
        <p:spPr>
          <a:xfrm>
            <a:off x="1504950" y="4027386"/>
            <a:ext cx="6985254" cy="859036"/>
          </a:xfrm>
          <a:prstGeom prst="rect">
            <a:avLst/>
          </a:prstGeom>
          <a:noFill/>
          <a:ln/>
        </p:spPr>
        <p:txBody>
          <a:bodyPr wrap="square" lIns="25400" tIns="25400" rIns="25400" bIns="25400" rtlCol="0" anchor="t">
            <a:noAutofit/>
          </a:bodyPr>
          <a:lstStyle/>
          <a:p>
            <a:pPr marL="0" indent="0" algn="l">
              <a:lnSpc>
                <a:spcPct val="142000"/>
              </a:lnSpc>
              <a:buNone/>
            </a:pPr>
            <a:r>
              <a:rPr lang="en-US" sz="2400" dirty="0">
                <a:solidFill>
                  <a:srgbClr val="2B3035"/>
                </a:solidFill>
                <a:latin typeface="Arial" pitchFamily="34" charset="0"/>
                <a:ea typeface="Arial" pitchFamily="34" charset="-122"/>
                <a:cs typeface="Arial" pitchFamily="34" charset="-120"/>
              </a:rPr>
              <a:t>Propagates a change to the </a:t>
            </a:r>
            <a:r>
              <a:rPr lang="en-US" sz="2400" b="1" dirty="0">
                <a:solidFill>
                  <a:srgbClr val="2B3035"/>
                </a:solidFill>
                <a:latin typeface="Arial" pitchFamily="34" charset="0"/>
                <a:ea typeface="Arial" pitchFamily="34" charset="-122"/>
                <a:cs typeface="Arial" pitchFamily="34" charset="-120"/>
              </a:rPr>
              <a:t>desired state </a:t>
            </a:r>
            <a:r>
              <a:rPr lang="en-US" sz="2400" dirty="0">
                <a:solidFill>
                  <a:srgbClr val="2B3035"/>
                </a:solidFill>
                <a:latin typeface="Arial" pitchFamily="34" charset="0"/>
                <a:ea typeface="Arial" pitchFamily="34" charset="-122"/>
                <a:cs typeface="Arial" pitchFamily="34" charset="-120"/>
              </a:rPr>
              <a:t>of the next stage in your application's lifecycle.</a:t>
            </a:r>
            <a:endParaRPr lang="en-US" sz="2400" dirty="0"/>
          </a:p>
        </p:txBody>
      </p:sp>
      <p:sp>
        <p:nvSpPr>
          <p:cNvPr id="9" name="Text 7"/>
          <p:cNvSpPr/>
          <p:nvPr/>
        </p:nvSpPr>
        <p:spPr>
          <a:xfrm>
            <a:off x="1504950" y="7926683"/>
            <a:ext cx="6985254" cy="361950"/>
          </a:xfrm>
          <a:prstGeom prst="rect">
            <a:avLst/>
          </a:prstGeom>
          <a:noFill/>
          <a:ln/>
        </p:spPr>
        <p:txBody>
          <a:bodyPr wrap="square" lIns="25400" tIns="25400" rIns="25400" bIns="25400" rtlCol="0" anchor="t">
            <a:normAutofit/>
          </a:bodyPr>
          <a:lstStyle/>
          <a:p>
            <a:pPr marL="0" indent="0" algn="l">
              <a:buNone/>
            </a:pPr>
            <a:r>
              <a:rPr lang="en-US" sz="1875" dirty="0">
                <a:solidFill>
                  <a:srgbClr val="4F555B"/>
                </a:solidFill>
                <a:latin typeface="Courier New" pitchFamily="34" charset="0"/>
                <a:ea typeface="Courier New" pitchFamily="34" charset="-122"/>
                <a:cs typeface="Courier New" pitchFamily="34" charset="-120"/>
              </a:rPr>
              <a:t>moves intent: stage </a:t>
            </a:r>
            <a:r>
              <a:rPr lang="en-US" sz="1875" b="1" dirty="0">
                <a:solidFill>
                  <a:srgbClr val="2B3035"/>
                </a:solidFill>
                <a:latin typeface="Courier New" pitchFamily="34" charset="0"/>
                <a:ea typeface="Courier New" pitchFamily="34" charset="-122"/>
                <a:cs typeface="Courier New" pitchFamily="34" charset="-120"/>
              </a:rPr>
              <a:t>→ </a:t>
            </a:r>
            <a:r>
              <a:rPr lang="en-US" sz="1875" dirty="0">
                <a:solidFill>
                  <a:srgbClr val="4F555B"/>
                </a:solidFill>
                <a:latin typeface="Courier New" pitchFamily="34" charset="0"/>
                <a:ea typeface="Courier New" pitchFamily="34" charset="-122"/>
                <a:cs typeface="Courier New" pitchFamily="34" charset="-120"/>
              </a:rPr>
              <a:t>stage</a:t>
            </a:r>
            <a:endParaRPr lang="en-US" sz="1875" dirty="0"/>
          </a:p>
        </p:txBody>
      </p:sp>
      <p:sp>
        <p:nvSpPr>
          <p:cNvPr id="10" name="Text 8"/>
          <p:cNvSpPr/>
          <p:nvPr/>
        </p:nvSpPr>
        <p:spPr>
          <a:xfrm>
            <a:off x="8954393" y="5195985"/>
            <a:ext cx="455414" cy="819150"/>
          </a:xfrm>
          <a:prstGeom prst="rect">
            <a:avLst/>
          </a:prstGeom>
          <a:noFill/>
          <a:ln/>
        </p:spPr>
        <p:txBody>
          <a:bodyPr wrap="square" lIns="25400" tIns="25400" rIns="25400" bIns="25400" rtlCol="0" anchor="t">
            <a:normAutofit/>
          </a:bodyPr>
          <a:lstStyle/>
          <a:p>
            <a:pPr marL="0" indent="0" algn="l">
              <a:buNone/>
            </a:pPr>
            <a:r>
              <a:rPr lang="en-US" sz="4800" dirty="0">
                <a:solidFill>
                  <a:srgbClr val="969BA1"/>
                </a:solidFill>
                <a:latin typeface="Arial" pitchFamily="34" charset="0"/>
                <a:ea typeface="Arial" pitchFamily="34" charset="-122"/>
                <a:cs typeface="Arial" pitchFamily="34" charset="-120"/>
              </a:rPr>
              <a:t>≠</a:t>
            </a:r>
            <a:endParaRPr lang="en-US" sz="4800" dirty="0"/>
          </a:p>
        </p:txBody>
      </p:sp>
      <p:sp>
        <p:nvSpPr>
          <p:cNvPr id="11" name="Shape 9"/>
          <p:cNvSpPr/>
          <p:nvPr/>
        </p:nvSpPr>
        <p:spPr>
          <a:xfrm>
            <a:off x="9563100" y="2465286"/>
            <a:ext cx="7658100" cy="6242447"/>
          </a:xfrm>
          <a:prstGeom prst="roundRect">
            <a:avLst>
              <a:gd name="adj" fmla="val 3357"/>
            </a:avLst>
          </a:prstGeom>
          <a:solidFill>
            <a:srgbClr val="F8F6F6"/>
          </a:solidFill>
          <a:ln/>
        </p:spPr>
        <p:txBody>
          <a:bodyPr/>
          <a:lstStyle/>
          <a:p>
            <a:endParaRPr lang="en-US"/>
          </a:p>
        </p:txBody>
      </p:sp>
      <p:sp>
        <p:nvSpPr>
          <p:cNvPr id="12" name="Text 10"/>
          <p:cNvSpPr/>
          <p:nvPr/>
        </p:nvSpPr>
        <p:spPr>
          <a:xfrm>
            <a:off x="10001250" y="2922486"/>
            <a:ext cx="6985254" cy="523875"/>
          </a:xfrm>
          <a:prstGeom prst="rect">
            <a:avLst/>
          </a:prstGeom>
          <a:noFill/>
          <a:ln/>
        </p:spPr>
        <p:txBody>
          <a:bodyPr wrap="square" lIns="25400" tIns="25400" rIns="25400" bIns="25400" rtlCol="0" anchor="t">
            <a:noAutofit/>
          </a:bodyPr>
          <a:lstStyle/>
          <a:p>
            <a:pPr marL="0" indent="0" algn="l">
              <a:buNone/>
            </a:pPr>
            <a:r>
              <a:rPr lang="en-US" sz="3600" b="1" kern="0" spc="-30" dirty="0">
                <a:solidFill>
                  <a:srgbClr val="2B3035"/>
                </a:solidFill>
                <a:latin typeface="Arial" pitchFamily="34" charset="0"/>
                <a:ea typeface="Arial" pitchFamily="34" charset="-122"/>
                <a:cs typeface="Arial" pitchFamily="34" charset="-120"/>
              </a:rPr>
              <a:t>Deployment</a:t>
            </a:r>
            <a:endParaRPr lang="en-US" sz="3600" dirty="0"/>
          </a:p>
        </p:txBody>
      </p:sp>
      <p:sp>
        <p:nvSpPr>
          <p:cNvPr id="13" name="Text 11"/>
          <p:cNvSpPr/>
          <p:nvPr/>
        </p:nvSpPr>
        <p:spPr>
          <a:xfrm>
            <a:off x="10001250" y="3484461"/>
            <a:ext cx="6985254" cy="314325"/>
          </a:xfrm>
          <a:prstGeom prst="rect">
            <a:avLst/>
          </a:prstGeom>
          <a:noFill/>
          <a:ln/>
        </p:spPr>
        <p:txBody>
          <a:bodyPr wrap="square" lIns="25400" tIns="25400" rIns="25400" bIns="25400" rtlCol="0" anchor="t">
            <a:noAutofit/>
          </a:bodyPr>
          <a:lstStyle/>
          <a:p>
            <a:pPr marL="0" indent="0" algn="l">
              <a:buNone/>
            </a:pPr>
            <a:r>
              <a:rPr lang="en-US" sz="2400" kern="0" spc="113" dirty="0">
                <a:solidFill>
                  <a:srgbClr val="4F555B"/>
                </a:solidFill>
                <a:latin typeface="Courier New" pitchFamily="34" charset="0"/>
                <a:ea typeface="Courier New" pitchFamily="34" charset="-122"/>
                <a:cs typeface="Courier New" pitchFamily="34" charset="-120"/>
              </a:rPr>
              <a:t>ANY GITOPS AGENT · ARGO CD, FLUX</a:t>
            </a:r>
            <a:endParaRPr lang="en-US" sz="2400" dirty="0"/>
          </a:p>
        </p:txBody>
      </p:sp>
      <p:sp>
        <p:nvSpPr>
          <p:cNvPr id="14" name="Text 12"/>
          <p:cNvSpPr/>
          <p:nvPr/>
        </p:nvSpPr>
        <p:spPr>
          <a:xfrm>
            <a:off x="10001250" y="4027386"/>
            <a:ext cx="6985254" cy="859036"/>
          </a:xfrm>
          <a:prstGeom prst="rect">
            <a:avLst/>
          </a:prstGeom>
          <a:noFill/>
          <a:ln/>
        </p:spPr>
        <p:txBody>
          <a:bodyPr wrap="square" lIns="25400" tIns="25400" rIns="25400" bIns="25400" rtlCol="0" anchor="t">
            <a:noAutofit/>
          </a:bodyPr>
          <a:lstStyle/>
          <a:p>
            <a:pPr marL="0" indent="0" algn="l">
              <a:lnSpc>
                <a:spcPct val="142000"/>
              </a:lnSpc>
              <a:buNone/>
            </a:pPr>
            <a:r>
              <a:rPr lang="en-US" sz="2400" dirty="0">
                <a:solidFill>
                  <a:srgbClr val="2B3035"/>
                </a:solidFill>
                <a:latin typeface="Arial" pitchFamily="34" charset="0"/>
                <a:ea typeface="Arial" pitchFamily="34" charset="-122"/>
                <a:cs typeface="Arial" pitchFamily="34" charset="-120"/>
              </a:rPr>
              <a:t>Makes a cluster's </a:t>
            </a:r>
            <a:r>
              <a:rPr lang="en-US" sz="2400" b="1" dirty="0">
                <a:solidFill>
                  <a:srgbClr val="2B3035"/>
                </a:solidFill>
                <a:latin typeface="Arial" pitchFamily="34" charset="0"/>
                <a:ea typeface="Arial" pitchFamily="34" charset="-122"/>
                <a:cs typeface="Arial" pitchFamily="34" charset="-120"/>
              </a:rPr>
              <a:t>actual state </a:t>
            </a:r>
            <a:r>
              <a:rPr lang="en-US" sz="2400" dirty="0">
                <a:solidFill>
                  <a:srgbClr val="2B3035"/>
                </a:solidFill>
                <a:latin typeface="Arial" pitchFamily="34" charset="0"/>
                <a:ea typeface="Arial" pitchFamily="34" charset="-122"/>
                <a:cs typeface="Arial" pitchFamily="34" charset="-120"/>
              </a:rPr>
              <a:t>reflect the desired state that promotion just set.</a:t>
            </a:r>
            <a:endParaRPr lang="en-US" sz="2400" dirty="0"/>
          </a:p>
        </p:txBody>
      </p:sp>
      <p:sp>
        <p:nvSpPr>
          <p:cNvPr id="15" name="Text 13"/>
          <p:cNvSpPr/>
          <p:nvPr/>
        </p:nvSpPr>
        <p:spPr>
          <a:xfrm>
            <a:off x="10001250" y="7926683"/>
            <a:ext cx="6985254" cy="361950"/>
          </a:xfrm>
          <a:prstGeom prst="rect">
            <a:avLst/>
          </a:prstGeom>
          <a:noFill/>
          <a:ln/>
        </p:spPr>
        <p:txBody>
          <a:bodyPr wrap="square" lIns="25400" tIns="25400" rIns="25400" bIns="25400" rtlCol="0" anchor="t">
            <a:normAutofit/>
          </a:bodyPr>
          <a:lstStyle/>
          <a:p>
            <a:pPr marL="0" indent="0" algn="l">
              <a:buNone/>
            </a:pPr>
            <a:r>
              <a:rPr lang="en-US" sz="1875" dirty="0">
                <a:solidFill>
                  <a:srgbClr val="4F555B"/>
                </a:solidFill>
                <a:latin typeface="Courier New" pitchFamily="34" charset="0"/>
                <a:ea typeface="Courier New" pitchFamily="34" charset="-122"/>
                <a:cs typeface="Courier New" pitchFamily="34" charset="-120"/>
              </a:rPr>
              <a:t>reconciles: desired </a:t>
            </a:r>
            <a:r>
              <a:rPr lang="en-US" sz="1875" b="1" dirty="0">
                <a:solidFill>
                  <a:srgbClr val="2B3035"/>
                </a:solidFill>
                <a:latin typeface="Courier New" pitchFamily="34" charset="0"/>
                <a:ea typeface="Courier New" pitchFamily="34" charset="-122"/>
                <a:cs typeface="Courier New" pitchFamily="34" charset="-120"/>
              </a:rPr>
              <a:t>→ </a:t>
            </a:r>
            <a:r>
              <a:rPr lang="en-US" sz="1875" dirty="0">
                <a:solidFill>
                  <a:srgbClr val="4F555B"/>
                </a:solidFill>
                <a:latin typeface="Courier New" pitchFamily="34" charset="0"/>
                <a:ea typeface="Courier New" pitchFamily="34" charset="-122"/>
                <a:cs typeface="Courier New" pitchFamily="34" charset="-120"/>
              </a:rPr>
              <a:t>actual</a:t>
            </a:r>
            <a:endParaRPr lang="en-US" sz="1875" dirty="0"/>
          </a:p>
        </p:txBody>
      </p:sp>
      <p:sp>
        <p:nvSpPr>
          <p:cNvPr id="16" name="Shape 14"/>
          <p:cNvSpPr/>
          <p:nvPr/>
        </p:nvSpPr>
        <p:spPr>
          <a:xfrm>
            <a:off x="1066800" y="9106057"/>
            <a:ext cx="76200" cy="76200"/>
          </a:xfrm>
          <a:prstGeom prst="ellipse">
            <a:avLst/>
          </a:prstGeom>
          <a:solidFill>
            <a:srgbClr val="EE4D62"/>
          </a:solidFill>
          <a:ln/>
        </p:spPr>
        <p:txBody>
          <a:bodyPr/>
          <a:lstStyle/>
          <a:p>
            <a:endParaRPr lang="en-US"/>
          </a:p>
        </p:txBody>
      </p:sp>
      <p:sp>
        <p:nvSpPr>
          <p:cNvPr id="17" name="Text 15"/>
          <p:cNvSpPr/>
          <p:nvPr/>
        </p:nvSpPr>
        <p:spPr>
          <a:xfrm>
            <a:off x="1295400" y="8996519"/>
            <a:ext cx="11249558" cy="323850"/>
          </a:xfrm>
          <a:prstGeom prst="rect">
            <a:avLst/>
          </a:prstGeom>
          <a:noFill/>
          <a:ln/>
        </p:spPr>
        <p:txBody>
          <a:bodyPr wrap="square" lIns="0" tIns="0" rIns="0" bIns="0" rtlCol="0" anchor="t">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Kargo focuses on the journey between stages; the deploying itself stays with your GitOps agent.</a:t>
            </a:r>
            <a:endParaRPr lang="en-US" sz="2025" dirty="0"/>
          </a:p>
        </p:txBody>
      </p:sp>
      <p:sp>
        <p:nvSpPr>
          <p:cNvPr id="18" name="Shape 16"/>
          <p:cNvSpPr/>
          <p:nvPr/>
        </p:nvSpPr>
        <p:spPr>
          <a:xfrm>
            <a:off x="1066800" y="9439275"/>
            <a:ext cx="16154400" cy="9525"/>
          </a:xfrm>
          <a:prstGeom prst="rect">
            <a:avLst/>
          </a:prstGeom>
          <a:solidFill>
            <a:srgbClr val="E7E7E9"/>
          </a:solidFill>
          <a:ln/>
        </p:spPr>
        <p:txBody>
          <a:bodyPr/>
          <a:lstStyle/>
          <a:p>
            <a:endParaRPr lang="en-US"/>
          </a:p>
        </p:txBody>
      </p:sp>
      <p:sp>
        <p:nvSpPr>
          <p:cNvPr id="19" name="Text 1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0" name="Text 1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1" name="Text 1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06</a:t>
            </a:r>
            <a:endParaRPr lang="en-US" sz="1800" dirty="0"/>
          </a:p>
        </p:txBody>
      </p:sp>
      <p:pic>
        <p:nvPicPr>
          <p:cNvPr id="22" name="Image 0" descr="preencoded.png">
            <a:extLst>
              <a:ext uri="{FF2B5EF4-FFF2-40B4-BE49-F238E27FC236}">
                <a16:creationId xmlns:a16="http://schemas.microsoft.com/office/drawing/2014/main" id="{6B5617A5-D82C-C456-621E-7D6AD0921DE6}"/>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07</a:t>
            </a:r>
            <a:endParaRPr lang="en-US" sz="1800" dirty="0"/>
          </a:p>
        </p:txBody>
      </p:sp>
      <p:sp>
        <p:nvSpPr>
          <p:cNvPr id="4" name="Text 2"/>
          <p:cNvSpPr/>
          <p:nvPr/>
        </p:nvSpPr>
        <p:spPr>
          <a:xfrm>
            <a:off x="1566714" y="819151"/>
            <a:ext cx="4652748"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HEALTHY PROMOTION PATTERNS</a:t>
            </a:r>
            <a:endParaRPr lang="en-US" sz="1800" dirty="0"/>
          </a:p>
        </p:txBody>
      </p:sp>
      <p:sp>
        <p:nvSpPr>
          <p:cNvPr id="5" name="Text 3"/>
          <p:cNvSpPr/>
          <p:nvPr/>
        </p:nvSpPr>
        <p:spPr>
          <a:xfrm>
            <a:off x="1066800" y="1391077"/>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Four pillars of a safe promotion process</a:t>
            </a:r>
            <a:endParaRPr lang="en-US" sz="4950" dirty="0"/>
          </a:p>
        </p:txBody>
      </p:sp>
      <p:sp>
        <p:nvSpPr>
          <p:cNvPr id="6" name="Shape 4"/>
          <p:cNvSpPr/>
          <p:nvPr/>
        </p:nvSpPr>
        <p:spPr>
          <a:xfrm>
            <a:off x="106680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7" name="Shape 5"/>
          <p:cNvSpPr/>
          <p:nvPr/>
        </p:nvSpPr>
        <p:spPr>
          <a:xfrm>
            <a:off x="1362075" y="4435850"/>
            <a:ext cx="609600" cy="657742"/>
          </a:xfrm>
          <a:prstGeom prst="roundRect">
            <a:avLst>
              <a:gd name="adj" fmla="val 21875"/>
            </a:avLst>
          </a:prstGeom>
          <a:solidFill>
            <a:srgbClr val="FBE9E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495425" y="4590262"/>
            <a:ext cx="342900" cy="369980"/>
          </a:xfrm>
          <a:prstGeom prst="rect">
            <a:avLst/>
          </a:prstGeom>
        </p:spPr>
      </p:pic>
      <p:sp>
        <p:nvSpPr>
          <p:cNvPr id="9" name="Text 6"/>
          <p:cNvSpPr/>
          <p:nvPr/>
        </p:nvSpPr>
        <p:spPr>
          <a:xfrm>
            <a:off x="136207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Mono vs multi-repo</a:t>
            </a:r>
            <a:endParaRPr lang="en-US" sz="2475" dirty="0"/>
          </a:p>
        </p:txBody>
      </p:sp>
      <p:sp>
        <p:nvSpPr>
          <p:cNvPr id="10" name="Text 7"/>
          <p:cNvSpPr/>
          <p:nvPr/>
        </p:nvSpPr>
        <p:spPr>
          <a:xfrm>
            <a:off x="1362075" y="5719063"/>
            <a:ext cx="3374898" cy="1865317"/>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App code ≠ env manifests. Separate repos per environment, or one repo with env branches — each has trade-offs.</a:t>
            </a:r>
            <a:endParaRPr lang="en-US" sz="1875" dirty="0"/>
          </a:p>
        </p:txBody>
      </p:sp>
      <p:sp>
        <p:nvSpPr>
          <p:cNvPr id="11" name="Shape 8"/>
          <p:cNvSpPr/>
          <p:nvPr/>
        </p:nvSpPr>
        <p:spPr>
          <a:xfrm>
            <a:off x="516255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12" name="Shape 9"/>
          <p:cNvSpPr/>
          <p:nvPr/>
        </p:nvSpPr>
        <p:spPr>
          <a:xfrm>
            <a:off x="5457825" y="4435850"/>
            <a:ext cx="609600" cy="657742"/>
          </a:xfrm>
          <a:prstGeom prst="roundRect">
            <a:avLst>
              <a:gd name="adj" fmla="val 21875"/>
            </a:avLst>
          </a:prstGeom>
          <a:solidFill>
            <a:srgbClr val="FBE9E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591175" y="4590262"/>
            <a:ext cx="342900" cy="369980"/>
          </a:xfrm>
          <a:prstGeom prst="rect">
            <a:avLst/>
          </a:prstGeom>
        </p:spPr>
      </p:pic>
      <p:sp>
        <p:nvSpPr>
          <p:cNvPr id="14" name="Text 10"/>
          <p:cNvSpPr/>
          <p:nvPr/>
        </p:nvSpPr>
        <p:spPr>
          <a:xfrm>
            <a:off x="545782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Tags vs digests</a:t>
            </a:r>
            <a:endParaRPr lang="en-US" sz="2475" dirty="0"/>
          </a:p>
        </p:txBody>
      </p:sp>
      <p:sp>
        <p:nvSpPr>
          <p:cNvPr id="15" name="Text 11"/>
          <p:cNvSpPr/>
          <p:nvPr/>
        </p:nvSpPr>
        <p:spPr>
          <a:xfrm>
            <a:off x="5457825" y="5745767"/>
            <a:ext cx="3374898" cy="15004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Image tags are mutable. Immutable SHA-256 digests guarantee you deploy exactly what you tested.</a:t>
            </a:r>
            <a:endParaRPr lang="en-US" sz="1875" dirty="0"/>
          </a:p>
        </p:txBody>
      </p:sp>
      <p:sp>
        <p:nvSpPr>
          <p:cNvPr id="16" name="Shape 12"/>
          <p:cNvSpPr/>
          <p:nvPr/>
        </p:nvSpPr>
        <p:spPr>
          <a:xfrm>
            <a:off x="925830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17" name="Shape 13"/>
          <p:cNvSpPr/>
          <p:nvPr/>
        </p:nvSpPr>
        <p:spPr>
          <a:xfrm>
            <a:off x="9553575" y="4435850"/>
            <a:ext cx="609600" cy="657742"/>
          </a:xfrm>
          <a:prstGeom prst="roundRect">
            <a:avLst>
              <a:gd name="adj" fmla="val 21875"/>
            </a:avLst>
          </a:prstGeom>
          <a:solidFill>
            <a:srgbClr val="FBE9E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686925" y="4590262"/>
            <a:ext cx="342900" cy="369980"/>
          </a:xfrm>
          <a:prstGeom prst="rect">
            <a:avLst/>
          </a:prstGeom>
        </p:spPr>
      </p:pic>
      <p:sp>
        <p:nvSpPr>
          <p:cNvPr id="19" name="Text 14"/>
          <p:cNvSpPr/>
          <p:nvPr/>
        </p:nvSpPr>
        <p:spPr>
          <a:xfrm>
            <a:off x="955357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Gate types</a:t>
            </a:r>
            <a:endParaRPr lang="en-US" sz="2475" dirty="0"/>
          </a:p>
        </p:txBody>
      </p:sp>
      <p:sp>
        <p:nvSpPr>
          <p:cNvPr id="20" name="Text 15"/>
          <p:cNvSpPr/>
          <p:nvPr/>
        </p:nvSpPr>
        <p:spPr>
          <a:xfrm>
            <a:off x="9553575" y="5745016"/>
            <a:ext cx="3374898" cy="1510752"/>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Automated (tests, metrics, smoke checks) </a:t>
            </a:r>
            <a:r>
              <a:rPr lang="en-US" sz="1875" dirty="0">
                <a:solidFill>
                  <a:srgbClr val="D02A44"/>
                </a:solidFill>
                <a:latin typeface="Arial" pitchFamily="34" charset="0"/>
                <a:ea typeface="Arial" pitchFamily="34" charset="-122"/>
                <a:cs typeface="Arial" pitchFamily="34" charset="-120"/>
              </a:rPr>
              <a:t>and </a:t>
            </a:r>
            <a:r>
              <a:rPr lang="en-US" sz="1875" dirty="0">
                <a:solidFill>
                  <a:srgbClr val="4F555B"/>
                </a:solidFill>
                <a:latin typeface="Arial" pitchFamily="34" charset="0"/>
                <a:ea typeface="Arial" pitchFamily="34" charset="-122"/>
                <a:cs typeface="Arial" pitchFamily="34" charset="-120"/>
              </a:rPr>
              <a:t>manual (approvals, CAB, regulated envs).</a:t>
            </a:r>
            <a:endParaRPr lang="en-US" sz="1875" dirty="0"/>
          </a:p>
        </p:txBody>
      </p:sp>
      <p:sp>
        <p:nvSpPr>
          <p:cNvPr id="21" name="Shape 16"/>
          <p:cNvSpPr/>
          <p:nvPr/>
        </p:nvSpPr>
        <p:spPr>
          <a:xfrm>
            <a:off x="1335405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22" name="Shape 17"/>
          <p:cNvSpPr/>
          <p:nvPr/>
        </p:nvSpPr>
        <p:spPr>
          <a:xfrm>
            <a:off x="13649325" y="4435850"/>
            <a:ext cx="609600" cy="657742"/>
          </a:xfrm>
          <a:prstGeom prst="roundRect">
            <a:avLst>
              <a:gd name="adj" fmla="val 21875"/>
            </a:avLst>
          </a:prstGeom>
          <a:solidFill>
            <a:srgbClr val="FBE9EC"/>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13782675" y="4590262"/>
            <a:ext cx="342900" cy="369980"/>
          </a:xfrm>
          <a:prstGeom prst="rect">
            <a:avLst/>
          </a:prstGeom>
        </p:spPr>
      </p:pic>
      <p:sp>
        <p:nvSpPr>
          <p:cNvPr id="24" name="Text 18"/>
          <p:cNvSpPr/>
          <p:nvPr/>
        </p:nvSpPr>
        <p:spPr>
          <a:xfrm>
            <a:off x="1364932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Ownership</a:t>
            </a:r>
            <a:endParaRPr lang="en-US" sz="2475" dirty="0"/>
          </a:p>
        </p:txBody>
      </p:sp>
      <p:sp>
        <p:nvSpPr>
          <p:cNvPr id="25" name="Text 19"/>
          <p:cNvSpPr/>
          <p:nvPr/>
        </p:nvSpPr>
        <p:spPr>
          <a:xfrm>
            <a:off x="13649325" y="5745767"/>
            <a:ext cx="3374898" cy="15004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Who triggers a promotion? Who approves? Encode the policy in tooling, not in conversations.</a:t>
            </a:r>
            <a:endParaRPr lang="en-US" sz="1875" dirty="0"/>
          </a:p>
        </p:txBody>
      </p:sp>
      <p:sp>
        <p:nvSpPr>
          <p:cNvPr id="26" name="Shape 20"/>
          <p:cNvSpPr/>
          <p:nvPr/>
        </p:nvSpPr>
        <p:spPr>
          <a:xfrm>
            <a:off x="1066800" y="9439275"/>
            <a:ext cx="16154400" cy="9525"/>
          </a:xfrm>
          <a:prstGeom prst="rect">
            <a:avLst/>
          </a:prstGeom>
          <a:solidFill>
            <a:srgbClr val="E7E7E9"/>
          </a:solidFill>
          <a:ln/>
        </p:spPr>
        <p:txBody>
          <a:bodyPr/>
          <a:lstStyle/>
          <a:p>
            <a:endParaRPr lang="en-US"/>
          </a:p>
        </p:txBody>
      </p:sp>
      <p:sp>
        <p:nvSpPr>
          <p:cNvPr id="27" name="Text 2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8" name="Text 2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9" name="Text 2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07</a:t>
            </a:r>
            <a:endParaRPr lang="en-US" sz="1800" dirty="0"/>
          </a:p>
        </p:txBody>
      </p:sp>
      <p:pic>
        <p:nvPicPr>
          <p:cNvPr id="30" name="Image 0" descr="preencoded.png">
            <a:extLst>
              <a:ext uri="{FF2B5EF4-FFF2-40B4-BE49-F238E27FC236}">
                <a16:creationId xmlns:a16="http://schemas.microsoft.com/office/drawing/2014/main" id="{AA4B04AD-5A7C-4E76-DCD5-62471B5A7F2B}"/>
              </a:ext>
            </a:extLst>
          </p:cNvPr>
          <p:cNvPicPr>
            <a:picLocks noChangeAspect="1"/>
          </p:cNvPicPr>
          <p:nvPr/>
        </p:nvPicPr>
        <p:blipFill>
          <a:blip r:embed="rId7"/>
          <a:stretch>
            <a:fillRect/>
          </a:stretch>
        </p:blipFill>
        <p:spPr>
          <a:xfrm>
            <a:off x="15769158" y="366712"/>
            <a:ext cx="1904256" cy="590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30" name="Google Shape;114;p15" descr="image.png">
            <a:extLst>
              <a:ext uri="{FF2B5EF4-FFF2-40B4-BE49-F238E27FC236}">
                <a16:creationId xmlns:a16="http://schemas.microsoft.com/office/drawing/2014/main" id="{F61DA0DE-AEED-558C-4F97-950170F67F5E}"/>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 name="Text 0"/>
          <p:cNvSpPr/>
          <p:nvPr/>
        </p:nvSpPr>
        <p:spPr>
          <a:xfrm>
            <a:off x="1066800" y="819172"/>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08</a:t>
            </a:r>
            <a:endParaRPr lang="en-US" sz="1800" dirty="0"/>
          </a:p>
        </p:txBody>
      </p:sp>
      <p:sp>
        <p:nvSpPr>
          <p:cNvPr id="3" name="Text 1"/>
          <p:cNvSpPr/>
          <p:nvPr/>
        </p:nvSpPr>
        <p:spPr>
          <a:xfrm>
            <a:off x="1566714" y="819172"/>
            <a:ext cx="1987302"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ENTER KARGO</a:t>
            </a:r>
            <a:endParaRPr lang="en-US" sz="1800" dirty="0"/>
          </a:p>
        </p:txBody>
      </p:sp>
      <p:sp>
        <p:nvSpPr>
          <p:cNvPr id="4" name="Text 2"/>
          <p:cNvSpPr/>
          <p:nvPr/>
        </p:nvSpPr>
        <p:spPr>
          <a:xfrm>
            <a:off x="1066800" y="1391281"/>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The first Kubernetes-native promotion engine</a:t>
            </a:r>
            <a:endParaRPr lang="en-US" sz="4950" dirty="0"/>
          </a:p>
        </p:txBody>
      </p:sp>
      <p:sp>
        <p:nvSpPr>
          <p:cNvPr id="5" name="Shape 3"/>
          <p:cNvSpPr/>
          <p:nvPr/>
        </p:nvSpPr>
        <p:spPr>
          <a:xfrm>
            <a:off x="1066800" y="4146330"/>
            <a:ext cx="3867150" cy="3738562"/>
          </a:xfrm>
          <a:prstGeom prst="roundRect">
            <a:avLst>
              <a:gd name="adj" fmla="val 5096"/>
            </a:avLst>
          </a:prstGeom>
          <a:solidFill>
            <a:srgbClr val="FBE9EC"/>
          </a:solidFill>
          <a:ln/>
        </p:spPr>
        <p:txBody>
          <a:bodyPr/>
          <a:lstStyle/>
          <a:p>
            <a:endParaRPr lang="en-US"/>
          </a:p>
        </p:txBody>
      </p:sp>
      <p:sp>
        <p:nvSpPr>
          <p:cNvPr id="6" name="Shape 4"/>
          <p:cNvSpPr/>
          <p:nvPr/>
        </p:nvSpPr>
        <p:spPr>
          <a:xfrm>
            <a:off x="1362075" y="4479705"/>
            <a:ext cx="609600" cy="609600"/>
          </a:xfrm>
          <a:prstGeom prst="roundRect">
            <a:avLst>
              <a:gd name="adj" fmla="val 21875"/>
            </a:avLst>
          </a:prstGeom>
          <a:solidFill>
            <a:srgbClr val="FBE9EC"/>
          </a:solidFill>
          <a:ln/>
        </p:spPr>
        <p:txBody>
          <a:bodyPr/>
          <a:lstStyle/>
          <a:p>
            <a:endParaRPr lang="en-US"/>
          </a:p>
        </p:txBody>
      </p:sp>
      <p:pic>
        <p:nvPicPr>
          <p:cNvPr id="7" name="Image 0" descr="preencoded.png"/>
          <p:cNvPicPr>
            <a:picLocks noChangeAspect="1"/>
          </p:cNvPicPr>
          <p:nvPr/>
        </p:nvPicPr>
        <p:blipFill>
          <a:blip r:embed="rId4"/>
          <a:stretch>
            <a:fillRect/>
          </a:stretch>
        </p:blipFill>
        <p:spPr>
          <a:xfrm>
            <a:off x="1495425" y="4613055"/>
            <a:ext cx="342900" cy="342900"/>
          </a:xfrm>
          <a:prstGeom prst="rect">
            <a:avLst/>
          </a:prstGeom>
        </p:spPr>
      </p:pic>
      <p:sp>
        <p:nvSpPr>
          <p:cNvPr id="8" name="Text 5"/>
          <p:cNvSpPr/>
          <p:nvPr/>
        </p:nvSpPr>
        <p:spPr>
          <a:xfrm>
            <a:off x="136207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Warehouse</a:t>
            </a:r>
            <a:endParaRPr lang="en-US" sz="2475" dirty="0"/>
          </a:p>
        </p:txBody>
      </p:sp>
      <p:sp>
        <p:nvSpPr>
          <p:cNvPr id="9" name="Text 6"/>
          <p:cNvSpPr/>
          <p:nvPr/>
        </p:nvSpPr>
        <p:spPr>
          <a:xfrm>
            <a:off x="1362075" y="5851304"/>
            <a:ext cx="3374898" cy="14001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Monitors artifact sources (OCI, Helm, Git) and packages the latest revision of each into new </a:t>
            </a:r>
            <a:r>
              <a:rPr lang="en-US" sz="1875" dirty="0">
                <a:solidFill>
                  <a:srgbClr val="D02A44"/>
                </a:solidFill>
                <a:latin typeface="Arial" pitchFamily="34" charset="0"/>
                <a:ea typeface="Arial" pitchFamily="34" charset="-122"/>
                <a:cs typeface="Arial" pitchFamily="34" charset="-120"/>
              </a:rPr>
              <a:t>Freight</a:t>
            </a:r>
            <a:r>
              <a:rPr lang="en-US" sz="1875" dirty="0">
                <a:solidFill>
                  <a:srgbClr val="4F555B"/>
                </a:solidFill>
                <a:latin typeface="Arial" pitchFamily="34" charset="0"/>
                <a:ea typeface="Arial" pitchFamily="34" charset="-122"/>
                <a:cs typeface="Arial" pitchFamily="34" charset="-120"/>
              </a:rPr>
              <a:t>.</a:t>
            </a:r>
            <a:endParaRPr lang="en-US" sz="1875" dirty="0"/>
          </a:p>
        </p:txBody>
      </p:sp>
      <p:sp>
        <p:nvSpPr>
          <p:cNvPr id="10" name="Shape 7"/>
          <p:cNvSpPr/>
          <p:nvPr/>
        </p:nvSpPr>
        <p:spPr>
          <a:xfrm>
            <a:off x="5162550" y="4146330"/>
            <a:ext cx="3867150" cy="3738562"/>
          </a:xfrm>
          <a:prstGeom prst="roundRect">
            <a:avLst>
              <a:gd name="adj" fmla="val 5096"/>
            </a:avLst>
          </a:prstGeom>
          <a:solidFill>
            <a:srgbClr val="FBE9EC"/>
          </a:solidFill>
          <a:ln/>
        </p:spPr>
        <p:txBody>
          <a:bodyPr/>
          <a:lstStyle/>
          <a:p>
            <a:endParaRPr lang="en-US"/>
          </a:p>
        </p:txBody>
      </p:sp>
      <p:sp>
        <p:nvSpPr>
          <p:cNvPr id="11" name="Shape 8"/>
          <p:cNvSpPr/>
          <p:nvPr/>
        </p:nvSpPr>
        <p:spPr>
          <a:xfrm>
            <a:off x="5457825" y="4479705"/>
            <a:ext cx="609600" cy="609600"/>
          </a:xfrm>
          <a:prstGeom prst="roundRect">
            <a:avLst>
              <a:gd name="adj" fmla="val 21875"/>
            </a:avLst>
          </a:prstGeom>
          <a:solidFill>
            <a:srgbClr val="FBE9EC"/>
          </a:solidFill>
          <a:ln/>
        </p:spPr>
        <p:txBody>
          <a:bodyPr/>
          <a:lstStyle/>
          <a:p>
            <a:endParaRPr lang="en-US"/>
          </a:p>
        </p:txBody>
      </p:sp>
      <p:pic>
        <p:nvPicPr>
          <p:cNvPr id="12" name="Image 1" descr="preencoded.png"/>
          <p:cNvPicPr>
            <a:picLocks noChangeAspect="1"/>
          </p:cNvPicPr>
          <p:nvPr/>
        </p:nvPicPr>
        <p:blipFill>
          <a:blip r:embed="rId5"/>
          <a:stretch>
            <a:fillRect/>
          </a:stretch>
        </p:blipFill>
        <p:spPr>
          <a:xfrm>
            <a:off x="5591175" y="4613055"/>
            <a:ext cx="342900" cy="342900"/>
          </a:xfrm>
          <a:prstGeom prst="rect">
            <a:avLst/>
          </a:prstGeom>
        </p:spPr>
      </p:pic>
      <p:sp>
        <p:nvSpPr>
          <p:cNvPr id="13" name="Text 9"/>
          <p:cNvSpPr/>
          <p:nvPr/>
        </p:nvSpPr>
        <p:spPr>
          <a:xfrm>
            <a:off x="545782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Freight</a:t>
            </a:r>
            <a:endParaRPr lang="en-US" sz="2475" dirty="0"/>
          </a:p>
        </p:txBody>
      </p:sp>
      <p:sp>
        <p:nvSpPr>
          <p:cNvPr id="14" name="Text 10"/>
          <p:cNvSpPr/>
          <p:nvPr/>
        </p:nvSpPr>
        <p:spPr>
          <a:xfrm>
            <a:off x="5457825" y="5851304"/>
            <a:ext cx="3374898" cy="1738313"/>
          </a:xfrm>
          <a:prstGeom prst="rect">
            <a:avLst/>
          </a:prstGeom>
          <a:noFill/>
          <a:ln/>
        </p:spPr>
        <p:txBody>
          <a:bodyPr wrap="square" lIns="25400" tIns="25400" rIns="25400" bIns="25400" rtlCol="0" anchor="t">
            <a:normAutofit/>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 sealed </a:t>
            </a:r>
            <a:r>
              <a:rPr lang="en-US" sz="1875" dirty="0">
                <a:solidFill>
                  <a:srgbClr val="D02A44"/>
                </a:solidFill>
                <a:latin typeface="Arial" pitchFamily="34" charset="0"/>
                <a:ea typeface="Arial" pitchFamily="34" charset="-122"/>
                <a:cs typeface="Arial" pitchFamily="34" charset="-120"/>
              </a:rPr>
              <a:t>box </a:t>
            </a:r>
            <a:r>
              <a:rPr lang="en-US" sz="1875" dirty="0">
                <a:solidFill>
                  <a:srgbClr val="4F555B"/>
                </a:solidFill>
                <a:latin typeface="Arial" pitchFamily="34" charset="0"/>
                <a:ea typeface="Arial" pitchFamily="34" charset="-122"/>
                <a:cs typeface="Arial" pitchFamily="34" charset="-120"/>
              </a:rPr>
              <a:t>of artifacts — image digest + chart version + git commit — that travel together. The unit of promotion.</a:t>
            </a:r>
            <a:endParaRPr lang="en-US" sz="1875" dirty="0"/>
          </a:p>
        </p:txBody>
      </p:sp>
      <p:sp>
        <p:nvSpPr>
          <p:cNvPr id="15" name="Shape 11"/>
          <p:cNvSpPr/>
          <p:nvPr/>
        </p:nvSpPr>
        <p:spPr>
          <a:xfrm>
            <a:off x="9258300" y="4146330"/>
            <a:ext cx="3867150" cy="3738562"/>
          </a:xfrm>
          <a:prstGeom prst="roundRect">
            <a:avLst>
              <a:gd name="adj" fmla="val 5096"/>
            </a:avLst>
          </a:prstGeom>
          <a:solidFill>
            <a:srgbClr val="FBE9EC"/>
          </a:solidFill>
          <a:ln/>
        </p:spPr>
        <p:txBody>
          <a:bodyPr/>
          <a:lstStyle/>
          <a:p>
            <a:endParaRPr lang="en-US"/>
          </a:p>
        </p:txBody>
      </p:sp>
      <p:sp>
        <p:nvSpPr>
          <p:cNvPr id="16" name="Shape 12"/>
          <p:cNvSpPr/>
          <p:nvPr/>
        </p:nvSpPr>
        <p:spPr>
          <a:xfrm>
            <a:off x="9553575" y="4479705"/>
            <a:ext cx="609600" cy="609600"/>
          </a:xfrm>
          <a:prstGeom prst="roundRect">
            <a:avLst>
              <a:gd name="adj" fmla="val 21875"/>
            </a:avLst>
          </a:prstGeom>
          <a:solidFill>
            <a:srgbClr val="FBE9EC"/>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9686925" y="4613055"/>
            <a:ext cx="342900" cy="342900"/>
          </a:xfrm>
          <a:prstGeom prst="rect">
            <a:avLst/>
          </a:prstGeom>
        </p:spPr>
      </p:pic>
      <p:sp>
        <p:nvSpPr>
          <p:cNvPr id="18" name="Text 13"/>
          <p:cNvSpPr/>
          <p:nvPr/>
        </p:nvSpPr>
        <p:spPr>
          <a:xfrm>
            <a:off x="955357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Stage</a:t>
            </a:r>
            <a:endParaRPr lang="en-US" sz="2475" dirty="0"/>
          </a:p>
        </p:txBody>
      </p:sp>
      <p:sp>
        <p:nvSpPr>
          <p:cNvPr id="19" name="Text 14"/>
          <p:cNvSpPr/>
          <p:nvPr/>
        </p:nvSpPr>
        <p:spPr>
          <a:xfrm>
            <a:off x="9553575" y="5851304"/>
            <a:ext cx="3374898" cy="1390650"/>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 promotion target — usually an environment (dev, staging, prod). Stages link into a pipeline.</a:t>
            </a:r>
            <a:endParaRPr lang="en-US" sz="1875" dirty="0"/>
          </a:p>
        </p:txBody>
      </p:sp>
      <p:sp>
        <p:nvSpPr>
          <p:cNvPr id="20" name="Shape 15"/>
          <p:cNvSpPr/>
          <p:nvPr/>
        </p:nvSpPr>
        <p:spPr>
          <a:xfrm>
            <a:off x="13354050" y="4146330"/>
            <a:ext cx="3867150" cy="3738562"/>
          </a:xfrm>
          <a:prstGeom prst="roundRect">
            <a:avLst>
              <a:gd name="adj" fmla="val 5096"/>
            </a:avLst>
          </a:prstGeom>
          <a:solidFill>
            <a:srgbClr val="FBE9EC"/>
          </a:solidFill>
          <a:ln/>
        </p:spPr>
        <p:txBody>
          <a:bodyPr/>
          <a:lstStyle/>
          <a:p>
            <a:endParaRPr lang="en-US"/>
          </a:p>
        </p:txBody>
      </p:sp>
      <p:sp>
        <p:nvSpPr>
          <p:cNvPr id="21" name="Shape 16"/>
          <p:cNvSpPr/>
          <p:nvPr/>
        </p:nvSpPr>
        <p:spPr>
          <a:xfrm>
            <a:off x="13649325" y="4479705"/>
            <a:ext cx="609600" cy="609600"/>
          </a:xfrm>
          <a:prstGeom prst="roundRect">
            <a:avLst>
              <a:gd name="adj" fmla="val 21875"/>
            </a:avLst>
          </a:prstGeom>
          <a:solidFill>
            <a:srgbClr val="FBE9EC"/>
          </a:solidFill>
          <a:ln/>
        </p:spPr>
        <p:txBody>
          <a:bodyPr/>
          <a:lstStyle/>
          <a:p>
            <a:endParaRPr lang="en-US"/>
          </a:p>
        </p:txBody>
      </p:sp>
      <p:pic>
        <p:nvPicPr>
          <p:cNvPr id="22" name="Image 3" descr="preencoded.png"/>
          <p:cNvPicPr>
            <a:picLocks noChangeAspect="1"/>
          </p:cNvPicPr>
          <p:nvPr/>
        </p:nvPicPr>
        <p:blipFill>
          <a:blip r:embed="rId7"/>
          <a:stretch>
            <a:fillRect/>
          </a:stretch>
        </p:blipFill>
        <p:spPr>
          <a:xfrm>
            <a:off x="13782675" y="4613055"/>
            <a:ext cx="342900" cy="342900"/>
          </a:xfrm>
          <a:prstGeom prst="rect">
            <a:avLst/>
          </a:prstGeom>
        </p:spPr>
      </p:pic>
      <p:sp>
        <p:nvSpPr>
          <p:cNvPr id="23" name="Text 17"/>
          <p:cNvSpPr/>
          <p:nvPr/>
        </p:nvSpPr>
        <p:spPr>
          <a:xfrm>
            <a:off x="1364932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Promotion</a:t>
            </a:r>
            <a:endParaRPr lang="en-US" sz="2475" dirty="0"/>
          </a:p>
        </p:txBody>
      </p:sp>
      <p:sp>
        <p:nvSpPr>
          <p:cNvPr id="24" name="Text 18"/>
          <p:cNvSpPr/>
          <p:nvPr/>
        </p:nvSpPr>
        <p:spPr>
          <a:xfrm>
            <a:off x="13649325" y="5851304"/>
            <a:ext cx="3374898" cy="10525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The act of moving Freight from one Stage to the next, with verification along the way.</a:t>
            </a:r>
            <a:endParaRPr lang="en-US" sz="1875" dirty="0"/>
          </a:p>
        </p:txBody>
      </p:sp>
      <p:sp>
        <p:nvSpPr>
          <p:cNvPr id="25" name="Shape 19"/>
          <p:cNvSpPr/>
          <p:nvPr/>
        </p:nvSpPr>
        <p:spPr>
          <a:xfrm>
            <a:off x="1066800" y="9439275"/>
            <a:ext cx="16154400" cy="9525"/>
          </a:xfrm>
          <a:prstGeom prst="rect">
            <a:avLst/>
          </a:prstGeom>
          <a:solidFill>
            <a:srgbClr val="E7E7E9"/>
          </a:solidFill>
          <a:ln/>
        </p:spPr>
        <p:txBody>
          <a:bodyPr/>
          <a:lstStyle/>
          <a:p>
            <a:endParaRPr lang="en-US"/>
          </a:p>
        </p:txBody>
      </p:sp>
      <p:sp>
        <p:nvSpPr>
          <p:cNvPr id="26" name="Text 20"/>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7" name="Text 21"/>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8" name="Text 22"/>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08</a:t>
            </a:r>
            <a:endParaRPr lang="en-US" sz="1800" dirty="0"/>
          </a:p>
        </p:txBody>
      </p:sp>
      <p:pic>
        <p:nvPicPr>
          <p:cNvPr id="29" name="Image 0" descr="preencoded.png">
            <a:extLst>
              <a:ext uri="{FF2B5EF4-FFF2-40B4-BE49-F238E27FC236}">
                <a16:creationId xmlns:a16="http://schemas.microsoft.com/office/drawing/2014/main" id="{6F3F77F7-F5EE-6A60-CA54-97981F5DFA7D}"/>
              </a:ext>
            </a:extLst>
          </p:cNvPr>
          <p:cNvPicPr>
            <a:picLocks noChangeAspect="1"/>
          </p:cNvPicPr>
          <p:nvPr/>
        </p:nvPicPr>
        <p:blipFill>
          <a:blip r:embed="rId8"/>
          <a:stretch>
            <a:fillRect/>
          </a:stretch>
        </p:blipFill>
        <p:spPr>
          <a:xfrm>
            <a:off x="15769158" y="366712"/>
            <a:ext cx="1904256" cy="590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09</a:t>
            </a:r>
            <a:endParaRPr lang="en-US" sz="1800" dirty="0"/>
          </a:p>
        </p:txBody>
      </p:sp>
      <p:sp>
        <p:nvSpPr>
          <p:cNvPr id="4" name="Text 2"/>
          <p:cNvSpPr/>
          <p:nvPr/>
        </p:nvSpPr>
        <p:spPr>
          <a:xfrm>
            <a:off x="1566714" y="819151"/>
            <a:ext cx="5189580"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KARGO ARCHITECTURE — THE FLOW</a:t>
            </a:r>
            <a:endParaRPr lang="en-US" sz="1800" dirty="0"/>
          </a:p>
        </p:txBody>
      </p:sp>
      <p:sp>
        <p:nvSpPr>
          <p:cNvPr id="5" name="Shape 3"/>
          <p:cNvSpPr/>
          <p:nvPr/>
        </p:nvSpPr>
        <p:spPr>
          <a:xfrm>
            <a:off x="1874639" y="3072242"/>
            <a:ext cx="5649108" cy="1219200"/>
          </a:xfrm>
          <a:prstGeom prst="roundRect">
            <a:avLst>
              <a:gd name="adj" fmla="val 12500"/>
            </a:avLst>
          </a:prstGeom>
          <a:solidFill>
            <a:schemeClr val="accent3">
              <a:lumMod val="60000"/>
              <a:lumOff val="40000"/>
            </a:schemeClr>
          </a:solidFill>
          <a:ln w="9525">
            <a:solidFill>
              <a:srgbClr val="E7E7E9"/>
            </a:solidFill>
            <a:prstDash val="solid"/>
          </a:ln>
        </p:spPr>
        <p:txBody>
          <a:bodyPr/>
          <a:lstStyle/>
          <a:p>
            <a:endParaRPr lang="en-US"/>
          </a:p>
        </p:txBody>
      </p:sp>
      <p:sp>
        <p:nvSpPr>
          <p:cNvPr id="6" name="Text 4"/>
          <p:cNvSpPr/>
          <p:nvPr/>
        </p:nvSpPr>
        <p:spPr>
          <a:xfrm>
            <a:off x="1185856" y="3329417"/>
            <a:ext cx="6867985"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SOURCE</a:t>
            </a:r>
            <a:endParaRPr lang="en-US" sz="1800" dirty="0"/>
          </a:p>
        </p:txBody>
      </p:sp>
      <p:sp>
        <p:nvSpPr>
          <p:cNvPr id="7" name="Text 5"/>
          <p:cNvSpPr/>
          <p:nvPr/>
        </p:nvSpPr>
        <p:spPr>
          <a:xfrm>
            <a:off x="1185856" y="3662792"/>
            <a:ext cx="6867985"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CI / Registry</a:t>
            </a:r>
            <a:endParaRPr lang="en-US" sz="2250" dirty="0"/>
          </a:p>
        </p:txBody>
      </p:sp>
      <p:sp>
        <p:nvSpPr>
          <p:cNvPr id="8" name="Shape 6"/>
          <p:cNvSpPr/>
          <p:nvPr/>
        </p:nvSpPr>
        <p:spPr>
          <a:xfrm>
            <a:off x="1912739" y="4462892"/>
            <a:ext cx="5611008" cy="1219200"/>
          </a:xfrm>
          <a:prstGeom prst="roundRect">
            <a:avLst>
              <a:gd name="adj" fmla="val 12500"/>
            </a:avLst>
          </a:prstGeom>
          <a:solidFill>
            <a:schemeClr val="bg2"/>
          </a:solidFill>
          <a:ln w="9525">
            <a:solidFill>
              <a:srgbClr val="E7E7E9"/>
            </a:solidFill>
            <a:prstDash val="solid"/>
          </a:ln>
        </p:spPr>
        <p:txBody>
          <a:bodyPr/>
          <a:lstStyle/>
          <a:p>
            <a:endParaRPr lang="en-US">
              <a:solidFill>
                <a:schemeClr val="bg2"/>
              </a:solidFill>
            </a:endParaRPr>
          </a:p>
        </p:txBody>
      </p:sp>
      <p:sp>
        <p:nvSpPr>
          <p:cNvPr id="9" name="Text 7"/>
          <p:cNvSpPr/>
          <p:nvPr/>
        </p:nvSpPr>
        <p:spPr>
          <a:xfrm>
            <a:off x="1185856" y="4720067"/>
            <a:ext cx="6867985"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DETECTS</a:t>
            </a:r>
            <a:endParaRPr lang="en-US" sz="1800" dirty="0"/>
          </a:p>
        </p:txBody>
      </p:sp>
      <p:sp>
        <p:nvSpPr>
          <p:cNvPr id="10" name="Text 8"/>
          <p:cNvSpPr/>
          <p:nvPr/>
        </p:nvSpPr>
        <p:spPr>
          <a:xfrm>
            <a:off x="1185856" y="5053442"/>
            <a:ext cx="6867985"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Warehouse</a:t>
            </a:r>
            <a:endParaRPr lang="en-US" sz="2250" dirty="0"/>
          </a:p>
        </p:txBody>
      </p:sp>
      <p:sp>
        <p:nvSpPr>
          <p:cNvPr id="11" name="Shape 9"/>
          <p:cNvSpPr/>
          <p:nvPr/>
        </p:nvSpPr>
        <p:spPr>
          <a:xfrm>
            <a:off x="1874639" y="5853542"/>
            <a:ext cx="5649108" cy="1219200"/>
          </a:xfrm>
          <a:prstGeom prst="roundRect">
            <a:avLst>
              <a:gd name="adj" fmla="val 12500"/>
            </a:avLst>
          </a:prstGeom>
          <a:solidFill>
            <a:srgbClr val="FBE9EC"/>
          </a:solidFill>
          <a:ln/>
        </p:spPr>
        <p:txBody>
          <a:bodyPr/>
          <a:lstStyle/>
          <a:p>
            <a:endParaRPr lang="en-US"/>
          </a:p>
        </p:txBody>
      </p:sp>
      <p:sp>
        <p:nvSpPr>
          <p:cNvPr id="12" name="Text 10"/>
          <p:cNvSpPr/>
          <p:nvPr/>
        </p:nvSpPr>
        <p:spPr>
          <a:xfrm>
            <a:off x="1185856" y="6110717"/>
            <a:ext cx="6867985"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EMITS</a:t>
            </a:r>
            <a:endParaRPr lang="en-US" sz="1800" dirty="0"/>
          </a:p>
        </p:txBody>
      </p:sp>
      <p:sp>
        <p:nvSpPr>
          <p:cNvPr id="13" name="Text 11"/>
          <p:cNvSpPr/>
          <p:nvPr/>
        </p:nvSpPr>
        <p:spPr>
          <a:xfrm>
            <a:off x="1185856" y="6444092"/>
            <a:ext cx="6867985"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D02A44"/>
                </a:solidFill>
                <a:latin typeface="Arial" pitchFamily="34" charset="0"/>
                <a:ea typeface="Arial" pitchFamily="34" charset="-122"/>
                <a:cs typeface="Arial" pitchFamily="34" charset="-120"/>
              </a:rPr>
              <a:t>Freight</a:t>
            </a:r>
            <a:endParaRPr lang="en-US" sz="2250" dirty="0"/>
          </a:p>
        </p:txBody>
      </p:sp>
      <p:sp>
        <p:nvSpPr>
          <p:cNvPr id="14" name="Text 12"/>
          <p:cNvSpPr/>
          <p:nvPr/>
        </p:nvSpPr>
        <p:spPr>
          <a:xfrm>
            <a:off x="8053841" y="4662917"/>
            <a:ext cx="730591" cy="453331"/>
          </a:xfrm>
          <a:prstGeom prst="rect">
            <a:avLst/>
          </a:prstGeom>
          <a:noFill/>
          <a:ln/>
        </p:spPr>
        <p:txBody>
          <a:bodyPr wrap="square" lIns="25400" tIns="25400" rIns="25400" bIns="25400" rtlCol="0" anchor="t">
            <a:normAutofit/>
          </a:bodyPr>
          <a:lstStyle/>
          <a:p>
            <a:pPr marL="0" indent="0" algn="l">
              <a:buNone/>
            </a:pPr>
            <a:r>
              <a:rPr lang="en-US" sz="2550" dirty="0">
                <a:solidFill>
                  <a:srgbClr val="EE4D62"/>
                </a:solidFill>
                <a:latin typeface="Courier New" pitchFamily="34" charset="0"/>
                <a:ea typeface="Courier New" pitchFamily="34" charset="-122"/>
                <a:cs typeface="Courier New" pitchFamily="34" charset="-120"/>
              </a:rPr>
              <a:t>→</a:t>
            </a:r>
            <a:endParaRPr lang="en-US" sz="2550" dirty="0"/>
          </a:p>
        </p:txBody>
      </p:sp>
      <p:sp>
        <p:nvSpPr>
          <p:cNvPr id="15" name="Text 13"/>
          <p:cNvSpPr/>
          <p:nvPr/>
        </p:nvSpPr>
        <p:spPr>
          <a:xfrm>
            <a:off x="7736179" y="5170753"/>
            <a:ext cx="1100584" cy="312390"/>
          </a:xfrm>
          <a:prstGeom prst="rect">
            <a:avLst/>
          </a:prstGeom>
          <a:noFill/>
          <a:ln/>
        </p:spPr>
        <p:txBody>
          <a:bodyPr wrap="square" lIns="25400" tIns="25400" rIns="25400" bIns="25400" rtlCol="0" anchor="t">
            <a:normAutofit fontScale="92500" lnSpcReduction="20000"/>
          </a:bodyPr>
          <a:lstStyle/>
          <a:p>
            <a:pPr marL="0" indent="0" algn="ctr">
              <a:lnSpc>
                <a:spcPct val="120000"/>
              </a:lnSpc>
              <a:buNone/>
            </a:pPr>
            <a:r>
              <a:rPr lang="en-US" sz="1800" kern="0" spc="72" dirty="0">
                <a:solidFill>
                  <a:srgbClr val="4F555B"/>
                </a:solidFill>
                <a:latin typeface="Courier New" pitchFamily="34" charset="0"/>
                <a:ea typeface="Courier New" pitchFamily="34" charset="-122"/>
                <a:cs typeface="Courier New" pitchFamily="34" charset="-120"/>
              </a:rPr>
              <a:t>PROMOTE</a:t>
            </a:r>
            <a:endParaRPr lang="en-US" sz="1800" dirty="0"/>
          </a:p>
        </p:txBody>
      </p:sp>
      <p:sp>
        <p:nvSpPr>
          <p:cNvPr id="16" name="Shape 14"/>
          <p:cNvSpPr/>
          <p:nvPr/>
        </p:nvSpPr>
        <p:spPr>
          <a:xfrm>
            <a:off x="9049196" y="2615042"/>
            <a:ext cx="8172004" cy="1219200"/>
          </a:xfrm>
          <a:prstGeom prst="roundRect">
            <a:avLst>
              <a:gd name="adj" fmla="val 12500"/>
            </a:avLst>
          </a:prstGeom>
          <a:solidFill>
            <a:schemeClr val="accent6">
              <a:lumMod val="40000"/>
              <a:lumOff val="60000"/>
            </a:schemeClr>
          </a:solidFill>
          <a:ln w="9525">
            <a:solidFill>
              <a:srgbClr val="EE4D62"/>
            </a:solidFill>
            <a:prstDash val="solid"/>
          </a:ln>
        </p:spPr>
        <p:txBody>
          <a:bodyPr/>
          <a:lstStyle/>
          <a:p>
            <a:endParaRPr lang="en-US"/>
          </a:p>
        </p:txBody>
      </p:sp>
      <p:sp>
        <p:nvSpPr>
          <p:cNvPr id="17" name="Text 15"/>
          <p:cNvSpPr/>
          <p:nvPr/>
        </p:nvSpPr>
        <p:spPr>
          <a:xfrm>
            <a:off x="9152264" y="2872217"/>
            <a:ext cx="796586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STAGE</a:t>
            </a:r>
            <a:endParaRPr lang="en-US" sz="1800" dirty="0"/>
          </a:p>
        </p:txBody>
      </p:sp>
      <p:sp>
        <p:nvSpPr>
          <p:cNvPr id="18" name="Text 16"/>
          <p:cNvSpPr/>
          <p:nvPr/>
        </p:nvSpPr>
        <p:spPr>
          <a:xfrm>
            <a:off x="9152264" y="3205592"/>
            <a:ext cx="7965869"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dev</a:t>
            </a:r>
            <a:endParaRPr lang="en-US" sz="2250" dirty="0"/>
          </a:p>
        </p:txBody>
      </p:sp>
      <p:sp>
        <p:nvSpPr>
          <p:cNvPr id="19" name="Text 17"/>
          <p:cNvSpPr/>
          <p:nvPr/>
        </p:nvSpPr>
        <p:spPr>
          <a:xfrm>
            <a:off x="11727507" y="3967592"/>
            <a:ext cx="270570" cy="400050"/>
          </a:xfrm>
          <a:prstGeom prst="rect">
            <a:avLst/>
          </a:prstGeom>
          <a:noFill/>
          <a:ln/>
        </p:spPr>
        <p:txBody>
          <a:bodyPr wrap="square" lIns="25400" tIns="25400" rIns="25400" bIns="25400" rtlCol="0" anchor="t">
            <a:normAutofit fontScale="92500" lnSpcReduction="10000"/>
          </a:bodyPr>
          <a:lstStyle/>
          <a:p>
            <a:pPr marL="0" indent="0" algn="l">
              <a:buNone/>
            </a:pPr>
            <a:r>
              <a:rPr lang="en-US" sz="2550" dirty="0">
                <a:solidFill>
                  <a:srgbClr val="EE4D62"/>
                </a:solidFill>
                <a:latin typeface="Courier New" pitchFamily="34" charset="0"/>
                <a:ea typeface="Courier New" pitchFamily="34" charset="-122"/>
                <a:cs typeface="Courier New" pitchFamily="34" charset="-120"/>
              </a:rPr>
              <a:t>↓</a:t>
            </a:r>
            <a:endParaRPr lang="en-US" sz="2550" dirty="0"/>
          </a:p>
        </p:txBody>
      </p:sp>
      <p:sp>
        <p:nvSpPr>
          <p:cNvPr id="20" name="Text 18"/>
          <p:cNvSpPr/>
          <p:nvPr/>
        </p:nvSpPr>
        <p:spPr>
          <a:xfrm>
            <a:off x="12017127" y="4011348"/>
            <a:ext cx="2563862" cy="312390"/>
          </a:xfrm>
          <a:prstGeom prst="rect">
            <a:avLst/>
          </a:prstGeom>
          <a:noFill/>
          <a:ln/>
        </p:spPr>
        <p:txBody>
          <a:bodyPr wrap="square" lIns="25400" tIns="25400" rIns="25400" bIns="25400" rtlCol="0" anchor="t">
            <a:normAutofit fontScale="92500" lnSpcReduction="20000"/>
          </a:bodyPr>
          <a:lstStyle/>
          <a:p>
            <a:pPr marL="0" indent="0" algn="ctr">
              <a:lnSpc>
                <a:spcPct val="120000"/>
              </a:lnSpc>
              <a:buNone/>
            </a:pPr>
            <a:r>
              <a:rPr lang="en-US" sz="1800" kern="0" spc="72" dirty="0">
                <a:solidFill>
                  <a:srgbClr val="4F555B"/>
                </a:solidFill>
                <a:latin typeface="Courier New" pitchFamily="34" charset="0"/>
                <a:ea typeface="Courier New" pitchFamily="34" charset="-122"/>
                <a:cs typeface="Courier New" pitchFamily="34" charset="-120"/>
              </a:rPr>
              <a:t>AUTO · GATES PASS</a:t>
            </a:r>
            <a:endParaRPr lang="en-US" sz="1800" dirty="0"/>
          </a:p>
        </p:txBody>
      </p:sp>
      <p:sp>
        <p:nvSpPr>
          <p:cNvPr id="21" name="Shape 19"/>
          <p:cNvSpPr/>
          <p:nvPr/>
        </p:nvSpPr>
        <p:spPr>
          <a:xfrm>
            <a:off x="9049196" y="4462892"/>
            <a:ext cx="8172004" cy="1219200"/>
          </a:xfrm>
          <a:prstGeom prst="roundRect">
            <a:avLst>
              <a:gd name="adj" fmla="val 12500"/>
            </a:avLst>
          </a:prstGeom>
          <a:solidFill>
            <a:schemeClr val="accent4">
              <a:lumMod val="40000"/>
              <a:lumOff val="60000"/>
            </a:schemeClr>
          </a:solidFill>
          <a:ln w="9525">
            <a:solidFill>
              <a:srgbClr val="EE4D62"/>
            </a:solidFill>
            <a:prstDash val="solid"/>
          </a:ln>
        </p:spPr>
        <p:txBody>
          <a:bodyPr/>
          <a:lstStyle/>
          <a:p>
            <a:endParaRPr lang="en-US"/>
          </a:p>
        </p:txBody>
      </p:sp>
      <p:sp>
        <p:nvSpPr>
          <p:cNvPr id="22" name="Text 20"/>
          <p:cNvSpPr/>
          <p:nvPr/>
        </p:nvSpPr>
        <p:spPr>
          <a:xfrm>
            <a:off x="9152264" y="4720067"/>
            <a:ext cx="796586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STAGE</a:t>
            </a:r>
            <a:endParaRPr lang="en-US" sz="1800" dirty="0"/>
          </a:p>
        </p:txBody>
      </p:sp>
      <p:sp>
        <p:nvSpPr>
          <p:cNvPr id="23" name="Text 21"/>
          <p:cNvSpPr/>
          <p:nvPr/>
        </p:nvSpPr>
        <p:spPr>
          <a:xfrm>
            <a:off x="9152264" y="5053442"/>
            <a:ext cx="7965869"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staging</a:t>
            </a:r>
            <a:endParaRPr lang="en-US" sz="2250" dirty="0"/>
          </a:p>
        </p:txBody>
      </p:sp>
      <p:sp>
        <p:nvSpPr>
          <p:cNvPr id="24" name="Text 22"/>
          <p:cNvSpPr/>
          <p:nvPr/>
        </p:nvSpPr>
        <p:spPr>
          <a:xfrm>
            <a:off x="11681966" y="5815442"/>
            <a:ext cx="270570" cy="400050"/>
          </a:xfrm>
          <a:prstGeom prst="rect">
            <a:avLst/>
          </a:prstGeom>
          <a:noFill/>
          <a:ln/>
        </p:spPr>
        <p:txBody>
          <a:bodyPr wrap="square" lIns="25400" tIns="25400" rIns="25400" bIns="25400" rtlCol="0" anchor="t">
            <a:normAutofit fontScale="92500" lnSpcReduction="10000"/>
          </a:bodyPr>
          <a:lstStyle/>
          <a:p>
            <a:pPr marL="0" indent="0" algn="l">
              <a:buNone/>
            </a:pPr>
            <a:r>
              <a:rPr lang="en-US" sz="2550" dirty="0">
                <a:solidFill>
                  <a:srgbClr val="EE4D62"/>
                </a:solidFill>
                <a:latin typeface="Courier New" pitchFamily="34" charset="0"/>
                <a:ea typeface="Courier New" pitchFamily="34" charset="-122"/>
                <a:cs typeface="Courier New" pitchFamily="34" charset="-120"/>
              </a:rPr>
              <a:t>↓</a:t>
            </a:r>
            <a:endParaRPr lang="en-US" sz="2550" dirty="0"/>
          </a:p>
        </p:txBody>
      </p:sp>
      <p:sp>
        <p:nvSpPr>
          <p:cNvPr id="25" name="Text 23"/>
          <p:cNvSpPr/>
          <p:nvPr/>
        </p:nvSpPr>
        <p:spPr>
          <a:xfrm>
            <a:off x="11971004" y="5859198"/>
            <a:ext cx="2656107" cy="312390"/>
          </a:xfrm>
          <a:prstGeom prst="rect">
            <a:avLst/>
          </a:prstGeom>
          <a:noFill/>
          <a:ln/>
        </p:spPr>
        <p:txBody>
          <a:bodyPr wrap="square" lIns="25400" tIns="25400" rIns="25400" bIns="25400" rtlCol="0" anchor="t">
            <a:normAutofit fontScale="92500" lnSpcReduction="20000"/>
          </a:bodyPr>
          <a:lstStyle/>
          <a:p>
            <a:pPr marL="0" indent="0" algn="ctr">
              <a:lnSpc>
                <a:spcPct val="120000"/>
              </a:lnSpc>
              <a:buNone/>
            </a:pPr>
            <a:r>
              <a:rPr lang="en-US" sz="1800" b="1" kern="0" spc="72" dirty="0">
                <a:solidFill>
                  <a:srgbClr val="D02A44"/>
                </a:solidFill>
                <a:latin typeface="Courier New" pitchFamily="34" charset="0"/>
                <a:ea typeface="Courier New" pitchFamily="34" charset="-122"/>
                <a:cs typeface="Courier New" pitchFamily="34" charset="-120"/>
              </a:rPr>
              <a:t>🔐 MANUAL APPROVAL</a:t>
            </a:r>
            <a:endParaRPr lang="en-US" sz="1800" dirty="0"/>
          </a:p>
        </p:txBody>
      </p:sp>
      <p:sp>
        <p:nvSpPr>
          <p:cNvPr id="26" name="Shape 24"/>
          <p:cNvSpPr/>
          <p:nvPr/>
        </p:nvSpPr>
        <p:spPr>
          <a:xfrm>
            <a:off x="9049196" y="6310742"/>
            <a:ext cx="8172004" cy="1219200"/>
          </a:xfrm>
          <a:prstGeom prst="roundRect">
            <a:avLst>
              <a:gd name="adj" fmla="val 12500"/>
            </a:avLst>
          </a:prstGeom>
          <a:solidFill>
            <a:srgbClr val="EE4D62"/>
          </a:solidFill>
          <a:ln w="9525">
            <a:solidFill>
              <a:srgbClr val="EE4D62"/>
            </a:solidFill>
            <a:prstDash val="solid"/>
          </a:ln>
        </p:spPr>
        <p:txBody>
          <a:bodyPr/>
          <a:lstStyle/>
          <a:p>
            <a:endParaRPr lang="en-US"/>
          </a:p>
        </p:txBody>
      </p:sp>
      <p:sp>
        <p:nvSpPr>
          <p:cNvPr id="27" name="Text 25"/>
          <p:cNvSpPr/>
          <p:nvPr/>
        </p:nvSpPr>
        <p:spPr>
          <a:xfrm>
            <a:off x="9152264" y="6567917"/>
            <a:ext cx="796586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solidFill>
                  <a:srgbClr val="FFFFFF">
                    <a:alpha val="70000"/>
                  </a:srgbClr>
                </a:solidFill>
                <a:latin typeface="Courier New" pitchFamily="34" charset="0"/>
                <a:ea typeface="Courier New" pitchFamily="34" charset="-122"/>
                <a:cs typeface="Courier New" pitchFamily="34" charset="-120"/>
              </a:rPr>
              <a:t>STAGE</a:t>
            </a:r>
            <a:endParaRPr lang="en-US" sz="1800" dirty="0"/>
          </a:p>
        </p:txBody>
      </p:sp>
      <p:sp>
        <p:nvSpPr>
          <p:cNvPr id="28" name="Text 26"/>
          <p:cNvSpPr/>
          <p:nvPr/>
        </p:nvSpPr>
        <p:spPr>
          <a:xfrm>
            <a:off x="9152264" y="6901292"/>
            <a:ext cx="7965869"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FFFFFF"/>
                </a:solidFill>
                <a:latin typeface="Arial" pitchFamily="34" charset="0"/>
                <a:ea typeface="Arial" pitchFamily="34" charset="-122"/>
                <a:cs typeface="Arial" pitchFamily="34" charset="-120"/>
              </a:rPr>
              <a:t>prod</a:t>
            </a:r>
            <a:endParaRPr lang="en-US" sz="2250" dirty="0"/>
          </a:p>
        </p:txBody>
      </p:sp>
      <p:sp>
        <p:nvSpPr>
          <p:cNvPr id="29" name="Text 27"/>
          <p:cNvSpPr/>
          <p:nvPr/>
        </p:nvSpPr>
        <p:spPr>
          <a:xfrm>
            <a:off x="824484" y="8987010"/>
            <a:ext cx="16639032" cy="361950"/>
          </a:xfrm>
          <a:prstGeom prst="rect">
            <a:avLst/>
          </a:prstGeom>
          <a:noFill/>
          <a:ln/>
        </p:spPr>
        <p:txBody>
          <a:bodyPr wrap="square" lIns="25400" tIns="25400" rIns="25400" bIns="25400" rtlCol="0" anchor="t">
            <a:normAutofit/>
          </a:bodyPr>
          <a:lstStyle/>
          <a:p>
            <a:pPr marL="0" indent="0" algn="ctr">
              <a:buNone/>
            </a:pPr>
            <a:r>
              <a:rPr lang="en-US" sz="1875" dirty="0">
                <a:solidFill>
                  <a:srgbClr val="4F555B"/>
                </a:solidFill>
                <a:latin typeface="Courier New" pitchFamily="34" charset="0"/>
                <a:ea typeface="Courier New" pitchFamily="34" charset="-122"/>
                <a:cs typeface="Courier New" pitchFamily="34" charset="-120"/>
              </a:rPr>
              <a:t>Kargo CRDs: </a:t>
            </a:r>
            <a:r>
              <a:rPr lang="en-US" sz="1875" b="1" dirty="0">
                <a:solidFill>
                  <a:srgbClr val="D02A44"/>
                </a:solidFill>
                <a:latin typeface="Courier New" pitchFamily="34" charset="0"/>
                <a:ea typeface="Courier New" pitchFamily="34" charset="-122"/>
                <a:cs typeface="Courier New" pitchFamily="34" charset="-120"/>
              </a:rPr>
              <a:t>Warehouse · Freight · Stage · Promotion · PromotionTask </a:t>
            </a:r>
            <a:r>
              <a:rPr lang="en-US" sz="1875" dirty="0">
                <a:solidFill>
                  <a:srgbClr val="4F555B"/>
                </a:solidFill>
                <a:latin typeface="Courier New" pitchFamily="34" charset="0"/>
                <a:ea typeface="Courier New" pitchFamily="34" charset="-122"/>
                <a:cs typeface="Courier New" pitchFamily="34" charset="-120"/>
              </a:rPr>
              <a:t>— all live in Kubernetes as native objects</a:t>
            </a:r>
            <a:endParaRPr lang="en-US" sz="1875" dirty="0"/>
          </a:p>
        </p:txBody>
      </p:sp>
      <p:sp>
        <p:nvSpPr>
          <p:cNvPr id="30" name="Shape 28"/>
          <p:cNvSpPr/>
          <p:nvPr/>
        </p:nvSpPr>
        <p:spPr>
          <a:xfrm>
            <a:off x="1066800" y="9439275"/>
            <a:ext cx="16154400" cy="9525"/>
          </a:xfrm>
          <a:prstGeom prst="rect">
            <a:avLst/>
          </a:prstGeom>
          <a:solidFill>
            <a:srgbClr val="E7E7E9"/>
          </a:solidFill>
          <a:ln/>
        </p:spPr>
        <p:txBody>
          <a:bodyPr/>
          <a:lstStyle/>
          <a:p>
            <a:endParaRPr lang="en-US"/>
          </a:p>
        </p:txBody>
      </p:sp>
      <p:sp>
        <p:nvSpPr>
          <p:cNvPr id="31" name="Text 29"/>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32" name="Text 30"/>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33" name="Text 31"/>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09</a:t>
            </a:r>
            <a:endParaRPr lang="en-US" sz="1800" dirty="0"/>
          </a:p>
        </p:txBody>
      </p:sp>
      <p:pic>
        <p:nvPicPr>
          <p:cNvPr id="34" name="Image 0" descr="preencoded.png">
            <a:extLst>
              <a:ext uri="{FF2B5EF4-FFF2-40B4-BE49-F238E27FC236}">
                <a16:creationId xmlns:a16="http://schemas.microsoft.com/office/drawing/2014/main" id="{7E2280E4-D2A0-4947-9CA7-5F7A9A2C2F4C}"/>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10</a:t>
            </a:r>
            <a:endParaRPr lang="en-US" sz="1800" dirty="0"/>
          </a:p>
        </p:txBody>
      </p:sp>
      <p:sp>
        <p:nvSpPr>
          <p:cNvPr id="3" name="Text 1"/>
          <p:cNvSpPr/>
          <p:nvPr/>
        </p:nvSpPr>
        <p:spPr>
          <a:xfrm>
            <a:off x="1566714" y="819151"/>
            <a:ext cx="4144275" cy="283139"/>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BEYOND ARGO CD</a:t>
            </a:r>
            <a:endParaRPr lang="en-US" sz="1800" dirty="0"/>
          </a:p>
        </p:txBody>
      </p:sp>
      <p:sp>
        <p:nvSpPr>
          <p:cNvPr id="4" name="Text 2"/>
          <p:cNvSpPr/>
          <p:nvPr/>
        </p:nvSpPr>
        <p:spPr>
          <a:xfrm>
            <a:off x="1066800" y="1391076"/>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Bring your own GitOps agent</a:t>
            </a:r>
            <a:endParaRPr lang="en-US" sz="4950" dirty="0"/>
          </a:p>
        </p:txBody>
      </p:sp>
      <p:sp>
        <p:nvSpPr>
          <p:cNvPr id="101" name="Shape 101"/>
          <p:cNvSpPr/>
          <p:nvPr/>
        </p:nvSpPr>
        <p:spPr>
          <a:xfrm>
            <a:off x="1066830" y="2331720"/>
            <a:ext cx="16154430" cy="1600200"/>
          </a:xfrm>
          <a:prstGeom prst="roundRect">
            <a:avLst>
              <a:gd name="adj" fmla="val 8000"/>
            </a:avLst>
          </a:prstGeom>
          <a:solidFill>
            <a:srgbClr val="F8F6F6"/>
          </a:solidFill>
          <a:ln>
            <a:noFill/>
          </a:ln>
        </p:spPr>
        <p:txBody>
          <a:bodyPr/>
          <a:lstStyle/>
          <a:p>
            <a:endParaRPr lang="en-US"/>
          </a:p>
        </p:txBody>
      </p:sp>
      <p:sp>
        <p:nvSpPr>
          <p:cNvPr id="102" name="Text 102"/>
          <p:cNvSpPr txBox="1"/>
          <p:nvPr/>
        </p:nvSpPr>
        <p:spPr>
          <a:xfrm>
            <a:off x="1478310" y="2514600"/>
            <a:ext cx="10972800" cy="365760"/>
          </a:xfrm>
          <a:prstGeom prst="rect">
            <a:avLst/>
          </a:prstGeom>
          <a:noFill/>
          <a:ln/>
        </p:spPr>
        <p:txBody>
          <a:bodyPr wrap="square" lIns="0" tIns="0" rIns="0" bIns="0" rtlCol="0" anchor="t">
            <a:noAutofit/>
          </a:bodyPr>
          <a:lstStyle/>
          <a:p>
            <a:pPr marL="0" indent="0" algn="l">
              <a:buNone/>
            </a:pPr>
            <a:r>
              <a:rPr lang="en-US" sz="1600" spc="100" dirty="0">
                <a:solidFill>
                  <a:srgbClr val="D02A44"/>
                </a:solidFill>
                <a:latin typeface="Courier New" pitchFamily="34" charset="0"/>
                <a:ea typeface="Courier New" pitchFamily="34" charset="-122"/>
                <a:cs typeface="Courier New" pitchFamily="34" charset="-120"/>
              </a:rPr>
              <a:t>KARGO WRITES THE DESIRED STATE · AGENT-AGNOSTIC PROMOTION STEPS</a:t>
            </a:r>
          </a:p>
        </p:txBody>
      </p:sp>
      <p:sp>
        <p:nvSpPr>
          <p:cNvPr id="103" name="Shape 103"/>
          <p:cNvSpPr/>
          <p:nvPr/>
        </p:nvSpPr>
        <p:spPr>
          <a:xfrm>
            <a:off x="1478310" y="3108960"/>
            <a:ext cx="1508760" cy="502920"/>
          </a:xfrm>
          <a:prstGeom prst="roundRect">
            <a:avLst>
              <a:gd name="adj" fmla="val 20000"/>
            </a:avLst>
          </a:prstGeom>
          <a:solidFill>
            <a:srgbClr val="FFFFFF"/>
          </a:solidFill>
          <a:ln w="12700">
            <a:solidFill>
              <a:srgbClr val="E7E7E9"/>
            </a:solidFill>
          </a:ln>
        </p:spPr>
        <p:txBody>
          <a:bodyPr/>
          <a:lstStyle/>
          <a:p>
            <a:endParaRPr lang="en-US"/>
          </a:p>
        </p:txBody>
      </p:sp>
      <p:sp>
        <p:nvSpPr>
          <p:cNvPr id="104" name="Text 104"/>
          <p:cNvSpPr txBox="1"/>
          <p:nvPr/>
        </p:nvSpPr>
        <p:spPr>
          <a:xfrm>
            <a:off x="1478310" y="3108960"/>
            <a:ext cx="1508760" cy="502920"/>
          </a:xfrm>
          <a:prstGeom prst="rect">
            <a:avLst/>
          </a:prstGeom>
          <a:noFill/>
          <a:ln/>
        </p:spPr>
        <p:txBody>
          <a:bodyPr wrap="square" lIns="0" tIns="0" rIns="0" bIns="0" rtlCol="0" anchor="ctr">
            <a:noAutofit/>
          </a:bodyPr>
          <a:lstStyle/>
          <a:p>
            <a:pPr marL="0" indent="0" algn="ctr">
              <a:buNone/>
            </a:pPr>
            <a:r>
              <a:rPr lang="en-US" sz="1600" dirty="0">
                <a:solidFill>
                  <a:srgbClr val="2B3035"/>
                </a:solidFill>
                <a:latin typeface="Courier New" pitchFamily="34" charset="0"/>
                <a:ea typeface="Courier New" pitchFamily="34" charset="-122"/>
                <a:cs typeface="Courier New" pitchFamily="34" charset="-120"/>
              </a:rPr>
              <a:t>git-clone</a:t>
            </a:r>
          </a:p>
        </p:txBody>
      </p:sp>
      <p:sp>
        <p:nvSpPr>
          <p:cNvPr id="105" name="Shape 105"/>
          <p:cNvSpPr/>
          <p:nvPr/>
        </p:nvSpPr>
        <p:spPr>
          <a:xfrm>
            <a:off x="3188238" y="3108960"/>
            <a:ext cx="2727960" cy="502920"/>
          </a:xfrm>
          <a:prstGeom prst="roundRect">
            <a:avLst>
              <a:gd name="adj" fmla="val 20000"/>
            </a:avLst>
          </a:prstGeom>
          <a:solidFill>
            <a:srgbClr val="FFFFFF"/>
          </a:solidFill>
          <a:ln w="12700">
            <a:solidFill>
              <a:srgbClr val="E7E7E9"/>
            </a:solidFill>
          </a:ln>
        </p:spPr>
        <p:txBody>
          <a:bodyPr/>
          <a:lstStyle/>
          <a:p>
            <a:endParaRPr lang="en-US"/>
          </a:p>
        </p:txBody>
      </p:sp>
      <p:sp>
        <p:nvSpPr>
          <p:cNvPr id="106" name="Text 106"/>
          <p:cNvSpPr txBox="1"/>
          <p:nvPr/>
        </p:nvSpPr>
        <p:spPr>
          <a:xfrm>
            <a:off x="3188238" y="3108960"/>
            <a:ext cx="2727960" cy="502920"/>
          </a:xfrm>
          <a:prstGeom prst="rect">
            <a:avLst/>
          </a:prstGeom>
          <a:noFill/>
          <a:ln/>
        </p:spPr>
        <p:txBody>
          <a:bodyPr wrap="square" lIns="0" tIns="0" rIns="0" bIns="0" rtlCol="0" anchor="ctr">
            <a:noAutofit/>
          </a:bodyPr>
          <a:lstStyle/>
          <a:p>
            <a:pPr marL="0" indent="0" algn="ctr">
              <a:buNone/>
            </a:pPr>
            <a:r>
              <a:rPr lang="en-US" sz="1600" dirty="0">
                <a:solidFill>
                  <a:srgbClr val="2B3035"/>
                </a:solidFill>
                <a:latin typeface="Courier New" pitchFamily="34" charset="0"/>
                <a:ea typeface="Courier New" pitchFamily="34" charset="-122"/>
                <a:cs typeface="Courier New" pitchFamily="34" charset="-120"/>
              </a:rPr>
              <a:t>kustomize-set-image</a:t>
            </a:r>
          </a:p>
        </p:txBody>
      </p:sp>
      <p:sp>
        <p:nvSpPr>
          <p:cNvPr id="107" name="Shape 107"/>
          <p:cNvSpPr/>
          <p:nvPr/>
        </p:nvSpPr>
        <p:spPr>
          <a:xfrm>
            <a:off x="6117366" y="3108960"/>
            <a:ext cx="2484120" cy="502920"/>
          </a:xfrm>
          <a:prstGeom prst="roundRect">
            <a:avLst>
              <a:gd name="adj" fmla="val 20000"/>
            </a:avLst>
          </a:prstGeom>
          <a:solidFill>
            <a:srgbClr val="FFFFFF"/>
          </a:solidFill>
          <a:ln w="12700">
            <a:solidFill>
              <a:srgbClr val="E7E7E9"/>
            </a:solidFill>
          </a:ln>
        </p:spPr>
        <p:txBody>
          <a:bodyPr/>
          <a:lstStyle/>
          <a:p>
            <a:endParaRPr lang="en-US"/>
          </a:p>
        </p:txBody>
      </p:sp>
      <p:sp>
        <p:nvSpPr>
          <p:cNvPr id="108" name="Text 108"/>
          <p:cNvSpPr txBox="1"/>
          <p:nvPr/>
        </p:nvSpPr>
        <p:spPr>
          <a:xfrm>
            <a:off x="6117366" y="3108960"/>
            <a:ext cx="2484120" cy="502920"/>
          </a:xfrm>
          <a:prstGeom prst="rect">
            <a:avLst/>
          </a:prstGeom>
          <a:noFill/>
          <a:ln/>
        </p:spPr>
        <p:txBody>
          <a:bodyPr wrap="square" lIns="0" tIns="0" rIns="0" bIns="0" rtlCol="0" anchor="ctr">
            <a:noAutofit/>
          </a:bodyPr>
          <a:lstStyle/>
          <a:p>
            <a:pPr marL="0" indent="0" algn="ctr">
              <a:buNone/>
            </a:pPr>
            <a:r>
              <a:rPr lang="en-US" sz="1600" dirty="0">
                <a:solidFill>
                  <a:srgbClr val="2B3035"/>
                </a:solidFill>
                <a:latin typeface="Courier New" pitchFamily="34" charset="0"/>
                <a:ea typeface="Courier New" pitchFamily="34" charset="-122"/>
                <a:cs typeface="Courier New" pitchFamily="34" charset="-120"/>
              </a:rPr>
              <a:t>helm-update-image</a:t>
            </a:r>
          </a:p>
        </p:txBody>
      </p:sp>
      <p:sp>
        <p:nvSpPr>
          <p:cNvPr id="109" name="Shape 109"/>
          <p:cNvSpPr/>
          <p:nvPr/>
        </p:nvSpPr>
        <p:spPr>
          <a:xfrm>
            <a:off x="8802654" y="3108960"/>
            <a:ext cx="1752600" cy="502920"/>
          </a:xfrm>
          <a:prstGeom prst="roundRect">
            <a:avLst>
              <a:gd name="adj" fmla="val 20000"/>
            </a:avLst>
          </a:prstGeom>
          <a:solidFill>
            <a:srgbClr val="FFFFFF"/>
          </a:solidFill>
          <a:ln w="12700">
            <a:solidFill>
              <a:srgbClr val="E7E7E9"/>
            </a:solidFill>
          </a:ln>
        </p:spPr>
        <p:txBody>
          <a:bodyPr/>
          <a:lstStyle/>
          <a:p>
            <a:endParaRPr lang="en-US"/>
          </a:p>
        </p:txBody>
      </p:sp>
      <p:sp>
        <p:nvSpPr>
          <p:cNvPr id="110" name="Text 110"/>
          <p:cNvSpPr txBox="1"/>
          <p:nvPr/>
        </p:nvSpPr>
        <p:spPr>
          <a:xfrm>
            <a:off x="8802654" y="3108960"/>
            <a:ext cx="1752600" cy="502920"/>
          </a:xfrm>
          <a:prstGeom prst="rect">
            <a:avLst/>
          </a:prstGeom>
          <a:noFill/>
          <a:ln/>
        </p:spPr>
        <p:txBody>
          <a:bodyPr wrap="square" lIns="0" tIns="0" rIns="0" bIns="0" rtlCol="0" anchor="ctr">
            <a:noAutofit/>
          </a:bodyPr>
          <a:lstStyle/>
          <a:p>
            <a:pPr marL="0" indent="0" algn="ctr">
              <a:buNone/>
            </a:pPr>
            <a:r>
              <a:rPr lang="en-US" sz="1600" dirty="0">
                <a:solidFill>
                  <a:srgbClr val="2B3035"/>
                </a:solidFill>
                <a:latin typeface="Courier New" pitchFamily="34" charset="0"/>
                <a:ea typeface="Courier New" pitchFamily="34" charset="-122"/>
                <a:cs typeface="Courier New" pitchFamily="34" charset="-120"/>
              </a:rPr>
              <a:t>yaml-update</a:t>
            </a:r>
          </a:p>
        </p:txBody>
      </p:sp>
      <p:sp>
        <p:nvSpPr>
          <p:cNvPr id="111" name="Shape 111"/>
          <p:cNvSpPr/>
          <p:nvPr/>
        </p:nvSpPr>
        <p:spPr>
          <a:xfrm>
            <a:off x="10756422" y="3108960"/>
            <a:ext cx="1630680" cy="502920"/>
          </a:xfrm>
          <a:prstGeom prst="roundRect">
            <a:avLst>
              <a:gd name="adj" fmla="val 20000"/>
            </a:avLst>
          </a:prstGeom>
          <a:solidFill>
            <a:srgbClr val="FFFFFF"/>
          </a:solidFill>
          <a:ln w="12700">
            <a:solidFill>
              <a:srgbClr val="E7E7E9"/>
            </a:solidFill>
          </a:ln>
        </p:spPr>
        <p:txBody>
          <a:bodyPr/>
          <a:lstStyle/>
          <a:p>
            <a:endParaRPr lang="en-US"/>
          </a:p>
        </p:txBody>
      </p:sp>
      <p:sp>
        <p:nvSpPr>
          <p:cNvPr id="112" name="Text 112"/>
          <p:cNvSpPr txBox="1"/>
          <p:nvPr/>
        </p:nvSpPr>
        <p:spPr>
          <a:xfrm>
            <a:off x="10756422" y="3108960"/>
            <a:ext cx="1630680" cy="502920"/>
          </a:xfrm>
          <a:prstGeom prst="rect">
            <a:avLst/>
          </a:prstGeom>
          <a:noFill/>
          <a:ln/>
        </p:spPr>
        <p:txBody>
          <a:bodyPr wrap="square" lIns="0" tIns="0" rIns="0" bIns="0" rtlCol="0" anchor="ctr">
            <a:noAutofit/>
          </a:bodyPr>
          <a:lstStyle/>
          <a:p>
            <a:pPr marL="0" indent="0" algn="ctr">
              <a:buNone/>
            </a:pPr>
            <a:r>
              <a:rPr lang="en-US" sz="1600" dirty="0">
                <a:solidFill>
                  <a:srgbClr val="2B3035"/>
                </a:solidFill>
                <a:latin typeface="Courier New" pitchFamily="34" charset="0"/>
                <a:ea typeface="Courier New" pitchFamily="34" charset="-122"/>
                <a:cs typeface="Courier New" pitchFamily="34" charset="-120"/>
              </a:rPr>
              <a:t>git-commit</a:t>
            </a:r>
          </a:p>
        </p:txBody>
      </p:sp>
      <p:sp>
        <p:nvSpPr>
          <p:cNvPr id="113" name="Shape 113"/>
          <p:cNvSpPr/>
          <p:nvPr/>
        </p:nvSpPr>
        <p:spPr>
          <a:xfrm>
            <a:off x="12588270" y="3108960"/>
            <a:ext cx="1386840" cy="502920"/>
          </a:xfrm>
          <a:prstGeom prst="roundRect">
            <a:avLst>
              <a:gd name="adj" fmla="val 20000"/>
            </a:avLst>
          </a:prstGeom>
          <a:solidFill>
            <a:srgbClr val="FFFFFF"/>
          </a:solidFill>
          <a:ln w="12700">
            <a:solidFill>
              <a:srgbClr val="E7E7E9"/>
            </a:solidFill>
          </a:ln>
        </p:spPr>
        <p:txBody>
          <a:bodyPr/>
          <a:lstStyle/>
          <a:p>
            <a:endParaRPr lang="en-US"/>
          </a:p>
        </p:txBody>
      </p:sp>
      <p:sp>
        <p:nvSpPr>
          <p:cNvPr id="114" name="Text 114"/>
          <p:cNvSpPr txBox="1"/>
          <p:nvPr/>
        </p:nvSpPr>
        <p:spPr>
          <a:xfrm>
            <a:off x="12588270" y="3108960"/>
            <a:ext cx="1386840" cy="502920"/>
          </a:xfrm>
          <a:prstGeom prst="rect">
            <a:avLst/>
          </a:prstGeom>
          <a:noFill/>
          <a:ln/>
        </p:spPr>
        <p:txBody>
          <a:bodyPr wrap="square" lIns="0" tIns="0" rIns="0" bIns="0" rtlCol="0" anchor="ctr">
            <a:noAutofit/>
          </a:bodyPr>
          <a:lstStyle/>
          <a:p>
            <a:pPr marL="0" indent="0" algn="ctr">
              <a:buNone/>
            </a:pPr>
            <a:r>
              <a:rPr lang="en-US" sz="1600" dirty="0">
                <a:solidFill>
                  <a:srgbClr val="2B3035"/>
                </a:solidFill>
                <a:latin typeface="Courier New" pitchFamily="34" charset="0"/>
                <a:ea typeface="Courier New" pitchFamily="34" charset="-122"/>
                <a:cs typeface="Courier New" pitchFamily="34" charset="-120"/>
              </a:rPr>
              <a:t>git-push</a:t>
            </a:r>
          </a:p>
        </p:txBody>
      </p:sp>
      <p:sp>
        <p:nvSpPr>
          <p:cNvPr id="115" name="Shape 115"/>
          <p:cNvSpPr/>
          <p:nvPr/>
        </p:nvSpPr>
        <p:spPr>
          <a:xfrm>
            <a:off x="14176278" y="3108960"/>
            <a:ext cx="1752600" cy="502920"/>
          </a:xfrm>
          <a:prstGeom prst="roundRect">
            <a:avLst>
              <a:gd name="adj" fmla="val 20000"/>
            </a:avLst>
          </a:prstGeom>
          <a:solidFill>
            <a:srgbClr val="FFFFFF"/>
          </a:solidFill>
          <a:ln w="12700">
            <a:solidFill>
              <a:srgbClr val="E7E7E9"/>
            </a:solidFill>
          </a:ln>
        </p:spPr>
        <p:txBody>
          <a:bodyPr/>
          <a:lstStyle/>
          <a:p>
            <a:endParaRPr lang="en-US"/>
          </a:p>
        </p:txBody>
      </p:sp>
      <p:sp>
        <p:nvSpPr>
          <p:cNvPr id="116" name="Text 116"/>
          <p:cNvSpPr txBox="1"/>
          <p:nvPr/>
        </p:nvSpPr>
        <p:spPr>
          <a:xfrm>
            <a:off x="14176278" y="3108960"/>
            <a:ext cx="1752600" cy="502920"/>
          </a:xfrm>
          <a:prstGeom prst="rect">
            <a:avLst/>
          </a:prstGeom>
          <a:noFill/>
          <a:ln/>
        </p:spPr>
        <p:txBody>
          <a:bodyPr wrap="square" lIns="0" tIns="0" rIns="0" bIns="0" rtlCol="0" anchor="ctr">
            <a:noAutofit/>
          </a:bodyPr>
          <a:lstStyle/>
          <a:p>
            <a:pPr marL="0" indent="0" algn="ctr">
              <a:buNone/>
            </a:pPr>
            <a:r>
              <a:rPr lang="en-US" sz="1600" dirty="0">
                <a:solidFill>
                  <a:srgbClr val="2B3035"/>
                </a:solidFill>
                <a:latin typeface="Courier New" pitchFamily="34" charset="0"/>
                <a:ea typeface="Courier New" pitchFamily="34" charset="-122"/>
                <a:cs typeface="Courier New" pitchFamily="34" charset="-120"/>
              </a:rPr>
              <a:t>git-open-pr</a:t>
            </a:r>
          </a:p>
        </p:txBody>
      </p:sp>
      <p:sp>
        <p:nvSpPr>
          <p:cNvPr id="117" name="Text 117"/>
          <p:cNvSpPr txBox="1"/>
          <p:nvPr/>
        </p:nvSpPr>
        <p:spPr>
          <a:xfrm>
            <a:off x="1066830" y="4069080"/>
            <a:ext cx="16154430" cy="457200"/>
          </a:xfrm>
          <a:prstGeom prst="rect">
            <a:avLst/>
          </a:prstGeom>
          <a:noFill/>
          <a:ln/>
        </p:spPr>
        <p:txBody>
          <a:bodyPr wrap="square" lIns="0" tIns="0" rIns="0" bIns="0" rtlCol="0" anchor="t">
            <a:noAutofit/>
          </a:bodyPr>
          <a:lstStyle/>
          <a:p>
            <a:pPr marL="0" indent="0" algn="ctr">
              <a:buNone/>
            </a:pPr>
            <a:r>
              <a:rPr lang="en-US" sz="1800" dirty="0">
                <a:solidFill>
                  <a:srgbClr val="969BA1"/>
                </a:solidFill>
                <a:latin typeface="Courier New" pitchFamily="34" charset="0"/>
                <a:ea typeface="Courier New" pitchFamily="34" charset="-122"/>
                <a:cs typeface="Courier New" pitchFamily="34" charset="-120"/>
              </a:rPr>
              <a:t>↓  one Git commit per promotion, then any agent reconciles it  ↓</a:t>
            </a:r>
          </a:p>
        </p:txBody>
      </p:sp>
      <p:sp>
        <p:nvSpPr>
          <p:cNvPr id="118" name="Shape 118"/>
          <p:cNvSpPr/>
          <p:nvPr/>
        </p:nvSpPr>
        <p:spPr>
          <a:xfrm>
            <a:off x="1066830" y="4617720"/>
            <a:ext cx="5140970" cy="3520440"/>
          </a:xfrm>
          <a:prstGeom prst="roundRect">
            <a:avLst>
              <a:gd name="adj" fmla="val 5000"/>
            </a:avLst>
          </a:prstGeom>
          <a:solidFill>
            <a:srgbClr val="FBE9EC"/>
          </a:solidFill>
          <a:ln>
            <a:noFill/>
          </a:ln>
        </p:spPr>
        <p:txBody>
          <a:bodyPr/>
          <a:lstStyle/>
          <a:p>
            <a:endParaRPr lang="en-US"/>
          </a:p>
        </p:txBody>
      </p:sp>
      <p:sp>
        <p:nvSpPr>
          <p:cNvPr id="119" name="Text 119"/>
          <p:cNvSpPr txBox="1"/>
          <p:nvPr/>
        </p:nvSpPr>
        <p:spPr>
          <a:xfrm>
            <a:off x="1478310" y="4937760"/>
            <a:ext cx="4318010" cy="548640"/>
          </a:xfrm>
          <a:prstGeom prst="rect">
            <a:avLst/>
          </a:prstGeom>
          <a:noFill/>
          <a:ln/>
        </p:spPr>
        <p:txBody>
          <a:bodyPr wrap="square" lIns="0" tIns="0" rIns="0" bIns="0" rtlCol="0" anchor="t">
            <a:noAutofit/>
          </a:bodyPr>
          <a:lstStyle/>
          <a:p>
            <a:pPr marL="0" indent="0" algn="l">
              <a:buNone/>
            </a:pPr>
            <a:r>
              <a:rPr lang="en-US" sz="3200" b="1" spc="-30" dirty="0">
                <a:solidFill>
                  <a:srgbClr val="2B3035"/>
                </a:solidFill>
                <a:latin typeface="Arial" pitchFamily="34" charset="0"/>
                <a:ea typeface="Arial" pitchFamily="34" charset="-122"/>
                <a:cs typeface="Arial" pitchFamily="34" charset="-120"/>
              </a:rPr>
              <a:t>Argo CD</a:t>
            </a:r>
          </a:p>
        </p:txBody>
      </p:sp>
      <p:sp>
        <p:nvSpPr>
          <p:cNvPr id="120" name="Text 120"/>
          <p:cNvSpPr txBox="1"/>
          <p:nvPr/>
        </p:nvSpPr>
        <p:spPr>
          <a:xfrm>
            <a:off x="1478310" y="5532120"/>
            <a:ext cx="4318010" cy="365760"/>
          </a:xfrm>
          <a:prstGeom prst="rect">
            <a:avLst/>
          </a:prstGeom>
          <a:noFill/>
          <a:ln/>
        </p:spPr>
        <p:txBody>
          <a:bodyPr wrap="square" lIns="0" tIns="0" rIns="0" bIns="0" rtlCol="0" anchor="t">
            <a:noAutofit/>
          </a:bodyPr>
          <a:lstStyle/>
          <a:p>
            <a:pPr marL="0" indent="0" algn="l">
              <a:buNone/>
            </a:pPr>
            <a:r>
              <a:rPr lang="en-US" sz="1700" spc="100" dirty="0">
                <a:solidFill>
                  <a:srgbClr val="D02A44"/>
                </a:solidFill>
                <a:latin typeface="Courier New" pitchFamily="34" charset="0"/>
                <a:ea typeface="Courier New" pitchFamily="34" charset="-122"/>
                <a:cs typeface="Courier New" pitchFamily="34" charset="-120"/>
              </a:rPr>
              <a:t>FIRST-CLASS</a:t>
            </a:r>
          </a:p>
        </p:txBody>
      </p:sp>
      <p:sp>
        <p:nvSpPr>
          <p:cNvPr id="121" name="Text 121"/>
          <p:cNvSpPr txBox="1"/>
          <p:nvPr/>
        </p:nvSpPr>
        <p:spPr>
          <a:xfrm>
            <a:off x="1478310" y="6080760"/>
            <a:ext cx="4318010" cy="1874520"/>
          </a:xfrm>
          <a:prstGeom prst="rect">
            <a:avLst/>
          </a:prstGeom>
          <a:noFill/>
          <a:ln/>
        </p:spPr>
        <p:txBody>
          <a:bodyPr wrap="square" lIns="0" tIns="0" rIns="0" bIns="0" rtlCol="0" anchor="t">
            <a:noAutofit/>
          </a:bodyPr>
          <a:lstStyle/>
          <a:p>
            <a:pPr marL="0" indent="0" algn="l">
              <a:lnSpc>
                <a:spcPct val="125000"/>
              </a:lnSpc>
              <a:buNone/>
            </a:pPr>
            <a:r>
              <a:rPr lang="en-US" sz="1900" b="1" dirty="0">
                <a:solidFill>
                  <a:srgbClr val="2B3035"/>
                </a:solidFill>
                <a:latin typeface="Courier New" pitchFamily="34" charset="0"/>
                <a:ea typeface="Courier New" pitchFamily="34" charset="-122"/>
                <a:cs typeface="Courier New" pitchFamily="34" charset="-120"/>
              </a:rPr>
              <a:t>argocd-update</a:t>
            </a:r>
            <a:r>
              <a:rPr lang="en-US" sz="2000" dirty="0">
                <a:solidFill>
                  <a:srgbClr val="2B3035"/>
                </a:solidFill>
                <a:latin typeface="Arial" pitchFamily="34" charset="0"/>
                <a:ea typeface="Arial" pitchFamily="34" charset="-122"/>
                <a:cs typeface="Arial" pitchFamily="34" charset="-120"/>
              </a:rPr>
              <a:t> step triggers the sync. Kargo waits for the Application to be </a:t>
            </a:r>
            <a:r>
              <a:rPr lang="en-US" sz="2000" b="1" dirty="0">
                <a:solidFill>
                  <a:srgbClr val="2B3035"/>
                </a:solidFill>
                <a:latin typeface="Arial" pitchFamily="34" charset="0"/>
                <a:ea typeface="Arial" pitchFamily="34" charset="-122"/>
                <a:cs typeface="Arial" pitchFamily="34" charset="-120"/>
              </a:rPr>
              <a:t>Healthy</a:t>
            </a:r>
            <a:r>
              <a:rPr lang="en-US" sz="2000" dirty="0">
                <a:solidFill>
                  <a:srgbClr val="2B3035"/>
                </a:solidFill>
                <a:latin typeface="Arial" pitchFamily="34" charset="0"/>
                <a:ea typeface="Arial" pitchFamily="34" charset="-122"/>
                <a:cs typeface="Arial" pitchFamily="34" charset="-120"/>
              </a:rPr>
              <a:t> before verifying.</a:t>
            </a:r>
          </a:p>
        </p:txBody>
      </p:sp>
      <p:sp>
        <p:nvSpPr>
          <p:cNvPr id="122" name="Shape 122"/>
          <p:cNvSpPr/>
          <p:nvPr/>
        </p:nvSpPr>
        <p:spPr>
          <a:xfrm>
            <a:off x="6573561" y="4617720"/>
            <a:ext cx="5140970" cy="3520440"/>
          </a:xfrm>
          <a:prstGeom prst="roundRect">
            <a:avLst>
              <a:gd name="adj" fmla="val 5000"/>
            </a:avLst>
          </a:prstGeom>
          <a:solidFill>
            <a:srgbClr val="F8F6F6"/>
          </a:solidFill>
          <a:ln>
            <a:noFill/>
          </a:ln>
        </p:spPr>
        <p:txBody>
          <a:bodyPr/>
          <a:lstStyle/>
          <a:p>
            <a:endParaRPr lang="en-US"/>
          </a:p>
        </p:txBody>
      </p:sp>
      <p:sp>
        <p:nvSpPr>
          <p:cNvPr id="123" name="Text 123"/>
          <p:cNvSpPr txBox="1"/>
          <p:nvPr/>
        </p:nvSpPr>
        <p:spPr>
          <a:xfrm>
            <a:off x="6985041" y="4937760"/>
            <a:ext cx="4318010" cy="548640"/>
          </a:xfrm>
          <a:prstGeom prst="rect">
            <a:avLst/>
          </a:prstGeom>
          <a:noFill/>
          <a:ln/>
        </p:spPr>
        <p:txBody>
          <a:bodyPr wrap="square" lIns="0" tIns="0" rIns="0" bIns="0" rtlCol="0" anchor="t">
            <a:noAutofit/>
          </a:bodyPr>
          <a:lstStyle/>
          <a:p>
            <a:pPr marL="0" indent="0" algn="l">
              <a:buNone/>
            </a:pPr>
            <a:r>
              <a:rPr lang="en-US" sz="3200" b="1" spc="-30" dirty="0">
                <a:solidFill>
                  <a:srgbClr val="2B3035"/>
                </a:solidFill>
                <a:latin typeface="Arial" pitchFamily="34" charset="0"/>
                <a:ea typeface="Arial" pitchFamily="34" charset="-122"/>
                <a:cs typeface="Arial" pitchFamily="34" charset="-120"/>
              </a:rPr>
              <a:t>Flux</a:t>
            </a:r>
          </a:p>
        </p:txBody>
      </p:sp>
      <p:sp>
        <p:nvSpPr>
          <p:cNvPr id="124" name="Text 124"/>
          <p:cNvSpPr txBox="1"/>
          <p:nvPr/>
        </p:nvSpPr>
        <p:spPr>
          <a:xfrm>
            <a:off x="6985041" y="5532120"/>
            <a:ext cx="4318010" cy="365760"/>
          </a:xfrm>
          <a:prstGeom prst="rect">
            <a:avLst/>
          </a:prstGeom>
          <a:noFill/>
          <a:ln/>
        </p:spPr>
        <p:txBody>
          <a:bodyPr wrap="square" lIns="0" tIns="0" rIns="0" bIns="0" rtlCol="0" anchor="t">
            <a:noAutofit/>
          </a:bodyPr>
          <a:lstStyle/>
          <a:p>
            <a:pPr marL="0" indent="0" algn="l">
              <a:buNone/>
            </a:pPr>
            <a:r>
              <a:rPr lang="en-US" sz="1700" spc="100" dirty="0">
                <a:solidFill>
                  <a:srgbClr val="4F555B"/>
                </a:solidFill>
                <a:latin typeface="Courier New" pitchFamily="34" charset="0"/>
                <a:ea typeface="Courier New" pitchFamily="34" charset="-122"/>
                <a:cs typeface="Courier New" pitchFamily="34" charset="-120"/>
              </a:rPr>
              <a:t>VIA GIT</a:t>
            </a:r>
          </a:p>
        </p:txBody>
      </p:sp>
      <p:sp>
        <p:nvSpPr>
          <p:cNvPr id="125" name="Text 125"/>
          <p:cNvSpPr txBox="1"/>
          <p:nvPr/>
        </p:nvSpPr>
        <p:spPr>
          <a:xfrm>
            <a:off x="6985041" y="6080760"/>
            <a:ext cx="4318010" cy="1874520"/>
          </a:xfrm>
          <a:prstGeom prst="rect">
            <a:avLst/>
          </a:prstGeom>
          <a:noFill/>
          <a:ln/>
        </p:spPr>
        <p:txBody>
          <a:bodyPr wrap="square" lIns="0" tIns="0" rIns="0" bIns="0" rtlCol="0" anchor="t">
            <a:noAutofit/>
          </a:bodyPr>
          <a:lstStyle/>
          <a:p>
            <a:pPr marL="0" indent="0" algn="l">
              <a:lnSpc>
                <a:spcPct val="125000"/>
              </a:lnSpc>
              <a:buNone/>
            </a:pPr>
            <a:r>
              <a:rPr lang="en-US" sz="1900" b="1" dirty="0">
                <a:solidFill>
                  <a:srgbClr val="2B3035"/>
                </a:solidFill>
                <a:latin typeface="Courier New" pitchFamily="34" charset="0"/>
                <a:ea typeface="Courier New" pitchFamily="34" charset="-122"/>
                <a:cs typeface="Courier New" pitchFamily="34" charset="-120"/>
              </a:rPr>
              <a:t>Kustomization</a:t>
            </a:r>
            <a:r>
              <a:rPr lang="en-US" sz="2000" dirty="0">
                <a:solidFill>
                  <a:srgbClr val="2B3035"/>
                </a:solidFill>
                <a:latin typeface="Arial" pitchFamily="34" charset="0"/>
                <a:ea typeface="Arial" pitchFamily="34" charset="-122"/>
                <a:cs typeface="Arial" pitchFamily="34" charset="-120"/>
              </a:rPr>
              <a:t> or </a:t>
            </a:r>
            <a:r>
              <a:rPr lang="en-US" sz="1900" b="1" dirty="0">
                <a:solidFill>
                  <a:srgbClr val="2B3035"/>
                </a:solidFill>
                <a:latin typeface="Courier New" pitchFamily="34" charset="0"/>
                <a:ea typeface="Courier New" pitchFamily="34" charset="-122"/>
                <a:cs typeface="Courier New" pitchFamily="34" charset="-120"/>
              </a:rPr>
              <a:t>HelmRelease</a:t>
            </a:r>
            <a:r>
              <a:rPr lang="en-US" sz="2000" dirty="0">
                <a:solidFill>
                  <a:srgbClr val="2B3035"/>
                </a:solidFill>
                <a:latin typeface="Arial" pitchFamily="34" charset="0"/>
                <a:ea typeface="Arial" pitchFamily="34" charset="-122"/>
                <a:cs typeface="Arial" pitchFamily="34" charset="-120"/>
              </a:rPr>
              <a:t> watches the stage path or branch. An </a:t>
            </a:r>
            <a:r>
              <a:rPr lang="en-US" sz="1900" b="1" dirty="0">
                <a:solidFill>
                  <a:srgbClr val="2B3035"/>
                </a:solidFill>
                <a:latin typeface="Courier New" pitchFamily="34" charset="0"/>
                <a:ea typeface="Courier New" pitchFamily="34" charset="-122"/>
                <a:cs typeface="Courier New" pitchFamily="34" charset="-120"/>
              </a:rPr>
              <a:t>http</a:t>
            </a:r>
            <a:r>
              <a:rPr lang="en-US" sz="2000" dirty="0">
                <a:solidFill>
                  <a:srgbClr val="2B3035"/>
                </a:solidFill>
                <a:latin typeface="Arial" pitchFamily="34" charset="0"/>
                <a:ea typeface="Arial" pitchFamily="34" charset="-122"/>
                <a:cs typeface="Arial" pitchFamily="34" charset="-120"/>
              </a:rPr>
              <a:t> step can ping a Flux </a:t>
            </a:r>
            <a:r>
              <a:rPr lang="en-US" sz="2000" b="1" dirty="0">
                <a:solidFill>
                  <a:srgbClr val="2B3035"/>
                </a:solidFill>
                <a:latin typeface="Arial" pitchFamily="34" charset="0"/>
                <a:ea typeface="Arial" pitchFamily="34" charset="-122"/>
                <a:cs typeface="Arial" pitchFamily="34" charset="-120"/>
              </a:rPr>
              <a:t>Receiver</a:t>
            </a:r>
            <a:r>
              <a:rPr lang="en-US" sz="2000" dirty="0">
                <a:solidFill>
                  <a:srgbClr val="2B3035"/>
                </a:solidFill>
                <a:latin typeface="Arial" pitchFamily="34" charset="0"/>
                <a:ea typeface="Arial" pitchFamily="34" charset="-122"/>
                <a:cs typeface="Arial" pitchFamily="34" charset="-120"/>
              </a:rPr>
              <a:t> for an instant reconcile.</a:t>
            </a:r>
          </a:p>
        </p:txBody>
      </p:sp>
      <p:sp>
        <p:nvSpPr>
          <p:cNvPr id="126" name="Shape 126"/>
          <p:cNvSpPr/>
          <p:nvPr/>
        </p:nvSpPr>
        <p:spPr>
          <a:xfrm>
            <a:off x="12080291" y="4617720"/>
            <a:ext cx="5140970" cy="3520440"/>
          </a:xfrm>
          <a:prstGeom prst="roundRect">
            <a:avLst>
              <a:gd name="adj" fmla="val 5000"/>
            </a:avLst>
          </a:prstGeom>
          <a:solidFill>
            <a:srgbClr val="F8F6F6"/>
          </a:solidFill>
          <a:ln>
            <a:noFill/>
          </a:ln>
        </p:spPr>
        <p:txBody>
          <a:bodyPr/>
          <a:lstStyle/>
          <a:p>
            <a:endParaRPr lang="en-US"/>
          </a:p>
        </p:txBody>
      </p:sp>
      <p:sp>
        <p:nvSpPr>
          <p:cNvPr id="127" name="Text 127"/>
          <p:cNvSpPr txBox="1"/>
          <p:nvPr/>
        </p:nvSpPr>
        <p:spPr>
          <a:xfrm>
            <a:off x="12491771" y="4937760"/>
            <a:ext cx="4318010" cy="548640"/>
          </a:xfrm>
          <a:prstGeom prst="rect">
            <a:avLst/>
          </a:prstGeom>
          <a:noFill/>
          <a:ln/>
        </p:spPr>
        <p:txBody>
          <a:bodyPr wrap="square" lIns="0" tIns="0" rIns="0" bIns="0" rtlCol="0" anchor="t">
            <a:noAutofit/>
          </a:bodyPr>
          <a:lstStyle/>
          <a:p>
            <a:pPr marL="0" indent="0" algn="l">
              <a:buNone/>
            </a:pPr>
            <a:r>
              <a:rPr lang="en-US" sz="3200" b="1" spc="-30" dirty="0">
                <a:solidFill>
                  <a:srgbClr val="2B3035"/>
                </a:solidFill>
                <a:latin typeface="Arial" pitchFamily="34" charset="0"/>
                <a:ea typeface="Arial" pitchFamily="34" charset="-122"/>
                <a:cs typeface="Arial" pitchFamily="34" charset="-120"/>
              </a:rPr>
              <a:t>Anything else</a:t>
            </a:r>
          </a:p>
        </p:txBody>
      </p:sp>
      <p:sp>
        <p:nvSpPr>
          <p:cNvPr id="128" name="Text 128"/>
          <p:cNvSpPr txBox="1"/>
          <p:nvPr/>
        </p:nvSpPr>
        <p:spPr>
          <a:xfrm>
            <a:off x="12491771" y="5532120"/>
            <a:ext cx="4318010" cy="365760"/>
          </a:xfrm>
          <a:prstGeom prst="rect">
            <a:avLst/>
          </a:prstGeom>
          <a:noFill/>
          <a:ln/>
        </p:spPr>
        <p:txBody>
          <a:bodyPr wrap="square" lIns="0" tIns="0" rIns="0" bIns="0" rtlCol="0" anchor="t">
            <a:noAutofit/>
          </a:bodyPr>
          <a:lstStyle/>
          <a:p>
            <a:pPr marL="0" indent="0" algn="l">
              <a:buNone/>
            </a:pPr>
            <a:r>
              <a:rPr lang="en-US" sz="1700" spc="100" dirty="0">
                <a:solidFill>
                  <a:srgbClr val="4F555B"/>
                </a:solidFill>
                <a:latin typeface="Courier New" pitchFamily="34" charset="0"/>
                <a:ea typeface="Courier New" pitchFamily="34" charset="-122"/>
                <a:cs typeface="Courier New" pitchFamily="34" charset="-120"/>
              </a:rPr>
              <a:t>VIA GIT + HTTP</a:t>
            </a:r>
          </a:p>
        </p:txBody>
      </p:sp>
      <p:sp>
        <p:nvSpPr>
          <p:cNvPr id="129" name="Text 129"/>
          <p:cNvSpPr txBox="1"/>
          <p:nvPr/>
        </p:nvSpPr>
        <p:spPr>
          <a:xfrm>
            <a:off x="12491771" y="6080760"/>
            <a:ext cx="4318010" cy="1874520"/>
          </a:xfrm>
          <a:prstGeom prst="rect">
            <a:avLst/>
          </a:prstGeom>
          <a:noFill/>
          <a:ln/>
        </p:spPr>
        <p:txBody>
          <a:bodyPr wrap="square" lIns="0" tIns="0" rIns="0" bIns="0" rtlCol="0" anchor="t">
            <a:noAutofit/>
          </a:bodyPr>
          <a:lstStyle/>
          <a:p>
            <a:pPr marL="0" indent="0" algn="l">
              <a:lnSpc>
                <a:spcPct val="125000"/>
              </a:lnSpc>
              <a:buNone/>
            </a:pPr>
            <a:r>
              <a:rPr lang="en-US" sz="2000" dirty="0">
                <a:solidFill>
                  <a:srgbClr val="2B3035"/>
                </a:solidFill>
                <a:latin typeface="Arial" pitchFamily="34" charset="0"/>
                <a:ea typeface="Arial" pitchFamily="34" charset="-122"/>
                <a:cs typeface="Arial" pitchFamily="34" charset="-120"/>
              </a:rPr>
              <a:t>Homegrown controllers, other GitOps agents, even legacy tooling: if it reconciles from Git or exposes an API, Kargo can drive it.</a:t>
            </a:r>
          </a:p>
        </p:txBody>
      </p:sp>
      <p:sp>
        <p:nvSpPr>
          <p:cNvPr id="130" name="Shape 130"/>
          <p:cNvSpPr/>
          <p:nvPr/>
        </p:nvSpPr>
        <p:spPr>
          <a:xfrm>
            <a:off x="1066830" y="9089136"/>
            <a:ext cx="76170" cy="76170"/>
          </a:xfrm>
          <a:prstGeom prst="ellipse">
            <a:avLst/>
          </a:prstGeom>
          <a:solidFill>
            <a:srgbClr val="EE4D62"/>
          </a:solidFill>
          <a:ln>
            <a:noFill/>
          </a:ln>
        </p:spPr>
        <p:txBody>
          <a:bodyPr/>
          <a:lstStyle/>
          <a:p>
            <a:endParaRPr lang="en-US"/>
          </a:p>
        </p:txBody>
      </p:sp>
      <p:sp>
        <p:nvSpPr>
          <p:cNvPr id="131" name="Text 131"/>
          <p:cNvSpPr txBox="1"/>
          <p:nvPr/>
        </p:nvSpPr>
        <p:spPr>
          <a:xfrm>
            <a:off x="1295430" y="8979408"/>
            <a:ext cx="14173200" cy="365760"/>
          </a:xfrm>
          <a:prstGeom prst="rect">
            <a:avLst/>
          </a:prstGeom>
          <a:noFill/>
          <a:ln/>
        </p:spPr>
        <p:txBody>
          <a:bodyPr wrap="square" lIns="0" tIns="0" rIns="0" bIns="0" rtlCol="0" anchor="t">
            <a:noAutofit/>
          </a:bodyPr>
          <a:lstStyle/>
          <a:p>
            <a:pPr marL="0" indent="0" algn="l">
              <a:buNone/>
            </a:pPr>
            <a:r>
              <a:rPr lang="en-US" sz="2000" dirty="0">
                <a:solidFill>
                  <a:srgbClr val="4F555B"/>
                </a:solidFill>
                <a:latin typeface="Arial" pitchFamily="34" charset="0"/>
                <a:ea typeface="Arial" pitchFamily="34" charset="-122"/>
                <a:cs typeface="Arial" pitchFamily="34" charset="-120"/>
              </a:rPr>
              <a:t>Verification is agent-agnostic too: AnalysisTemplates gate the next Stage whoever does the deploying.</a:t>
            </a:r>
          </a:p>
        </p:txBody>
      </p:sp>
      <p:sp>
        <p:nvSpPr>
          <p:cNvPr id="18" name="Shape 16"/>
          <p:cNvSpPr/>
          <p:nvPr/>
        </p:nvSpPr>
        <p:spPr>
          <a:xfrm>
            <a:off x="1066800" y="9439275"/>
            <a:ext cx="16154400" cy="9525"/>
          </a:xfrm>
          <a:prstGeom prst="rect">
            <a:avLst/>
          </a:prstGeom>
          <a:solidFill>
            <a:srgbClr val="E7E7E9"/>
          </a:solidFill>
          <a:ln/>
        </p:spPr>
        <p:txBody>
          <a:bodyPr/>
          <a:lstStyle/>
          <a:p>
            <a:endParaRPr lang="en-US"/>
          </a:p>
        </p:txBody>
      </p:sp>
      <p:sp>
        <p:nvSpPr>
          <p:cNvPr id="19" name="Text 1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0" name="Text 1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1" name="Text 1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10</a:t>
            </a:r>
            <a:endParaRPr lang="en-US" sz="1800" dirty="0"/>
          </a:p>
        </p:txBody>
      </p:sp>
      <p:pic>
        <p:nvPicPr>
          <p:cNvPr id="22" name="Image 0" descr="preencoded.png">
            <a:extLst>
              <a:ext uri="{FF2B5EF4-FFF2-40B4-BE49-F238E27FC236}">
                <a16:creationId xmlns:a16="http://schemas.microsoft.com/office/drawing/2014/main" id="{6B5617A5-D82C-C456-621E-7D6AD0921DE6}"/>
              </a:ext>
            </a:extLst>
          </p:cNvPr>
          <p:cNvPicPr>
            <a:picLocks noChangeAspect="1"/>
          </p:cNvPicPr>
          <p:nvPr/>
        </p:nvPicPr>
        <p:blipFill>
          <a:blip r:embed="rId2"/>
          <a:stretch>
            <a:fillRect/>
          </a:stretch>
        </p:blipFill>
        <p:spPr>
          <a:xfrm>
            <a:off x="15769158" y="366712"/>
            <a:ext cx="1904256" cy="590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11</a:t>
            </a:r>
            <a:endParaRPr lang="en-US" sz="1800" dirty="0"/>
          </a:p>
        </p:txBody>
      </p:sp>
      <p:sp>
        <p:nvSpPr>
          <p:cNvPr id="3" name="Text 1"/>
          <p:cNvSpPr/>
          <p:nvPr/>
        </p:nvSpPr>
        <p:spPr>
          <a:xfrm>
            <a:off x="1566714" y="819151"/>
            <a:ext cx="4144275" cy="283139"/>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ACCESS CONTROL</a:t>
            </a:r>
            <a:endParaRPr lang="en-US" sz="1800" dirty="0"/>
          </a:p>
        </p:txBody>
      </p:sp>
      <p:sp>
        <p:nvSpPr>
          <p:cNvPr id="4" name="Text 2"/>
          <p:cNvSpPr/>
          <p:nvPr/>
        </p:nvSpPr>
        <p:spPr>
          <a:xfrm>
            <a:off x="1066800" y="1391076"/>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Who is allowed to promote?</a:t>
            </a:r>
            <a:endParaRPr lang="en-US" sz="4950" dirty="0"/>
          </a:p>
        </p:txBody>
      </p:sp>
      <p:sp>
        <p:nvSpPr>
          <p:cNvPr id="132" name="Shape 132"/>
          <p:cNvSpPr/>
          <p:nvPr/>
        </p:nvSpPr>
        <p:spPr>
          <a:xfrm>
            <a:off x="1066830" y="2286000"/>
            <a:ext cx="3657600" cy="2514600"/>
          </a:xfrm>
          <a:prstGeom prst="roundRect">
            <a:avLst>
              <a:gd name="adj" fmla="val 6000"/>
            </a:avLst>
          </a:prstGeom>
          <a:solidFill>
            <a:srgbClr val="F8F6F6"/>
          </a:solidFill>
          <a:ln>
            <a:noFill/>
          </a:ln>
        </p:spPr>
        <p:txBody>
          <a:bodyPr/>
          <a:lstStyle/>
          <a:p>
            <a:endParaRPr lang="en-US"/>
          </a:p>
        </p:txBody>
      </p:sp>
      <p:sp>
        <p:nvSpPr>
          <p:cNvPr id="133" name="Text 133"/>
          <p:cNvSpPr txBox="1"/>
          <p:nvPr/>
        </p:nvSpPr>
        <p:spPr>
          <a:xfrm>
            <a:off x="1341150" y="2487168"/>
            <a:ext cx="3108960" cy="320040"/>
          </a:xfrm>
          <a:prstGeom prst="rect">
            <a:avLst/>
          </a:prstGeom>
          <a:noFill/>
          <a:ln/>
        </p:spPr>
        <p:txBody>
          <a:bodyPr wrap="square" lIns="0" tIns="0" rIns="0" bIns="0" rtlCol="0" anchor="t">
            <a:noAutofit/>
          </a:bodyPr>
          <a:lstStyle/>
          <a:p>
            <a:pPr marL="0" indent="0" algn="l">
              <a:buNone/>
            </a:pPr>
            <a:r>
              <a:rPr lang="en-US" sz="1500" spc="60" dirty="0">
                <a:solidFill>
                  <a:srgbClr val="D02A44"/>
                </a:solidFill>
                <a:latin typeface="Courier New" pitchFamily="34" charset="0"/>
                <a:ea typeface="Courier New" pitchFamily="34" charset="-122"/>
                <a:cs typeface="Courier New" pitchFamily="34" charset="-120"/>
              </a:rPr>
              <a:t>01 · IDENTITY</a:t>
            </a:r>
          </a:p>
        </p:txBody>
      </p:sp>
      <p:sp>
        <p:nvSpPr>
          <p:cNvPr id="134" name="Text 134"/>
          <p:cNvSpPr txBox="1"/>
          <p:nvPr/>
        </p:nvSpPr>
        <p:spPr>
          <a:xfrm>
            <a:off x="1341150" y="2852928"/>
            <a:ext cx="3108960" cy="502920"/>
          </a:xfrm>
          <a:prstGeom prst="rect">
            <a:avLst/>
          </a:prstGeom>
          <a:noFill/>
          <a:ln/>
        </p:spPr>
        <p:txBody>
          <a:bodyPr wrap="square" lIns="0" tIns="0" rIns="0" bIns="0" rtlCol="0" anchor="t">
            <a:noAutofit/>
          </a:bodyPr>
          <a:lstStyle/>
          <a:p>
            <a:pPr marL="0" indent="0" algn="l">
              <a:buNone/>
            </a:pPr>
            <a:r>
              <a:rPr lang="en-US" sz="2600" b="1" spc="-20" dirty="0">
                <a:solidFill>
                  <a:srgbClr val="2B3035"/>
                </a:solidFill>
                <a:latin typeface="Arial" pitchFamily="34" charset="0"/>
                <a:ea typeface="Arial" pitchFamily="34" charset="-122"/>
                <a:cs typeface="Arial" pitchFamily="34" charset="-120"/>
              </a:rPr>
              <a:t>SSO login</a:t>
            </a:r>
          </a:p>
        </p:txBody>
      </p:sp>
      <p:sp>
        <p:nvSpPr>
          <p:cNvPr id="135" name="Text 135"/>
          <p:cNvSpPr txBox="1"/>
          <p:nvPr/>
        </p:nvSpPr>
        <p:spPr>
          <a:xfrm>
            <a:off x="1341150" y="3401568"/>
            <a:ext cx="3108960" cy="1325880"/>
          </a:xfrm>
          <a:prstGeom prst="rect">
            <a:avLst/>
          </a:prstGeom>
          <a:noFill/>
          <a:ln/>
        </p:spPr>
        <p:txBody>
          <a:bodyPr wrap="square" lIns="0" tIns="0" rIns="0" bIns="0" rtlCol="0" anchor="t">
            <a:noAutofit/>
          </a:bodyPr>
          <a:lstStyle/>
          <a:p>
            <a:pPr marL="0" indent="0" algn="l">
              <a:lnSpc>
                <a:spcPct val="115000"/>
              </a:lnSpc>
              <a:buNone/>
            </a:pPr>
            <a:r>
              <a:rPr lang="en-US" sz="1800" dirty="0">
                <a:solidFill>
                  <a:srgbClr val="2B3035"/>
                </a:solidFill>
                <a:latin typeface="Arial" pitchFamily="34" charset="0"/>
                <a:ea typeface="Arial" pitchFamily="34" charset="-122"/>
                <a:cs typeface="Arial" pitchFamily="34" charset="-120"/>
              </a:rPr>
              <a:t>Your IdP via </a:t>
            </a:r>
            <a:r>
              <a:rPr lang="en-US" sz="1800" b="1" dirty="0">
                <a:solidFill>
                  <a:srgbClr val="2B3035"/>
                </a:solidFill>
                <a:latin typeface="Arial" pitchFamily="34" charset="0"/>
                <a:ea typeface="Arial" pitchFamily="34" charset="-122"/>
                <a:cs typeface="Arial" pitchFamily="34" charset="-120"/>
              </a:rPr>
              <a:t>OIDC</a:t>
            </a:r>
            <a:r>
              <a:rPr lang="en-US" sz="1800" dirty="0">
                <a:solidFill>
                  <a:srgbClr val="2B3035"/>
                </a:solidFill>
                <a:latin typeface="Arial" pitchFamily="34" charset="0"/>
                <a:ea typeface="Arial" pitchFamily="34" charset="-122"/>
                <a:cs typeface="Arial" pitchFamily="34" charset="-120"/>
              </a:rPr>
              <a:t>. Claims: </a:t>
            </a:r>
            <a:r>
              <a:rPr lang="en-US" sz="1700" b="1" dirty="0">
                <a:solidFill>
                  <a:srgbClr val="2B3035"/>
                </a:solidFill>
                <a:latin typeface="Courier New" pitchFamily="34" charset="0"/>
                <a:ea typeface="Courier New" pitchFamily="34" charset="-122"/>
                <a:cs typeface="Courier New" pitchFamily="34" charset="-120"/>
              </a:rPr>
              <a:t>sub</a:t>
            </a:r>
            <a:r>
              <a:rPr lang="en-US" sz="1800" dirty="0">
                <a:solidFill>
                  <a:srgbClr val="2B3035"/>
                </a:solidFill>
                <a:latin typeface="Arial" pitchFamily="34" charset="0"/>
                <a:ea typeface="Arial" pitchFamily="34" charset="-122"/>
                <a:cs typeface="Arial" pitchFamily="34" charset="-120"/>
              </a:rPr>
              <a:t>, </a:t>
            </a:r>
            <a:r>
              <a:rPr lang="en-US" sz="1700" b="1" dirty="0">
                <a:solidFill>
                  <a:srgbClr val="2B3035"/>
                </a:solidFill>
                <a:latin typeface="Courier New" pitchFamily="34" charset="0"/>
                <a:ea typeface="Courier New" pitchFamily="34" charset="-122"/>
                <a:cs typeface="Courier New" pitchFamily="34" charset="-120"/>
              </a:rPr>
              <a:t>email</a:t>
            </a:r>
            <a:r>
              <a:rPr lang="en-US" sz="1800" dirty="0">
                <a:solidFill>
                  <a:srgbClr val="2B3035"/>
                </a:solidFill>
                <a:latin typeface="Arial" pitchFamily="34" charset="0"/>
                <a:ea typeface="Arial" pitchFamily="34" charset="-122"/>
                <a:cs typeface="Arial" pitchFamily="34" charset="-120"/>
              </a:rPr>
              <a:t>, </a:t>
            </a:r>
            <a:r>
              <a:rPr lang="en-US" sz="1700" b="1" dirty="0">
                <a:solidFill>
                  <a:srgbClr val="2B3035"/>
                </a:solidFill>
                <a:latin typeface="Courier New" pitchFamily="34" charset="0"/>
                <a:ea typeface="Courier New" pitchFamily="34" charset="-122"/>
                <a:cs typeface="Courier New" pitchFamily="34" charset="-120"/>
              </a:rPr>
              <a:t>groups</a:t>
            </a:r>
            <a:r>
              <a:rPr lang="en-US" sz="1800" dirty="0">
                <a:solidFill>
                  <a:srgbClr val="2B3035"/>
                </a:solidFill>
                <a:latin typeface="Arial" pitchFamily="34" charset="0"/>
                <a:ea typeface="Arial" pitchFamily="34" charset="-122"/>
                <a:cs typeface="Arial" pitchFamily="34" charset="-120"/>
              </a:rPr>
              <a:t>.</a:t>
            </a:r>
          </a:p>
        </p:txBody>
      </p:sp>
      <p:sp>
        <p:nvSpPr>
          <p:cNvPr id="136" name="Text 136"/>
          <p:cNvSpPr txBox="1"/>
          <p:nvPr/>
        </p:nvSpPr>
        <p:spPr>
          <a:xfrm>
            <a:off x="4724430" y="3108960"/>
            <a:ext cx="509046" cy="548640"/>
          </a:xfrm>
          <a:prstGeom prst="rect">
            <a:avLst/>
          </a:prstGeom>
          <a:noFill/>
          <a:ln/>
        </p:spPr>
        <p:txBody>
          <a:bodyPr wrap="square" lIns="0" tIns="0" rIns="0" bIns="0" rtlCol="0" anchor="t">
            <a:noAutofit/>
          </a:bodyPr>
          <a:lstStyle/>
          <a:p>
            <a:pPr marL="0" indent="0" algn="ctr">
              <a:buNone/>
            </a:pPr>
            <a:r>
              <a:rPr lang="en-US" sz="3000" dirty="0">
                <a:solidFill>
                  <a:srgbClr val="969BA1"/>
                </a:solidFill>
                <a:latin typeface="Arial" pitchFamily="34" charset="0"/>
                <a:ea typeface="Arial" pitchFamily="34" charset="-122"/>
                <a:cs typeface="Arial" pitchFamily="34" charset="-120"/>
              </a:rPr>
              <a:t>→</a:t>
            </a:r>
          </a:p>
        </p:txBody>
      </p:sp>
      <p:sp>
        <p:nvSpPr>
          <p:cNvPr id="137" name="Shape 137"/>
          <p:cNvSpPr/>
          <p:nvPr/>
        </p:nvSpPr>
        <p:spPr>
          <a:xfrm>
            <a:off x="5233477" y="2286000"/>
            <a:ext cx="3657600" cy="2514600"/>
          </a:xfrm>
          <a:prstGeom prst="roundRect">
            <a:avLst>
              <a:gd name="adj" fmla="val 6000"/>
            </a:avLst>
          </a:prstGeom>
          <a:solidFill>
            <a:srgbClr val="F8F6F6"/>
          </a:solidFill>
          <a:ln>
            <a:noFill/>
          </a:ln>
        </p:spPr>
        <p:txBody>
          <a:bodyPr/>
          <a:lstStyle/>
          <a:p>
            <a:endParaRPr lang="en-US"/>
          </a:p>
        </p:txBody>
      </p:sp>
      <p:sp>
        <p:nvSpPr>
          <p:cNvPr id="138" name="Text 138"/>
          <p:cNvSpPr txBox="1"/>
          <p:nvPr/>
        </p:nvSpPr>
        <p:spPr>
          <a:xfrm>
            <a:off x="5507797" y="2487168"/>
            <a:ext cx="3108960" cy="320040"/>
          </a:xfrm>
          <a:prstGeom prst="rect">
            <a:avLst/>
          </a:prstGeom>
          <a:noFill/>
          <a:ln/>
        </p:spPr>
        <p:txBody>
          <a:bodyPr wrap="square" lIns="0" tIns="0" rIns="0" bIns="0" rtlCol="0" anchor="t">
            <a:noAutofit/>
          </a:bodyPr>
          <a:lstStyle/>
          <a:p>
            <a:pPr marL="0" indent="0" algn="l">
              <a:buNone/>
            </a:pPr>
            <a:r>
              <a:rPr lang="en-US" sz="1500" spc="60" dirty="0">
                <a:solidFill>
                  <a:srgbClr val="D02A44"/>
                </a:solidFill>
                <a:latin typeface="Courier New" pitchFamily="34" charset="0"/>
                <a:ea typeface="Courier New" pitchFamily="34" charset="-122"/>
                <a:cs typeface="Courier New" pitchFamily="34" charset="-120"/>
              </a:rPr>
              <a:t>02 · MAPPING</a:t>
            </a:r>
          </a:p>
        </p:txBody>
      </p:sp>
      <p:sp>
        <p:nvSpPr>
          <p:cNvPr id="139" name="Text 139"/>
          <p:cNvSpPr txBox="1"/>
          <p:nvPr/>
        </p:nvSpPr>
        <p:spPr>
          <a:xfrm>
            <a:off x="5507797" y="2852928"/>
            <a:ext cx="3108960" cy="502920"/>
          </a:xfrm>
          <a:prstGeom prst="rect">
            <a:avLst/>
          </a:prstGeom>
          <a:noFill/>
          <a:ln/>
        </p:spPr>
        <p:txBody>
          <a:bodyPr wrap="square" lIns="0" tIns="0" rIns="0" bIns="0" rtlCol="0" anchor="t">
            <a:noAutofit/>
          </a:bodyPr>
          <a:lstStyle/>
          <a:p>
            <a:pPr marL="0" indent="0" algn="l">
              <a:buNone/>
            </a:pPr>
            <a:r>
              <a:rPr lang="en-US" sz="2600" b="1" spc="-20" dirty="0">
                <a:solidFill>
                  <a:srgbClr val="2B3035"/>
                </a:solidFill>
                <a:latin typeface="Arial" pitchFamily="34" charset="0"/>
                <a:ea typeface="Arial" pitchFamily="34" charset="-122"/>
                <a:cs typeface="Arial" pitchFamily="34" charset="-120"/>
              </a:rPr>
              <a:t>Claim → SA</a:t>
            </a:r>
          </a:p>
        </p:txBody>
      </p:sp>
      <p:sp>
        <p:nvSpPr>
          <p:cNvPr id="140" name="Text 140"/>
          <p:cNvSpPr txBox="1"/>
          <p:nvPr/>
        </p:nvSpPr>
        <p:spPr>
          <a:xfrm>
            <a:off x="5507797" y="3401568"/>
            <a:ext cx="3108960" cy="1325880"/>
          </a:xfrm>
          <a:prstGeom prst="rect">
            <a:avLst/>
          </a:prstGeom>
          <a:noFill/>
          <a:ln/>
        </p:spPr>
        <p:txBody>
          <a:bodyPr wrap="square" lIns="0" tIns="0" rIns="0" bIns="0" rtlCol="0" anchor="t">
            <a:noAutofit/>
          </a:bodyPr>
          <a:lstStyle/>
          <a:p>
            <a:pPr marL="0" indent="0" algn="l">
              <a:lnSpc>
                <a:spcPct val="115000"/>
              </a:lnSpc>
              <a:buNone/>
            </a:pPr>
            <a:r>
              <a:rPr lang="en-US" sz="1800" dirty="0">
                <a:solidFill>
                  <a:srgbClr val="2B3035"/>
                </a:solidFill>
                <a:latin typeface="Arial" pitchFamily="34" charset="0"/>
                <a:ea typeface="Arial" pitchFamily="34" charset="-122"/>
                <a:cs typeface="Arial" pitchFamily="34" charset="-120"/>
              </a:rPr>
              <a:t>A ServiceAccount carries the claims in an annotation:</a:t>
            </a:r>
          </a:p>
          <a:p>
            <a:pPr marL="0" indent="0" algn="l">
              <a:lnSpc>
                <a:spcPct val="140000"/>
              </a:lnSpc>
              <a:buNone/>
            </a:pPr>
            <a:r>
              <a:rPr lang="en-US" sz="1300" b="1" dirty="0">
                <a:solidFill>
                  <a:srgbClr val="2B3035"/>
                </a:solidFill>
                <a:latin typeface="Courier New" pitchFamily="34" charset="0"/>
                <a:ea typeface="Courier New" pitchFamily="34" charset="-122"/>
                <a:cs typeface="Courier New" pitchFamily="34" charset="-120"/>
              </a:rPr>
              <a:t>rbac.kargo.akuity.io/claims</a:t>
            </a:r>
          </a:p>
        </p:txBody>
      </p:sp>
      <p:sp>
        <p:nvSpPr>
          <p:cNvPr id="141" name="Text 141"/>
          <p:cNvSpPr txBox="1"/>
          <p:nvPr/>
        </p:nvSpPr>
        <p:spPr>
          <a:xfrm>
            <a:off x="8891077" y="3108960"/>
            <a:ext cx="509046" cy="548640"/>
          </a:xfrm>
          <a:prstGeom prst="rect">
            <a:avLst/>
          </a:prstGeom>
          <a:noFill/>
          <a:ln/>
        </p:spPr>
        <p:txBody>
          <a:bodyPr wrap="square" lIns="0" tIns="0" rIns="0" bIns="0" rtlCol="0" anchor="t">
            <a:noAutofit/>
          </a:bodyPr>
          <a:lstStyle/>
          <a:p>
            <a:pPr marL="0" indent="0" algn="ctr">
              <a:buNone/>
            </a:pPr>
            <a:r>
              <a:rPr lang="en-US" sz="3000" dirty="0">
                <a:solidFill>
                  <a:srgbClr val="969BA1"/>
                </a:solidFill>
                <a:latin typeface="Arial" pitchFamily="34" charset="0"/>
                <a:ea typeface="Arial" pitchFamily="34" charset="-122"/>
                <a:cs typeface="Arial" pitchFamily="34" charset="-120"/>
              </a:rPr>
              <a:t>→</a:t>
            </a:r>
          </a:p>
        </p:txBody>
      </p:sp>
      <p:sp>
        <p:nvSpPr>
          <p:cNvPr id="142" name="Shape 142"/>
          <p:cNvSpPr/>
          <p:nvPr/>
        </p:nvSpPr>
        <p:spPr>
          <a:xfrm>
            <a:off x="9400123" y="2286000"/>
            <a:ext cx="3657600" cy="2514600"/>
          </a:xfrm>
          <a:prstGeom prst="roundRect">
            <a:avLst>
              <a:gd name="adj" fmla="val 6000"/>
            </a:avLst>
          </a:prstGeom>
          <a:solidFill>
            <a:srgbClr val="FBE9EC"/>
          </a:solidFill>
          <a:ln>
            <a:noFill/>
          </a:ln>
        </p:spPr>
        <p:txBody>
          <a:bodyPr/>
          <a:lstStyle/>
          <a:p>
            <a:endParaRPr lang="en-US"/>
          </a:p>
        </p:txBody>
      </p:sp>
      <p:sp>
        <p:nvSpPr>
          <p:cNvPr id="143" name="Text 143"/>
          <p:cNvSpPr txBox="1"/>
          <p:nvPr/>
        </p:nvSpPr>
        <p:spPr>
          <a:xfrm>
            <a:off x="9674443" y="2487168"/>
            <a:ext cx="3108960" cy="320040"/>
          </a:xfrm>
          <a:prstGeom prst="rect">
            <a:avLst/>
          </a:prstGeom>
          <a:noFill/>
          <a:ln/>
        </p:spPr>
        <p:txBody>
          <a:bodyPr wrap="square" lIns="0" tIns="0" rIns="0" bIns="0" rtlCol="0" anchor="t">
            <a:noAutofit/>
          </a:bodyPr>
          <a:lstStyle/>
          <a:p>
            <a:pPr marL="0" indent="0" algn="l">
              <a:buNone/>
            </a:pPr>
            <a:r>
              <a:rPr lang="en-US" sz="1500" spc="60" dirty="0">
                <a:solidFill>
                  <a:srgbClr val="D02A44"/>
                </a:solidFill>
                <a:latin typeface="Courier New" pitchFamily="34" charset="0"/>
                <a:ea typeface="Courier New" pitchFamily="34" charset="-122"/>
                <a:cs typeface="Courier New" pitchFamily="34" charset="-120"/>
              </a:rPr>
              <a:t>03 · PERMISSIONS</a:t>
            </a:r>
          </a:p>
        </p:txBody>
      </p:sp>
      <p:sp>
        <p:nvSpPr>
          <p:cNvPr id="144" name="Text 144"/>
          <p:cNvSpPr txBox="1"/>
          <p:nvPr/>
        </p:nvSpPr>
        <p:spPr>
          <a:xfrm>
            <a:off x="9674443" y="2852928"/>
            <a:ext cx="3108960" cy="502920"/>
          </a:xfrm>
          <a:prstGeom prst="rect">
            <a:avLst/>
          </a:prstGeom>
          <a:noFill/>
          <a:ln/>
        </p:spPr>
        <p:txBody>
          <a:bodyPr wrap="square" lIns="0" tIns="0" rIns="0" bIns="0" rtlCol="0" anchor="t">
            <a:noAutofit/>
          </a:bodyPr>
          <a:lstStyle/>
          <a:p>
            <a:pPr marL="0" indent="0" algn="l">
              <a:buNone/>
            </a:pPr>
            <a:r>
              <a:rPr lang="en-US" sz="2600" b="1" spc="-20" dirty="0">
                <a:solidFill>
                  <a:srgbClr val="2B3035"/>
                </a:solidFill>
                <a:latin typeface="Arial" pitchFamily="34" charset="0"/>
                <a:ea typeface="Arial" pitchFamily="34" charset="-122"/>
                <a:cs typeface="Arial" pitchFamily="34" charset="-120"/>
              </a:rPr>
              <a:t>Role + Binding</a:t>
            </a:r>
          </a:p>
        </p:txBody>
      </p:sp>
      <p:sp>
        <p:nvSpPr>
          <p:cNvPr id="145" name="Text 145"/>
          <p:cNvSpPr txBox="1"/>
          <p:nvPr/>
        </p:nvSpPr>
        <p:spPr>
          <a:xfrm>
            <a:off x="9674443" y="3401568"/>
            <a:ext cx="3108960" cy="1325880"/>
          </a:xfrm>
          <a:prstGeom prst="rect">
            <a:avLst/>
          </a:prstGeom>
          <a:noFill/>
          <a:ln/>
        </p:spPr>
        <p:txBody>
          <a:bodyPr wrap="square" lIns="0" tIns="0" rIns="0" bIns="0" rtlCol="0" anchor="t">
            <a:noAutofit/>
          </a:bodyPr>
          <a:lstStyle/>
          <a:p>
            <a:pPr marL="0" indent="0" algn="l">
              <a:lnSpc>
                <a:spcPct val="115000"/>
              </a:lnSpc>
              <a:buNone/>
            </a:pPr>
            <a:r>
              <a:rPr lang="en-US" sz="1800" dirty="0">
                <a:solidFill>
                  <a:srgbClr val="2B3035"/>
                </a:solidFill>
                <a:latin typeface="Arial" pitchFamily="34" charset="0"/>
                <a:ea typeface="Arial" pitchFamily="34" charset="-122"/>
                <a:cs typeface="Arial" pitchFamily="34" charset="-120"/>
              </a:rPr>
              <a:t>Plain Kubernetes RBAC, plus Kargo’s custom </a:t>
            </a:r>
            <a:r>
              <a:rPr lang="en-US" sz="1700" b="1" dirty="0">
                <a:solidFill>
                  <a:srgbClr val="2B3035"/>
                </a:solidFill>
                <a:latin typeface="Courier New" pitchFamily="34" charset="0"/>
                <a:ea typeface="Courier New" pitchFamily="34" charset="-122"/>
                <a:cs typeface="Courier New" pitchFamily="34" charset="-120"/>
              </a:rPr>
              <a:t>promote</a:t>
            </a:r>
            <a:r>
              <a:rPr lang="en-US" sz="1800" dirty="0">
                <a:solidFill>
                  <a:srgbClr val="2B3035"/>
                </a:solidFill>
                <a:latin typeface="Arial" pitchFamily="34" charset="0"/>
                <a:ea typeface="Arial" pitchFamily="34" charset="-122"/>
                <a:cs typeface="Arial" pitchFamily="34" charset="-120"/>
              </a:rPr>
              <a:t> verb on </a:t>
            </a:r>
            <a:r>
              <a:rPr lang="en-US" sz="1700" b="1" dirty="0">
                <a:solidFill>
                  <a:srgbClr val="2B3035"/>
                </a:solidFill>
                <a:latin typeface="Courier New" pitchFamily="34" charset="0"/>
                <a:ea typeface="Courier New" pitchFamily="34" charset="-122"/>
                <a:cs typeface="Courier New" pitchFamily="34" charset="-120"/>
              </a:rPr>
              <a:t>stages</a:t>
            </a:r>
            <a:r>
              <a:rPr lang="en-US" sz="1800" dirty="0">
                <a:solidFill>
                  <a:srgbClr val="2B3035"/>
                </a:solidFill>
                <a:latin typeface="Arial" pitchFamily="34" charset="0"/>
                <a:ea typeface="Arial" pitchFamily="34" charset="-122"/>
                <a:cs typeface="Arial" pitchFamily="34" charset="-120"/>
              </a:rPr>
              <a:t>.</a:t>
            </a:r>
          </a:p>
        </p:txBody>
      </p:sp>
      <p:sp>
        <p:nvSpPr>
          <p:cNvPr id="146" name="Text 146"/>
          <p:cNvSpPr txBox="1"/>
          <p:nvPr/>
        </p:nvSpPr>
        <p:spPr>
          <a:xfrm>
            <a:off x="13057723" y="3108960"/>
            <a:ext cx="509046" cy="548640"/>
          </a:xfrm>
          <a:prstGeom prst="rect">
            <a:avLst/>
          </a:prstGeom>
          <a:noFill/>
          <a:ln/>
        </p:spPr>
        <p:txBody>
          <a:bodyPr wrap="square" lIns="0" tIns="0" rIns="0" bIns="0" rtlCol="0" anchor="t">
            <a:noAutofit/>
          </a:bodyPr>
          <a:lstStyle/>
          <a:p>
            <a:pPr marL="0" indent="0" algn="ctr">
              <a:buNone/>
            </a:pPr>
            <a:r>
              <a:rPr lang="en-US" sz="3000" dirty="0">
                <a:solidFill>
                  <a:srgbClr val="969BA1"/>
                </a:solidFill>
                <a:latin typeface="Arial" pitchFamily="34" charset="0"/>
                <a:ea typeface="Arial" pitchFamily="34" charset="-122"/>
                <a:cs typeface="Arial" pitchFamily="34" charset="-120"/>
              </a:rPr>
              <a:t>→</a:t>
            </a:r>
          </a:p>
        </p:txBody>
      </p:sp>
      <p:sp>
        <p:nvSpPr>
          <p:cNvPr id="147" name="Shape 147"/>
          <p:cNvSpPr/>
          <p:nvPr/>
        </p:nvSpPr>
        <p:spPr>
          <a:xfrm>
            <a:off x="13566770" y="2286000"/>
            <a:ext cx="3657600" cy="2514600"/>
          </a:xfrm>
          <a:prstGeom prst="roundRect">
            <a:avLst>
              <a:gd name="adj" fmla="val 6000"/>
            </a:avLst>
          </a:prstGeom>
          <a:solidFill>
            <a:srgbClr val="F8F6F6"/>
          </a:solidFill>
          <a:ln>
            <a:noFill/>
          </a:ln>
        </p:spPr>
        <p:txBody>
          <a:bodyPr/>
          <a:lstStyle/>
          <a:p>
            <a:endParaRPr lang="en-US"/>
          </a:p>
        </p:txBody>
      </p:sp>
      <p:sp>
        <p:nvSpPr>
          <p:cNvPr id="148" name="Text 148"/>
          <p:cNvSpPr txBox="1"/>
          <p:nvPr/>
        </p:nvSpPr>
        <p:spPr>
          <a:xfrm>
            <a:off x="13841090" y="2487168"/>
            <a:ext cx="3108960" cy="320040"/>
          </a:xfrm>
          <a:prstGeom prst="rect">
            <a:avLst/>
          </a:prstGeom>
          <a:noFill/>
          <a:ln/>
        </p:spPr>
        <p:txBody>
          <a:bodyPr wrap="square" lIns="0" tIns="0" rIns="0" bIns="0" rtlCol="0" anchor="t">
            <a:noAutofit/>
          </a:bodyPr>
          <a:lstStyle/>
          <a:p>
            <a:pPr marL="0" indent="0" algn="l">
              <a:buNone/>
            </a:pPr>
            <a:r>
              <a:rPr lang="en-US" sz="1500" spc="60" dirty="0">
                <a:solidFill>
                  <a:srgbClr val="D02A44"/>
                </a:solidFill>
                <a:latin typeface="Courier New" pitchFamily="34" charset="0"/>
                <a:ea typeface="Courier New" pitchFamily="34" charset="-122"/>
                <a:cs typeface="Courier New" pitchFamily="34" charset="-120"/>
              </a:rPr>
              <a:t>04 · ENFORCEMENT</a:t>
            </a:r>
          </a:p>
        </p:txBody>
      </p:sp>
      <p:sp>
        <p:nvSpPr>
          <p:cNvPr id="149" name="Text 149"/>
          <p:cNvSpPr txBox="1"/>
          <p:nvPr/>
        </p:nvSpPr>
        <p:spPr>
          <a:xfrm>
            <a:off x="13841090" y="2852928"/>
            <a:ext cx="3108960" cy="502920"/>
          </a:xfrm>
          <a:prstGeom prst="rect">
            <a:avLst/>
          </a:prstGeom>
          <a:noFill/>
          <a:ln/>
        </p:spPr>
        <p:txBody>
          <a:bodyPr wrap="square" lIns="0" tIns="0" rIns="0" bIns="0" rtlCol="0" anchor="t">
            <a:noAutofit/>
          </a:bodyPr>
          <a:lstStyle/>
          <a:p>
            <a:pPr marL="0" indent="0" algn="l">
              <a:buNone/>
            </a:pPr>
            <a:r>
              <a:rPr lang="en-US" sz="2600" b="1" spc="-20" dirty="0">
                <a:solidFill>
                  <a:srgbClr val="2B3035"/>
                </a:solidFill>
                <a:latin typeface="Arial" pitchFamily="34" charset="0"/>
                <a:ea typeface="Arial" pitchFamily="34" charset="-122"/>
                <a:cs typeface="Arial" pitchFamily="34" charset="-120"/>
              </a:rPr>
              <a:t>No side doors</a:t>
            </a:r>
          </a:p>
        </p:txBody>
      </p:sp>
      <p:sp>
        <p:nvSpPr>
          <p:cNvPr id="150" name="Text 150"/>
          <p:cNvSpPr txBox="1"/>
          <p:nvPr/>
        </p:nvSpPr>
        <p:spPr>
          <a:xfrm>
            <a:off x="13841090" y="3401568"/>
            <a:ext cx="3108960" cy="1325880"/>
          </a:xfrm>
          <a:prstGeom prst="rect">
            <a:avLst/>
          </a:prstGeom>
          <a:noFill/>
          <a:ln/>
        </p:spPr>
        <p:txBody>
          <a:bodyPr wrap="square" lIns="0" tIns="0" rIns="0" bIns="0" rtlCol="0" anchor="t">
            <a:noAutofit/>
          </a:bodyPr>
          <a:lstStyle/>
          <a:p>
            <a:pPr marL="0" indent="0" algn="l">
              <a:lnSpc>
                <a:spcPct val="115000"/>
              </a:lnSpc>
              <a:buNone/>
            </a:pPr>
            <a:r>
              <a:rPr lang="en-US" sz="1800" dirty="0">
                <a:solidFill>
                  <a:srgbClr val="2B3035"/>
                </a:solidFill>
                <a:latin typeface="Arial" pitchFamily="34" charset="0"/>
                <a:ea typeface="Arial" pitchFamily="34" charset="-122"/>
                <a:cs typeface="Arial" pitchFamily="34" charset="-120"/>
              </a:rPr>
              <a:t>UI, CLI and </a:t>
            </a:r>
            <a:r>
              <a:rPr lang="en-US" sz="1700" b="1" dirty="0">
                <a:solidFill>
                  <a:srgbClr val="2B3035"/>
                </a:solidFill>
                <a:latin typeface="Courier New" pitchFamily="34" charset="0"/>
                <a:ea typeface="Courier New" pitchFamily="34" charset="-122"/>
                <a:cs typeface="Courier New" pitchFamily="34" charset="-120"/>
              </a:rPr>
              <a:t>kubectl</a:t>
            </a:r>
            <a:r>
              <a:rPr lang="en-US" sz="1800" dirty="0">
                <a:solidFill>
                  <a:srgbClr val="2B3035"/>
                </a:solidFill>
                <a:latin typeface="Arial" pitchFamily="34" charset="0"/>
                <a:ea typeface="Arial" pitchFamily="34" charset="-122"/>
                <a:cs typeface="Arial" pitchFamily="34" charset="-120"/>
              </a:rPr>
              <a:t> all hit the same rules in the API server.</a:t>
            </a:r>
          </a:p>
        </p:txBody>
      </p:sp>
      <p:sp>
        <p:nvSpPr>
          <p:cNvPr id="151" name="Text 151"/>
          <p:cNvSpPr txBox="1"/>
          <p:nvPr/>
        </p:nvSpPr>
        <p:spPr>
          <a:xfrm>
            <a:off x="1066830" y="5138928"/>
            <a:ext cx="10972800" cy="365760"/>
          </a:xfrm>
          <a:prstGeom prst="rect">
            <a:avLst/>
          </a:prstGeom>
          <a:noFill/>
          <a:ln/>
        </p:spPr>
        <p:txBody>
          <a:bodyPr wrap="square" lIns="0" tIns="0" rIns="0" bIns="0" rtlCol="0" anchor="t">
            <a:noAutofit/>
          </a:bodyPr>
          <a:lstStyle/>
          <a:p>
            <a:pPr marL="0" indent="0" algn="l">
              <a:buNone/>
            </a:pPr>
            <a:r>
              <a:rPr lang="en-US" sz="1600" spc="100" dirty="0">
                <a:solidFill>
                  <a:srgbClr val="D02A44"/>
                </a:solidFill>
                <a:latin typeface="Courier New" pitchFamily="34" charset="0"/>
                <a:ea typeface="Courier New" pitchFamily="34" charset="-122"/>
                <a:cs typeface="Courier New" pitchFamily="34" charset="-120"/>
              </a:rPr>
              <a:t>BUILT-IN ROLES IN EVERY KARGO PROJECT</a:t>
            </a:r>
          </a:p>
        </p:txBody>
      </p:sp>
      <p:sp>
        <p:nvSpPr>
          <p:cNvPr id="152" name="Shape 152"/>
          <p:cNvSpPr/>
          <p:nvPr/>
        </p:nvSpPr>
        <p:spPr>
          <a:xfrm>
            <a:off x="1066830" y="5596128"/>
            <a:ext cx="5140970" cy="2697480"/>
          </a:xfrm>
          <a:prstGeom prst="roundRect">
            <a:avLst>
              <a:gd name="adj" fmla="val 6000"/>
            </a:avLst>
          </a:prstGeom>
          <a:solidFill>
            <a:srgbClr val="F8F6F6"/>
          </a:solidFill>
          <a:ln>
            <a:noFill/>
          </a:ln>
        </p:spPr>
        <p:txBody>
          <a:bodyPr/>
          <a:lstStyle/>
          <a:p>
            <a:endParaRPr lang="en-US"/>
          </a:p>
        </p:txBody>
      </p:sp>
      <p:sp>
        <p:nvSpPr>
          <p:cNvPr id="153" name="Text 153"/>
          <p:cNvSpPr txBox="1"/>
          <p:nvPr/>
        </p:nvSpPr>
        <p:spPr>
          <a:xfrm>
            <a:off x="1432590" y="5852160"/>
            <a:ext cx="4409450" cy="457200"/>
          </a:xfrm>
          <a:prstGeom prst="rect">
            <a:avLst/>
          </a:prstGeom>
          <a:noFill/>
          <a:ln/>
        </p:spPr>
        <p:txBody>
          <a:bodyPr wrap="square" lIns="0" tIns="0" rIns="0" bIns="0" rtlCol="0" anchor="t">
            <a:noAutofit/>
          </a:bodyPr>
          <a:lstStyle/>
          <a:p>
            <a:pPr marL="0" indent="0" algn="l">
              <a:buNone/>
            </a:pPr>
            <a:r>
              <a:rPr lang="en-US" sz="2400" b="1" dirty="0">
                <a:solidFill>
                  <a:srgbClr val="2B3035"/>
                </a:solidFill>
                <a:latin typeface="Courier New" pitchFamily="34" charset="0"/>
                <a:ea typeface="Courier New" pitchFamily="34" charset="-122"/>
                <a:cs typeface="Courier New" pitchFamily="34" charset="-120"/>
              </a:rPr>
              <a:t>kargo-admin</a:t>
            </a:r>
          </a:p>
        </p:txBody>
      </p:sp>
      <p:sp>
        <p:nvSpPr>
          <p:cNvPr id="154" name="Text 154"/>
          <p:cNvSpPr txBox="1"/>
          <p:nvPr/>
        </p:nvSpPr>
        <p:spPr>
          <a:xfrm>
            <a:off x="1432590" y="6345936"/>
            <a:ext cx="4409450" cy="320040"/>
          </a:xfrm>
          <a:prstGeom prst="rect">
            <a:avLst/>
          </a:prstGeom>
          <a:noFill/>
          <a:ln/>
        </p:spPr>
        <p:txBody>
          <a:bodyPr wrap="square" lIns="0" tIns="0" rIns="0" bIns="0" rtlCol="0" anchor="t">
            <a:noAutofit/>
          </a:bodyPr>
          <a:lstStyle/>
          <a:p>
            <a:pPr marL="0" indent="0" algn="l">
              <a:buNone/>
            </a:pPr>
            <a:r>
              <a:rPr lang="en-US" sz="1500" spc="60" dirty="0">
                <a:solidFill>
                  <a:srgbClr val="4F555B"/>
                </a:solidFill>
                <a:latin typeface="Courier New" pitchFamily="34" charset="0"/>
                <a:ea typeface="Courier New" pitchFamily="34" charset="-122"/>
                <a:cs typeface="Courier New" pitchFamily="34" charset="-120"/>
              </a:rPr>
              <a:t>PROJECT OWNERS</a:t>
            </a:r>
          </a:p>
        </p:txBody>
      </p:sp>
      <p:sp>
        <p:nvSpPr>
          <p:cNvPr id="155" name="Text 155"/>
          <p:cNvSpPr txBox="1"/>
          <p:nvPr/>
        </p:nvSpPr>
        <p:spPr>
          <a:xfrm>
            <a:off x="1432590" y="6784848"/>
            <a:ext cx="4409450" cy="1280160"/>
          </a:xfrm>
          <a:prstGeom prst="rect">
            <a:avLst/>
          </a:prstGeom>
          <a:noFill/>
          <a:ln/>
        </p:spPr>
        <p:txBody>
          <a:bodyPr wrap="square" lIns="0" tIns="0" rIns="0" bIns="0" rtlCol="0" anchor="t">
            <a:noAutofit/>
          </a:bodyPr>
          <a:lstStyle/>
          <a:p>
            <a:pPr marL="0" indent="0" algn="l">
              <a:lnSpc>
                <a:spcPct val="120000"/>
              </a:lnSpc>
              <a:buNone/>
            </a:pPr>
            <a:r>
              <a:rPr lang="en-US" sz="1900" dirty="0">
                <a:solidFill>
                  <a:srgbClr val="2B3035"/>
                </a:solidFill>
                <a:latin typeface="Arial" pitchFamily="34" charset="0"/>
                <a:ea typeface="Arial" pitchFamily="34" charset="-122"/>
                <a:cs typeface="Arial" pitchFamily="34" charset="-120"/>
              </a:rPr>
              <a:t>Manages everything in the project: Warehouses, Stages, roles and credentials.</a:t>
            </a:r>
          </a:p>
        </p:txBody>
      </p:sp>
      <p:sp>
        <p:nvSpPr>
          <p:cNvPr id="156" name="Shape 156"/>
          <p:cNvSpPr/>
          <p:nvPr/>
        </p:nvSpPr>
        <p:spPr>
          <a:xfrm>
            <a:off x="6573561" y="5596128"/>
            <a:ext cx="5140970" cy="2697480"/>
          </a:xfrm>
          <a:prstGeom prst="roundRect">
            <a:avLst>
              <a:gd name="adj" fmla="val 6000"/>
            </a:avLst>
          </a:prstGeom>
          <a:solidFill>
            <a:srgbClr val="FBE9EC"/>
          </a:solidFill>
          <a:ln>
            <a:noFill/>
          </a:ln>
        </p:spPr>
        <p:txBody>
          <a:bodyPr/>
          <a:lstStyle/>
          <a:p>
            <a:endParaRPr lang="en-US"/>
          </a:p>
        </p:txBody>
      </p:sp>
      <p:sp>
        <p:nvSpPr>
          <p:cNvPr id="157" name="Text 157"/>
          <p:cNvSpPr txBox="1"/>
          <p:nvPr/>
        </p:nvSpPr>
        <p:spPr>
          <a:xfrm>
            <a:off x="6939321" y="5852160"/>
            <a:ext cx="4409450" cy="457200"/>
          </a:xfrm>
          <a:prstGeom prst="rect">
            <a:avLst/>
          </a:prstGeom>
          <a:noFill/>
          <a:ln/>
        </p:spPr>
        <p:txBody>
          <a:bodyPr wrap="square" lIns="0" tIns="0" rIns="0" bIns="0" rtlCol="0" anchor="t">
            <a:noAutofit/>
          </a:bodyPr>
          <a:lstStyle/>
          <a:p>
            <a:pPr marL="0" indent="0" algn="l">
              <a:buNone/>
            </a:pPr>
            <a:r>
              <a:rPr lang="en-US" sz="2400" b="1" dirty="0">
                <a:solidFill>
                  <a:srgbClr val="2B3035"/>
                </a:solidFill>
                <a:latin typeface="Courier New" pitchFamily="34" charset="0"/>
                <a:ea typeface="Courier New" pitchFamily="34" charset="-122"/>
                <a:cs typeface="Courier New" pitchFamily="34" charset="-120"/>
              </a:rPr>
              <a:t>kargo-promoter</a:t>
            </a:r>
          </a:p>
        </p:txBody>
      </p:sp>
      <p:sp>
        <p:nvSpPr>
          <p:cNvPr id="158" name="Text 158"/>
          <p:cNvSpPr txBox="1"/>
          <p:nvPr/>
        </p:nvSpPr>
        <p:spPr>
          <a:xfrm>
            <a:off x="6939321" y="6345936"/>
            <a:ext cx="4409450" cy="320040"/>
          </a:xfrm>
          <a:prstGeom prst="rect">
            <a:avLst/>
          </a:prstGeom>
          <a:noFill/>
          <a:ln/>
        </p:spPr>
        <p:txBody>
          <a:bodyPr wrap="square" lIns="0" tIns="0" rIns="0" bIns="0" rtlCol="0" anchor="t">
            <a:noAutofit/>
          </a:bodyPr>
          <a:lstStyle/>
          <a:p>
            <a:pPr marL="0" indent="0" algn="l">
              <a:buNone/>
            </a:pPr>
            <a:r>
              <a:rPr lang="en-US" sz="1500" spc="60" dirty="0">
                <a:solidFill>
                  <a:srgbClr val="D02A44"/>
                </a:solidFill>
                <a:latin typeface="Courier New" pitchFamily="34" charset="0"/>
                <a:ea typeface="Courier New" pitchFamily="34" charset="-122"/>
                <a:cs typeface="Courier New" pitchFamily="34" charset="-120"/>
              </a:rPr>
              <a:t>RELEASE MANAGERS</a:t>
            </a:r>
          </a:p>
        </p:txBody>
      </p:sp>
      <p:sp>
        <p:nvSpPr>
          <p:cNvPr id="159" name="Text 159"/>
          <p:cNvSpPr txBox="1"/>
          <p:nvPr/>
        </p:nvSpPr>
        <p:spPr>
          <a:xfrm>
            <a:off x="6939321" y="6784848"/>
            <a:ext cx="4409450" cy="1280160"/>
          </a:xfrm>
          <a:prstGeom prst="rect">
            <a:avLst/>
          </a:prstGeom>
          <a:noFill/>
          <a:ln/>
        </p:spPr>
        <p:txBody>
          <a:bodyPr wrap="square" lIns="0" tIns="0" rIns="0" bIns="0" rtlCol="0" anchor="t">
            <a:noAutofit/>
          </a:bodyPr>
          <a:lstStyle/>
          <a:p>
            <a:pPr marL="0" indent="0" algn="l">
              <a:lnSpc>
                <a:spcPct val="120000"/>
              </a:lnSpc>
              <a:buNone/>
            </a:pPr>
            <a:r>
              <a:rPr lang="en-US" sz="1900" dirty="0">
                <a:solidFill>
                  <a:srgbClr val="2B3035"/>
                </a:solidFill>
                <a:latin typeface="Arial" pitchFamily="34" charset="0"/>
                <a:ea typeface="Arial" pitchFamily="34" charset="-122"/>
                <a:cs typeface="Arial" pitchFamily="34" charset="-120"/>
              </a:rPr>
              <a:t>Promotes Stages and creates Promotions. Cannot create, edit or delete the pipeline itself.</a:t>
            </a:r>
          </a:p>
        </p:txBody>
      </p:sp>
      <p:sp>
        <p:nvSpPr>
          <p:cNvPr id="160" name="Shape 160"/>
          <p:cNvSpPr/>
          <p:nvPr/>
        </p:nvSpPr>
        <p:spPr>
          <a:xfrm>
            <a:off x="12080291" y="5596128"/>
            <a:ext cx="5140970" cy="2697480"/>
          </a:xfrm>
          <a:prstGeom prst="roundRect">
            <a:avLst>
              <a:gd name="adj" fmla="val 6000"/>
            </a:avLst>
          </a:prstGeom>
          <a:solidFill>
            <a:srgbClr val="F8F6F6"/>
          </a:solidFill>
          <a:ln>
            <a:noFill/>
          </a:ln>
        </p:spPr>
        <p:txBody>
          <a:bodyPr/>
          <a:lstStyle/>
          <a:p>
            <a:endParaRPr lang="en-US"/>
          </a:p>
        </p:txBody>
      </p:sp>
      <p:sp>
        <p:nvSpPr>
          <p:cNvPr id="161" name="Text 161"/>
          <p:cNvSpPr txBox="1"/>
          <p:nvPr/>
        </p:nvSpPr>
        <p:spPr>
          <a:xfrm>
            <a:off x="12446051" y="5852160"/>
            <a:ext cx="4409450" cy="457200"/>
          </a:xfrm>
          <a:prstGeom prst="rect">
            <a:avLst/>
          </a:prstGeom>
          <a:noFill/>
          <a:ln/>
        </p:spPr>
        <p:txBody>
          <a:bodyPr wrap="square" lIns="0" tIns="0" rIns="0" bIns="0" rtlCol="0" anchor="t">
            <a:noAutofit/>
          </a:bodyPr>
          <a:lstStyle/>
          <a:p>
            <a:pPr marL="0" indent="0" algn="l">
              <a:buNone/>
            </a:pPr>
            <a:r>
              <a:rPr lang="en-US" sz="2400" b="1" dirty="0">
                <a:solidFill>
                  <a:srgbClr val="2B3035"/>
                </a:solidFill>
                <a:latin typeface="Courier New" pitchFamily="34" charset="0"/>
                <a:ea typeface="Courier New" pitchFamily="34" charset="-122"/>
                <a:cs typeface="Courier New" pitchFamily="34" charset="-120"/>
              </a:rPr>
              <a:t>kargo-viewer</a:t>
            </a:r>
          </a:p>
        </p:txBody>
      </p:sp>
      <p:sp>
        <p:nvSpPr>
          <p:cNvPr id="162" name="Text 162"/>
          <p:cNvSpPr txBox="1"/>
          <p:nvPr/>
        </p:nvSpPr>
        <p:spPr>
          <a:xfrm>
            <a:off x="12446051" y="6345936"/>
            <a:ext cx="4409450" cy="320040"/>
          </a:xfrm>
          <a:prstGeom prst="rect">
            <a:avLst/>
          </a:prstGeom>
          <a:noFill/>
          <a:ln/>
        </p:spPr>
        <p:txBody>
          <a:bodyPr wrap="square" lIns="0" tIns="0" rIns="0" bIns="0" rtlCol="0" anchor="t">
            <a:noAutofit/>
          </a:bodyPr>
          <a:lstStyle/>
          <a:p>
            <a:pPr marL="0" indent="0" algn="l">
              <a:buNone/>
            </a:pPr>
            <a:r>
              <a:rPr lang="en-US" sz="1500" spc="60" dirty="0">
                <a:solidFill>
                  <a:srgbClr val="4F555B"/>
                </a:solidFill>
                <a:latin typeface="Courier New" pitchFamily="34" charset="0"/>
                <a:ea typeface="Courier New" pitchFamily="34" charset="-122"/>
                <a:cs typeface="Courier New" pitchFamily="34" charset="-120"/>
              </a:rPr>
              <a:t>EVERYONE ELSE</a:t>
            </a:r>
          </a:p>
        </p:txBody>
      </p:sp>
      <p:sp>
        <p:nvSpPr>
          <p:cNvPr id="163" name="Text 163"/>
          <p:cNvSpPr txBox="1"/>
          <p:nvPr/>
        </p:nvSpPr>
        <p:spPr>
          <a:xfrm>
            <a:off x="12446051" y="6784848"/>
            <a:ext cx="4409450" cy="1280160"/>
          </a:xfrm>
          <a:prstGeom prst="rect">
            <a:avLst/>
          </a:prstGeom>
          <a:noFill/>
          <a:ln/>
        </p:spPr>
        <p:txBody>
          <a:bodyPr wrap="square" lIns="0" tIns="0" rIns="0" bIns="0" rtlCol="0" anchor="t">
            <a:noAutofit/>
          </a:bodyPr>
          <a:lstStyle/>
          <a:p>
            <a:pPr marL="0" indent="0" algn="l">
              <a:lnSpc>
                <a:spcPct val="120000"/>
              </a:lnSpc>
              <a:buNone/>
            </a:pPr>
            <a:r>
              <a:rPr lang="en-US" sz="1900" dirty="0">
                <a:solidFill>
                  <a:srgbClr val="2B3035"/>
                </a:solidFill>
                <a:latin typeface="Arial" pitchFamily="34" charset="0"/>
                <a:ea typeface="Arial" pitchFamily="34" charset="-122"/>
                <a:cs typeface="Arial" pitchFamily="34" charset="-120"/>
              </a:rPr>
              <a:t>Read-only view of the whole project. Sees every Freight, changes nothing.</a:t>
            </a:r>
          </a:p>
        </p:txBody>
      </p:sp>
      <p:sp>
        <p:nvSpPr>
          <p:cNvPr id="164" name="Shape 164"/>
          <p:cNvSpPr/>
          <p:nvPr/>
        </p:nvSpPr>
        <p:spPr>
          <a:xfrm>
            <a:off x="1066830" y="9107424"/>
            <a:ext cx="76170" cy="76170"/>
          </a:xfrm>
          <a:prstGeom prst="ellipse">
            <a:avLst/>
          </a:prstGeom>
          <a:solidFill>
            <a:srgbClr val="EE4D62"/>
          </a:solidFill>
          <a:ln>
            <a:noFill/>
          </a:ln>
        </p:spPr>
        <p:txBody>
          <a:bodyPr/>
          <a:lstStyle/>
          <a:p>
            <a:endParaRPr lang="en-US"/>
          </a:p>
        </p:txBody>
      </p:sp>
      <p:sp>
        <p:nvSpPr>
          <p:cNvPr id="165" name="Text 165"/>
          <p:cNvSpPr txBox="1"/>
          <p:nvPr/>
        </p:nvSpPr>
        <p:spPr>
          <a:xfrm>
            <a:off x="1295430" y="8997696"/>
            <a:ext cx="14173200" cy="365760"/>
          </a:xfrm>
          <a:prstGeom prst="rect">
            <a:avLst/>
          </a:prstGeom>
          <a:noFill/>
          <a:ln/>
        </p:spPr>
        <p:txBody>
          <a:bodyPr wrap="square" lIns="0" tIns="0" rIns="0" bIns="0" rtlCol="0" anchor="t">
            <a:noAutofit/>
          </a:bodyPr>
          <a:lstStyle/>
          <a:p>
            <a:pPr marL="0" indent="0" algn="l">
              <a:buNone/>
            </a:pPr>
            <a:r>
              <a:rPr lang="en-US" sz="2000" dirty="0">
                <a:solidFill>
                  <a:srgbClr val="4F555B"/>
                </a:solidFill>
                <a:latin typeface="Arial" pitchFamily="34" charset="0"/>
                <a:ea typeface="Arial" pitchFamily="34" charset="-122"/>
                <a:cs typeface="Arial" pitchFamily="34" charset="-120"/>
              </a:rPr>
              <a:t>A user mapped to several ServiceAccounts gets the union of their permissions.</a:t>
            </a:r>
          </a:p>
        </p:txBody>
      </p:sp>
      <p:sp>
        <p:nvSpPr>
          <p:cNvPr id="18" name="Shape 16"/>
          <p:cNvSpPr/>
          <p:nvPr/>
        </p:nvSpPr>
        <p:spPr>
          <a:xfrm>
            <a:off x="1066800" y="9439275"/>
            <a:ext cx="16154400" cy="9525"/>
          </a:xfrm>
          <a:prstGeom prst="rect">
            <a:avLst/>
          </a:prstGeom>
          <a:solidFill>
            <a:srgbClr val="E7E7E9"/>
          </a:solidFill>
          <a:ln/>
        </p:spPr>
        <p:txBody>
          <a:bodyPr/>
          <a:lstStyle/>
          <a:p>
            <a:endParaRPr lang="en-US"/>
          </a:p>
        </p:txBody>
      </p:sp>
      <p:sp>
        <p:nvSpPr>
          <p:cNvPr id="19" name="Text 1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0" name="Text 1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1" name="Text 1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11</a:t>
            </a:r>
            <a:endParaRPr lang="en-US" sz="1800" dirty="0"/>
          </a:p>
        </p:txBody>
      </p:sp>
      <p:pic>
        <p:nvPicPr>
          <p:cNvPr id="22" name="Image 0" descr="preencoded.png">
            <a:extLst>
              <a:ext uri="{FF2B5EF4-FFF2-40B4-BE49-F238E27FC236}">
                <a16:creationId xmlns:a16="http://schemas.microsoft.com/office/drawing/2014/main" id="{6B5617A5-D82C-C456-621E-7D6AD0921DE6}"/>
              </a:ext>
            </a:extLst>
          </p:cNvPr>
          <p:cNvPicPr>
            <a:picLocks noChangeAspect="1"/>
          </p:cNvPicPr>
          <p:nvPr/>
        </p:nvPicPr>
        <p:blipFill>
          <a:blip r:embed="rId2"/>
          <a:stretch>
            <a:fillRect/>
          </a:stretch>
        </p:blipFill>
        <p:spPr>
          <a:xfrm>
            <a:off x="15769158" y="366712"/>
            <a:ext cx="1904256" cy="590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12</a:t>
            </a:r>
            <a:endParaRPr lang="en-US" sz="1800" dirty="0"/>
          </a:p>
        </p:txBody>
      </p:sp>
      <p:sp>
        <p:nvSpPr>
          <p:cNvPr id="3" name="Text 1"/>
          <p:cNvSpPr/>
          <p:nvPr/>
        </p:nvSpPr>
        <p:spPr>
          <a:xfrm>
            <a:off x="1566714" y="819151"/>
            <a:ext cx="4144275" cy="283139"/>
          </a:xfrm>
          <a:prstGeom prst="rect">
            <a:avLst/>
          </a:prstGeom>
          <a:noFill/>
          <a:ln/>
        </p:spPr>
        <p:txBody>
          <a:bodyPr wrap="square" lIns="0" tIns="0" rIns="0" bIns="0" rtlCol="0" anchor="t">
            <a:normAutofit fontScale="85000" lnSpcReduction="10000"/>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ACCESS CONTROL IN PRACTICE</a:t>
            </a:r>
            <a:endParaRPr lang="en-US" sz="1800" dirty="0"/>
          </a:p>
        </p:txBody>
      </p:sp>
      <p:sp>
        <p:nvSpPr>
          <p:cNvPr id="4" name="Text 2"/>
          <p:cNvSpPr/>
          <p:nvPr/>
        </p:nvSpPr>
        <p:spPr>
          <a:xfrm>
            <a:off x="1066800" y="1391076"/>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Separate who builds from who ships</a:t>
            </a:r>
            <a:endParaRPr lang="en-US" sz="4950" dirty="0"/>
          </a:p>
        </p:txBody>
      </p:sp>
      <p:sp>
        <p:nvSpPr>
          <p:cNvPr id="166" name="Text 166"/>
          <p:cNvSpPr txBox="1"/>
          <p:nvPr/>
        </p:nvSpPr>
        <p:spPr>
          <a:xfrm>
            <a:off x="1066830" y="2286000"/>
            <a:ext cx="7406640" cy="365760"/>
          </a:xfrm>
          <a:prstGeom prst="rect">
            <a:avLst/>
          </a:prstGeom>
          <a:noFill/>
          <a:ln/>
        </p:spPr>
        <p:txBody>
          <a:bodyPr wrap="square" lIns="0" tIns="0" rIns="0" bIns="0" rtlCol="0" anchor="t">
            <a:noAutofit/>
          </a:bodyPr>
          <a:lstStyle/>
          <a:p>
            <a:pPr marL="0" indent="0" algn="l">
              <a:buNone/>
            </a:pPr>
            <a:r>
              <a:rPr lang="en-US" sz="1600" spc="100" dirty="0">
                <a:solidFill>
                  <a:srgbClr val="D02A44"/>
                </a:solidFill>
                <a:latin typeface="Courier New" pitchFamily="34" charset="0"/>
                <a:ea typeface="Courier New" pitchFamily="34" charset="-122"/>
                <a:cs typeface="Courier New" pitchFamily="34" charset="-120"/>
              </a:rPr>
              <a:t>WHO MAY PROMOTE INTO WHICH STAGE</a:t>
            </a:r>
          </a:p>
        </p:txBody>
      </p:sp>
      <p:sp>
        <p:nvSpPr>
          <p:cNvPr id="167" name="Text 167"/>
          <p:cNvSpPr txBox="1"/>
          <p:nvPr/>
        </p:nvSpPr>
        <p:spPr>
          <a:xfrm>
            <a:off x="4358670" y="2788920"/>
            <a:ext cx="1371600" cy="411480"/>
          </a:xfrm>
          <a:prstGeom prst="rect">
            <a:avLst/>
          </a:prstGeom>
          <a:noFill/>
          <a:ln/>
        </p:spPr>
        <p:txBody>
          <a:bodyPr wrap="square" lIns="0" tIns="0" rIns="0" bIns="0" rtlCol="0" anchor="ctr">
            <a:noAutofit/>
          </a:bodyPr>
          <a:lstStyle/>
          <a:p>
            <a:pPr marL="0" indent="0" algn="ctr">
              <a:buNone/>
            </a:pPr>
            <a:r>
              <a:rPr lang="en-US" sz="1800" b="1" dirty="0">
                <a:solidFill>
                  <a:srgbClr val="4F555B"/>
                </a:solidFill>
                <a:latin typeface="Courier New" pitchFamily="34" charset="0"/>
                <a:ea typeface="Courier New" pitchFamily="34" charset="-122"/>
                <a:cs typeface="Courier New" pitchFamily="34" charset="-120"/>
              </a:rPr>
              <a:t>dev</a:t>
            </a:r>
          </a:p>
        </p:txBody>
      </p:sp>
      <p:sp>
        <p:nvSpPr>
          <p:cNvPr id="168" name="Text 168"/>
          <p:cNvSpPr txBox="1"/>
          <p:nvPr/>
        </p:nvSpPr>
        <p:spPr>
          <a:xfrm>
            <a:off x="5730270" y="2788920"/>
            <a:ext cx="1371600" cy="411480"/>
          </a:xfrm>
          <a:prstGeom prst="rect">
            <a:avLst/>
          </a:prstGeom>
          <a:noFill/>
          <a:ln/>
        </p:spPr>
        <p:txBody>
          <a:bodyPr wrap="square" lIns="0" tIns="0" rIns="0" bIns="0" rtlCol="0" anchor="ctr">
            <a:noAutofit/>
          </a:bodyPr>
          <a:lstStyle/>
          <a:p>
            <a:pPr marL="0" indent="0" algn="ctr">
              <a:buNone/>
            </a:pPr>
            <a:r>
              <a:rPr lang="en-US" sz="1800" b="1" dirty="0">
                <a:solidFill>
                  <a:srgbClr val="4F555B"/>
                </a:solidFill>
                <a:latin typeface="Courier New" pitchFamily="34" charset="0"/>
                <a:ea typeface="Courier New" pitchFamily="34" charset="-122"/>
                <a:cs typeface="Courier New" pitchFamily="34" charset="-120"/>
              </a:rPr>
              <a:t>staging</a:t>
            </a:r>
          </a:p>
        </p:txBody>
      </p:sp>
      <p:sp>
        <p:nvSpPr>
          <p:cNvPr id="169" name="Text 169"/>
          <p:cNvSpPr txBox="1"/>
          <p:nvPr/>
        </p:nvSpPr>
        <p:spPr>
          <a:xfrm>
            <a:off x="7101870" y="2788920"/>
            <a:ext cx="1371600" cy="411480"/>
          </a:xfrm>
          <a:prstGeom prst="rect">
            <a:avLst/>
          </a:prstGeom>
          <a:noFill/>
          <a:ln/>
        </p:spPr>
        <p:txBody>
          <a:bodyPr wrap="square" lIns="0" tIns="0" rIns="0" bIns="0" rtlCol="0" anchor="ctr">
            <a:noAutofit/>
          </a:bodyPr>
          <a:lstStyle/>
          <a:p>
            <a:pPr marL="0" indent="0" algn="ctr">
              <a:buNone/>
            </a:pPr>
            <a:r>
              <a:rPr lang="en-US" sz="1800" b="1" dirty="0">
                <a:solidFill>
                  <a:srgbClr val="4F555B"/>
                </a:solidFill>
                <a:latin typeface="Courier New" pitchFamily="34" charset="0"/>
                <a:ea typeface="Courier New" pitchFamily="34" charset="-122"/>
                <a:cs typeface="Courier New" pitchFamily="34" charset="-120"/>
              </a:rPr>
              <a:t>prod</a:t>
            </a:r>
          </a:p>
        </p:txBody>
      </p:sp>
      <p:sp>
        <p:nvSpPr>
          <p:cNvPr id="170" name="Shape 170"/>
          <p:cNvSpPr/>
          <p:nvPr/>
        </p:nvSpPr>
        <p:spPr>
          <a:xfrm>
            <a:off x="1066830" y="3291840"/>
            <a:ext cx="7406640" cy="1078992"/>
          </a:xfrm>
          <a:prstGeom prst="roundRect">
            <a:avLst>
              <a:gd name="adj" fmla="val 8000"/>
            </a:avLst>
          </a:prstGeom>
          <a:solidFill>
            <a:srgbClr val="F8F6F6"/>
          </a:solidFill>
          <a:ln>
            <a:noFill/>
          </a:ln>
        </p:spPr>
        <p:txBody>
          <a:bodyPr/>
          <a:lstStyle/>
          <a:p>
            <a:endParaRPr lang="en-US"/>
          </a:p>
        </p:txBody>
      </p:sp>
      <p:sp>
        <p:nvSpPr>
          <p:cNvPr id="171" name="Text 171"/>
          <p:cNvSpPr txBox="1"/>
          <p:nvPr/>
        </p:nvSpPr>
        <p:spPr>
          <a:xfrm>
            <a:off x="1341150" y="3474720"/>
            <a:ext cx="3017520" cy="411480"/>
          </a:xfrm>
          <a:prstGeom prst="rect">
            <a:avLst/>
          </a:prstGeom>
          <a:noFill/>
          <a:ln/>
        </p:spPr>
        <p:txBody>
          <a:bodyPr wrap="square" lIns="0" tIns="0" rIns="0" bIns="0" rtlCol="0" anchor="t">
            <a:noAutofit/>
          </a:bodyPr>
          <a:lstStyle/>
          <a:p>
            <a:pPr marL="0" indent="0" algn="l">
              <a:buNone/>
            </a:pPr>
            <a:r>
              <a:rPr lang="en-US" sz="2100" b="1" dirty="0">
                <a:solidFill>
                  <a:srgbClr val="2B3035"/>
                </a:solidFill>
                <a:latin typeface="Arial" pitchFamily="34" charset="0"/>
                <a:ea typeface="Arial" pitchFamily="34" charset="-122"/>
                <a:cs typeface="Arial" pitchFamily="34" charset="-120"/>
              </a:rPr>
              <a:t>Developers</a:t>
            </a:r>
          </a:p>
        </p:txBody>
      </p:sp>
      <p:sp>
        <p:nvSpPr>
          <p:cNvPr id="172" name="Text 172"/>
          <p:cNvSpPr txBox="1"/>
          <p:nvPr/>
        </p:nvSpPr>
        <p:spPr>
          <a:xfrm>
            <a:off x="1341150" y="3895344"/>
            <a:ext cx="3017520" cy="320040"/>
          </a:xfrm>
          <a:prstGeom prst="rect">
            <a:avLst/>
          </a:prstGeom>
          <a:noFill/>
          <a:ln/>
        </p:spPr>
        <p:txBody>
          <a:bodyPr wrap="square" lIns="0" tIns="0" rIns="0" bIns="0" rtlCol="0" anchor="t">
            <a:noAutofit/>
          </a:bodyPr>
          <a:lstStyle/>
          <a:p>
            <a:pPr marL="0" indent="0" algn="l">
              <a:buNone/>
            </a:pPr>
            <a:r>
              <a:rPr lang="en-US" sz="1500" dirty="0">
                <a:solidFill>
                  <a:srgbClr val="4F555B"/>
                </a:solidFill>
                <a:latin typeface="Courier New" pitchFamily="34" charset="0"/>
                <a:ea typeface="Courier New" pitchFamily="34" charset="-122"/>
                <a:cs typeface="Courier New" pitchFamily="34" charset="-120"/>
              </a:rPr>
              <a:t>groups: developers</a:t>
            </a:r>
          </a:p>
        </p:txBody>
      </p:sp>
      <p:sp>
        <p:nvSpPr>
          <p:cNvPr id="173" name="Text 173"/>
          <p:cNvSpPr txBox="1"/>
          <p:nvPr/>
        </p:nvSpPr>
        <p:spPr>
          <a:xfrm>
            <a:off x="4358670" y="3291840"/>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1F8A4C"/>
                </a:solidFill>
                <a:latin typeface="Arial" pitchFamily="34" charset="0"/>
                <a:ea typeface="Arial" pitchFamily="34" charset="-122"/>
                <a:cs typeface="Arial" pitchFamily="34" charset="-120"/>
              </a:rPr>
              <a:t>✓</a:t>
            </a:r>
          </a:p>
        </p:txBody>
      </p:sp>
      <p:sp>
        <p:nvSpPr>
          <p:cNvPr id="174" name="Text 174"/>
          <p:cNvSpPr txBox="1"/>
          <p:nvPr/>
        </p:nvSpPr>
        <p:spPr>
          <a:xfrm>
            <a:off x="5730270" y="3291840"/>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1F8A4C"/>
                </a:solidFill>
                <a:latin typeface="Arial" pitchFamily="34" charset="0"/>
                <a:ea typeface="Arial" pitchFamily="34" charset="-122"/>
                <a:cs typeface="Arial" pitchFamily="34" charset="-120"/>
              </a:rPr>
              <a:t>✓</a:t>
            </a:r>
          </a:p>
        </p:txBody>
      </p:sp>
      <p:sp>
        <p:nvSpPr>
          <p:cNvPr id="175" name="Text 175"/>
          <p:cNvSpPr txBox="1"/>
          <p:nvPr/>
        </p:nvSpPr>
        <p:spPr>
          <a:xfrm>
            <a:off x="7101870" y="3291840"/>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AAB0B6"/>
                </a:solidFill>
                <a:latin typeface="Arial" pitchFamily="34" charset="0"/>
                <a:ea typeface="Arial" pitchFamily="34" charset="-122"/>
                <a:cs typeface="Arial" pitchFamily="34" charset="-120"/>
              </a:rPr>
              <a:t>✗</a:t>
            </a:r>
          </a:p>
        </p:txBody>
      </p:sp>
      <p:sp>
        <p:nvSpPr>
          <p:cNvPr id="176" name="Shape 176"/>
          <p:cNvSpPr/>
          <p:nvPr/>
        </p:nvSpPr>
        <p:spPr>
          <a:xfrm>
            <a:off x="1066830" y="4507992"/>
            <a:ext cx="7406640" cy="1078992"/>
          </a:xfrm>
          <a:prstGeom prst="roundRect">
            <a:avLst>
              <a:gd name="adj" fmla="val 8000"/>
            </a:avLst>
          </a:prstGeom>
          <a:solidFill>
            <a:srgbClr val="FBE9EC"/>
          </a:solidFill>
          <a:ln>
            <a:noFill/>
          </a:ln>
        </p:spPr>
        <p:txBody>
          <a:bodyPr/>
          <a:lstStyle/>
          <a:p>
            <a:endParaRPr lang="en-US"/>
          </a:p>
        </p:txBody>
      </p:sp>
      <p:sp>
        <p:nvSpPr>
          <p:cNvPr id="177" name="Text 177"/>
          <p:cNvSpPr txBox="1"/>
          <p:nvPr/>
        </p:nvSpPr>
        <p:spPr>
          <a:xfrm>
            <a:off x="1341150" y="4690872"/>
            <a:ext cx="3017520" cy="411480"/>
          </a:xfrm>
          <a:prstGeom prst="rect">
            <a:avLst/>
          </a:prstGeom>
          <a:noFill/>
          <a:ln/>
        </p:spPr>
        <p:txBody>
          <a:bodyPr wrap="square" lIns="0" tIns="0" rIns="0" bIns="0" rtlCol="0" anchor="t">
            <a:noAutofit/>
          </a:bodyPr>
          <a:lstStyle/>
          <a:p>
            <a:pPr marL="0" indent="0" algn="l">
              <a:buNone/>
            </a:pPr>
            <a:r>
              <a:rPr lang="en-US" sz="2100" b="1" dirty="0">
                <a:solidFill>
                  <a:srgbClr val="2B3035"/>
                </a:solidFill>
                <a:latin typeface="Arial" pitchFamily="34" charset="0"/>
                <a:ea typeface="Arial" pitchFamily="34" charset="-122"/>
                <a:cs typeface="Arial" pitchFamily="34" charset="-120"/>
              </a:rPr>
              <a:t>Release managers</a:t>
            </a:r>
          </a:p>
        </p:txBody>
      </p:sp>
      <p:sp>
        <p:nvSpPr>
          <p:cNvPr id="178" name="Text 178"/>
          <p:cNvSpPr txBox="1"/>
          <p:nvPr/>
        </p:nvSpPr>
        <p:spPr>
          <a:xfrm>
            <a:off x="1341150" y="5111496"/>
            <a:ext cx="3017520" cy="320040"/>
          </a:xfrm>
          <a:prstGeom prst="rect">
            <a:avLst/>
          </a:prstGeom>
          <a:noFill/>
          <a:ln/>
        </p:spPr>
        <p:txBody>
          <a:bodyPr wrap="square" lIns="0" tIns="0" rIns="0" bIns="0" rtlCol="0" anchor="t">
            <a:noAutofit/>
          </a:bodyPr>
          <a:lstStyle/>
          <a:p>
            <a:pPr marL="0" indent="0" algn="l">
              <a:buNone/>
            </a:pPr>
            <a:r>
              <a:rPr lang="en-US" sz="1500" dirty="0">
                <a:solidFill>
                  <a:srgbClr val="4F555B"/>
                </a:solidFill>
                <a:latin typeface="Courier New" pitchFamily="34" charset="0"/>
                <a:ea typeface="Courier New" pitchFamily="34" charset="-122"/>
                <a:cs typeface="Courier New" pitchFamily="34" charset="-120"/>
              </a:rPr>
              <a:t>groups: release</a:t>
            </a:r>
          </a:p>
        </p:txBody>
      </p:sp>
      <p:sp>
        <p:nvSpPr>
          <p:cNvPr id="179" name="Text 179"/>
          <p:cNvSpPr txBox="1"/>
          <p:nvPr/>
        </p:nvSpPr>
        <p:spPr>
          <a:xfrm>
            <a:off x="4358670" y="4507992"/>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1F8A4C"/>
                </a:solidFill>
                <a:latin typeface="Arial" pitchFamily="34" charset="0"/>
                <a:ea typeface="Arial" pitchFamily="34" charset="-122"/>
                <a:cs typeface="Arial" pitchFamily="34" charset="-120"/>
              </a:rPr>
              <a:t>✓</a:t>
            </a:r>
          </a:p>
        </p:txBody>
      </p:sp>
      <p:sp>
        <p:nvSpPr>
          <p:cNvPr id="180" name="Text 180"/>
          <p:cNvSpPr txBox="1"/>
          <p:nvPr/>
        </p:nvSpPr>
        <p:spPr>
          <a:xfrm>
            <a:off x="5730270" y="4507992"/>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1F8A4C"/>
                </a:solidFill>
                <a:latin typeface="Arial" pitchFamily="34" charset="0"/>
                <a:ea typeface="Arial" pitchFamily="34" charset="-122"/>
                <a:cs typeface="Arial" pitchFamily="34" charset="-120"/>
              </a:rPr>
              <a:t>✓</a:t>
            </a:r>
          </a:p>
        </p:txBody>
      </p:sp>
      <p:sp>
        <p:nvSpPr>
          <p:cNvPr id="181" name="Text 181"/>
          <p:cNvSpPr txBox="1"/>
          <p:nvPr/>
        </p:nvSpPr>
        <p:spPr>
          <a:xfrm>
            <a:off x="7101870" y="4507992"/>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1F8A4C"/>
                </a:solidFill>
                <a:latin typeface="Arial" pitchFamily="34" charset="0"/>
                <a:ea typeface="Arial" pitchFamily="34" charset="-122"/>
                <a:cs typeface="Arial" pitchFamily="34" charset="-120"/>
              </a:rPr>
              <a:t>✓</a:t>
            </a:r>
          </a:p>
        </p:txBody>
      </p:sp>
      <p:sp>
        <p:nvSpPr>
          <p:cNvPr id="182" name="Shape 182"/>
          <p:cNvSpPr/>
          <p:nvPr/>
        </p:nvSpPr>
        <p:spPr>
          <a:xfrm>
            <a:off x="1066830" y="5724144"/>
            <a:ext cx="7406640" cy="1078992"/>
          </a:xfrm>
          <a:prstGeom prst="roundRect">
            <a:avLst>
              <a:gd name="adj" fmla="val 8000"/>
            </a:avLst>
          </a:prstGeom>
          <a:solidFill>
            <a:srgbClr val="F8F6F6"/>
          </a:solidFill>
          <a:ln>
            <a:noFill/>
          </a:ln>
        </p:spPr>
        <p:txBody>
          <a:bodyPr/>
          <a:lstStyle/>
          <a:p>
            <a:endParaRPr lang="en-US"/>
          </a:p>
        </p:txBody>
      </p:sp>
      <p:sp>
        <p:nvSpPr>
          <p:cNvPr id="183" name="Text 183"/>
          <p:cNvSpPr txBox="1"/>
          <p:nvPr/>
        </p:nvSpPr>
        <p:spPr>
          <a:xfrm>
            <a:off x="1341150" y="5907024"/>
            <a:ext cx="3017520" cy="411480"/>
          </a:xfrm>
          <a:prstGeom prst="rect">
            <a:avLst/>
          </a:prstGeom>
          <a:noFill/>
          <a:ln/>
        </p:spPr>
        <p:txBody>
          <a:bodyPr wrap="square" lIns="0" tIns="0" rIns="0" bIns="0" rtlCol="0" anchor="t">
            <a:noAutofit/>
          </a:bodyPr>
          <a:lstStyle/>
          <a:p>
            <a:pPr marL="0" indent="0" algn="l">
              <a:buNone/>
            </a:pPr>
            <a:r>
              <a:rPr lang="en-US" sz="2100" b="1" dirty="0">
                <a:solidFill>
                  <a:srgbClr val="2B3035"/>
                </a:solidFill>
                <a:latin typeface="Arial" pitchFamily="34" charset="0"/>
                <a:ea typeface="Arial" pitchFamily="34" charset="-122"/>
                <a:cs typeface="Arial" pitchFamily="34" charset="-120"/>
              </a:rPr>
              <a:t>Auditors, everyone</a:t>
            </a:r>
          </a:p>
        </p:txBody>
      </p:sp>
      <p:sp>
        <p:nvSpPr>
          <p:cNvPr id="184" name="Text 184"/>
          <p:cNvSpPr txBox="1"/>
          <p:nvPr/>
        </p:nvSpPr>
        <p:spPr>
          <a:xfrm>
            <a:off x="1341150" y="6327648"/>
            <a:ext cx="3017520" cy="320040"/>
          </a:xfrm>
          <a:prstGeom prst="rect">
            <a:avLst/>
          </a:prstGeom>
          <a:noFill/>
          <a:ln/>
        </p:spPr>
        <p:txBody>
          <a:bodyPr wrap="square" lIns="0" tIns="0" rIns="0" bIns="0" rtlCol="0" anchor="t">
            <a:noAutofit/>
          </a:bodyPr>
          <a:lstStyle/>
          <a:p>
            <a:pPr marL="0" indent="0" algn="l">
              <a:buNone/>
            </a:pPr>
            <a:r>
              <a:rPr lang="en-US" sz="1500" dirty="0">
                <a:solidFill>
                  <a:srgbClr val="4F555B"/>
                </a:solidFill>
                <a:latin typeface="Courier New" pitchFamily="34" charset="0"/>
                <a:ea typeface="Courier New" pitchFamily="34" charset="-122"/>
                <a:cs typeface="Courier New" pitchFamily="34" charset="-120"/>
              </a:rPr>
              <a:t>kargo-viewer</a:t>
            </a:r>
          </a:p>
        </p:txBody>
      </p:sp>
      <p:sp>
        <p:nvSpPr>
          <p:cNvPr id="185" name="Text 185"/>
          <p:cNvSpPr txBox="1"/>
          <p:nvPr/>
        </p:nvSpPr>
        <p:spPr>
          <a:xfrm>
            <a:off x="4358670" y="5724144"/>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AAB0B6"/>
                </a:solidFill>
                <a:latin typeface="Arial" pitchFamily="34" charset="0"/>
                <a:ea typeface="Arial" pitchFamily="34" charset="-122"/>
                <a:cs typeface="Arial" pitchFamily="34" charset="-120"/>
              </a:rPr>
              <a:t>✗</a:t>
            </a:r>
          </a:p>
        </p:txBody>
      </p:sp>
      <p:sp>
        <p:nvSpPr>
          <p:cNvPr id="186" name="Text 186"/>
          <p:cNvSpPr txBox="1"/>
          <p:nvPr/>
        </p:nvSpPr>
        <p:spPr>
          <a:xfrm>
            <a:off x="5730270" y="5724144"/>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AAB0B6"/>
                </a:solidFill>
                <a:latin typeface="Arial" pitchFamily="34" charset="0"/>
                <a:ea typeface="Arial" pitchFamily="34" charset="-122"/>
                <a:cs typeface="Arial" pitchFamily="34" charset="-120"/>
              </a:rPr>
              <a:t>✗</a:t>
            </a:r>
          </a:p>
        </p:txBody>
      </p:sp>
      <p:sp>
        <p:nvSpPr>
          <p:cNvPr id="187" name="Text 187"/>
          <p:cNvSpPr txBox="1"/>
          <p:nvPr/>
        </p:nvSpPr>
        <p:spPr>
          <a:xfrm>
            <a:off x="7101870" y="5724144"/>
            <a:ext cx="1371600" cy="1078992"/>
          </a:xfrm>
          <a:prstGeom prst="rect">
            <a:avLst/>
          </a:prstGeom>
          <a:noFill/>
          <a:ln/>
        </p:spPr>
        <p:txBody>
          <a:bodyPr wrap="square" lIns="0" tIns="0" rIns="0" bIns="0" rtlCol="0" anchor="ctr">
            <a:noAutofit/>
          </a:bodyPr>
          <a:lstStyle/>
          <a:p>
            <a:pPr marL="0" indent="0" algn="ctr">
              <a:buNone/>
            </a:pPr>
            <a:r>
              <a:rPr lang="en-US" sz="3000" b="1" dirty="0">
                <a:solidFill>
                  <a:srgbClr val="AAB0B6"/>
                </a:solidFill>
                <a:latin typeface="Arial" pitchFamily="34" charset="0"/>
                <a:ea typeface="Arial" pitchFamily="34" charset="-122"/>
                <a:cs typeface="Arial" pitchFamily="34" charset="-120"/>
              </a:rPr>
              <a:t>✗</a:t>
            </a:r>
          </a:p>
        </p:txBody>
      </p:sp>
      <p:sp>
        <p:nvSpPr>
          <p:cNvPr id="188" name="Shape 188"/>
          <p:cNvSpPr/>
          <p:nvPr/>
        </p:nvSpPr>
        <p:spPr>
          <a:xfrm>
            <a:off x="1066830" y="7242048"/>
            <a:ext cx="76170" cy="76170"/>
          </a:xfrm>
          <a:prstGeom prst="ellipse">
            <a:avLst/>
          </a:prstGeom>
          <a:solidFill>
            <a:srgbClr val="EE4D62"/>
          </a:solidFill>
          <a:ln>
            <a:noFill/>
          </a:ln>
        </p:spPr>
        <p:txBody>
          <a:bodyPr/>
          <a:lstStyle/>
          <a:p>
            <a:endParaRPr lang="en-US"/>
          </a:p>
        </p:txBody>
      </p:sp>
      <p:sp>
        <p:nvSpPr>
          <p:cNvPr id="189" name="Text 189"/>
          <p:cNvSpPr txBox="1"/>
          <p:nvPr/>
        </p:nvSpPr>
        <p:spPr>
          <a:xfrm>
            <a:off x="1295430" y="7123176"/>
            <a:ext cx="7178040" cy="411480"/>
          </a:xfrm>
          <a:prstGeom prst="rect">
            <a:avLst/>
          </a:prstGeom>
          <a:noFill/>
          <a:ln/>
        </p:spPr>
        <p:txBody>
          <a:bodyPr wrap="square" lIns="0" tIns="0" rIns="0" bIns="0" rtlCol="0" anchor="t">
            <a:noAutofit/>
          </a:bodyPr>
          <a:lstStyle/>
          <a:p>
            <a:pPr marL="0" indent="0" algn="l">
              <a:buNone/>
            </a:pPr>
            <a:r>
              <a:rPr lang="en-US" sz="1800" dirty="0">
                <a:solidFill>
                  <a:srgbClr val="4F555B"/>
                </a:solidFill>
                <a:latin typeface="Arial" pitchFamily="34" charset="0"/>
                <a:ea typeface="Arial" pitchFamily="34" charset="-122"/>
                <a:cs typeface="Arial" pitchFamily="34" charset="-120"/>
              </a:rPr>
              <a:t>Auto-promotion still runs: the controller promotes, not the user.</a:t>
            </a:r>
          </a:p>
        </p:txBody>
      </p:sp>
      <p:sp>
        <p:nvSpPr>
          <p:cNvPr id="190" name="Shape 190"/>
          <p:cNvSpPr/>
          <p:nvPr/>
        </p:nvSpPr>
        <p:spPr>
          <a:xfrm>
            <a:off x="1066830" y="7699248"/>
            <a:ext cx="76170" cy="76170"/>
          </a:xfrm>
          <a:prstGeom prst="ellipse">
            <a:avLst/>
          </a:prstGeom>
          <a:solidFill>
            <a:srgbClr val="EE4D62"/>
          </a:solidFill>
          <a:ln>
            <a:noFill/>
          </a:ln>
        </p:spPr>
        <p:txBody>
          <a:bodyPr/>
          <a:lstStyle/>
          <a:p>
            <a:endParaRPr lang="en-US"/>
          </a:p>
        </p:txBody>
      </p:sp>
      <p:sp>
        <p:nvSpPr>
          <p:cNvPr id="191" name="Text 191"/>
          <p:cNvSpPr txBox="1"/>
          <p:nvPr/>
        </p:nvSpPr>
        <p:spPr>
          <a:xfrm>
            <a:off x="1295430" y="7580376"/>
            <a:ext cx="7178040" cy="411480"/>
          </a:xfrm>
          <a:prstGeom prst="rect">
            <a:avLst/>
          </a:prstGeom>
          <a:noFill/>
          <a:ln/>
        </p:spPr>
        <p:txBody>
          <a:bodyPr wrap="square" lIns="0" tIns="0" rIns="0" bIns="0" rtlCol="0" anchor="t">
            <a:noAutofit/>
          </a:bodyPr>
          <a:lstStyle/>
          <a:p>
            <a:pPr marL="0" indent="0" algn="l">
              <a:buNone/>
            </a:pPr>
            <a:r>
              <a:rPr lang="en-US" sz="1800" dirty="0">
                <a:solidFill>
                  <a:srgbClr val="4F555B"/>
                </a:solidFill>
                <a:latin typeface="Arial" pitchFamily="34" charset="0"/>
                <a:ea typeface="Arial" pitchFamily="34" charset="-122"/>
                <a:cs typeface="Arial" pitchFamily="34" charset="-120"/>
              </a:rPr>
              <a:t>Approving Freight for </a:t>
            </a:r>
            <a:r>
              <a:rPr lang="en-US" sz="1700" b="1" dirty="0">
                <a:solidFill>
                  <a:srgbClr val="2B3035"/>
                </a:solidFill>
                <a:latin typeface="Courier New" pitchFamily="34" charset="0"/>
                <a:ea typeface="Courier New" pitchFamily="34" charset="-122"/>
                <a:cs typeface="Courier New" pitchFamily="34" charset="-120"/>
              </a:rPr>
              <a:t>prod</a:t>
            </a:r>
            <a:r>
              <a:rPr lang="en-US" sz="1800" dirty="0">
                <a:solidFill>
                  <a:srgbClr val="4F555B"/>
                </a:solidFill>
                <a:latin typeface="Arial" pitchFamily="34" charset="0"/>
                <a:ea typeface="Arial" pitchFamily="34" charset="-122"/>
                <a:cs typeface="Arial" pitchFamily="34" charset="-120"/>
              </a:rPr>
              <a:t> is a permission, not a Slack message.</a:t>
            </a:r>
          </a:p>
        </p:txBody>
      </p:sp>
      <p:sp>
        <p:nvSpPr>
          <p:cNvPr id="192" name="Shape 192"/>
          <p:cNvSpPr/>
          <p:nvPr/>
        </p:nvSpPr>
        <p:spPr>
          <a:xfrm>
            <a:off x="9052560" y="2286000"/>
            <a:ext cx="8168701" cy="5440680"/>
          </a:xfrm>
          <a:prstGeom prst="roundRect">
            <a:avLst>
              <a:gd name="adj" fmla="val 3500"/>
            </a:avLst>
          </a:prstGeom>
          <a:solidFill>
            <a:srgbClr val="2B3035"/>
          </a:solidFill>
          <a:ln>
            <a:noFill/>
          </a:ln>
        </p:spPr>
        <p:txBody>
          <a:bodyPr/>
          <a:lstStyle/>
          <a:p>
            <a:endParaRPr lang="en-US"/>
          </a:p>
        </p:txBody>
      </p:sp>
      <p:sp>
        <p:nvSpPr>
          <p:cNvPr id="193" name="Text 193"/>
          <p:cNvSpPr txBox="1"/>
          <p:nvPr/>
        </p:nvSpPr>
        <p:spPr>
          <a:xfrm>
            <a:off x="9418320" y="2468880"/>
            <a:ext cx="7437181" cy="320040"/>
          </a:xfrm>
          <a:prstGeom prst="rect">
            <a:avLst/>
          </a:prstGeom>
          <a:noFill/>
          <a:ln/>
        </p:spPr>
        <p:txBody>
          <a:bodyPr wrap="square" lIns="0" tIns="0" rIns="0" bIns="0" rtlCol="0" anchor="t">
            <a:noAutofit/>
          </a:bodyPr>
          <a:lstStyle/>
          <a:p>
            <a:pPr marL="0" indent="0" algn="l">
              <a:buNone/>
            </a:pPr>
            <a:r>
              <a:rPr lang="en-US" sz="1500" dirty="0">
                <a:solidFill>
                  <a:srgbClr val="969BA1"/>
                </a:solidFill>
                <a:latin typeface="Courier New" pitchFamily="34" charset="0"/>
                <a:ea typeface="Courier New" pitchFamily="34" charset="-122"/>
                <a:cs typeface="Courier New" pitchFamily="34" charset="-120"/>
              </a:rPr>
              <a:t>developers-promoter.yaml</a:t>
            </a:r>
          </a:p>
        </p:txBody>
      </p:sp>
      <p:sp>
        <p:nvSpPr>
          <p:cNvPr id="194" name="Text 194"/>
          <p:cNvSpPr txBox="1"/>
          <p:nvPr/>
        </p:nvSpPr>
        <p:spPr>
          <a:xfrm>
            <a:off x="9418320" y="2880360"/>
            <a:ext cx="7437181" cy="5303520"/>
          </a:xfrm>
          <a:prstGeom prst="rect">
            <a:avLst/>
          </a:prstGeom>
          <a:noFill/>
          <a:ln/>
        </p:spPr>
        <p:txBody>
          <a:bodyPr wrap="square" lIns="0" tIns="0" rIns="0" bIns="0" rtlCol="0" anchor="t">
            <a:noAutofit/>
          </a:bodyPr>
          <a:lstStyle/>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kind</a:t>
            </a:r>
            <a:r>
              <a:rPr lang="en-US" sz="1450" dirty="0">
                <a:solidFill>
                  <a:srgbClr val="FFFFFF"/>
                </a:solidFill>
                <a:latin typeface="Courier New" pitchFamily="34" charset="0"/>
                <a:ea typeface="Courier New" pitchFamily="34" charset="-122"/>
                <a:cs typeface="Courier New" pitchFamily="34" charset="-120"/>
              </a:rPr>
              <a:t>: ServiceAccount</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metadata</a:t>
            </a:r>
            <a:r>
              <a:rPr lang="en-US" sz="1450" dirty="0">
                <a:solidFill>
                  <a:srgbClr val="FFFFFF"/>
                </a:solidFill>
                <a:latin typeface="Courier New" pitchFamily="34" charset="0"/>
                <a:ea typeface="Courier New" pitchFamily="34" charset="-122"/>
                <a:cs typeface="Courier New" pitchFamily="34" charset="-120"/>
              </a:rPr>
              <a:t>:</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name</a:t>
            </a:r>
            <a:r>
              <a:rPr lang="en-US" sz="1450" dirty="0">
                <a:solidFill>
                  <a:srgbClr val="FFFFFF"/>
                </a:solidFill>
                <a:latin typeface="Courier New" pitchFamily="34" charset="0"/>
                <a:ea typeface="Courier New" pitchFamily="34" charset="-122"/>
                <a:cs typeface="Courier New" pitchFamily="34" charset="-120"/>
              </a:rPr>
              <a:t>: dev-promoter</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annotations</a:t>
            </a:r>
            <a:r>
              <a:rPr lang="en-US" sz="1450" dirty="0">
                <a:solidFill>
                  <a:srgbClr val="FFFFFF"/>
                </a:solidFill>
                <a:latin typeface="Courier New" pitchFamily="34" charset="0"/>
                <a:ea typeface="Courier New" pitchFamily="34" charset="-122"/>
                <a:cs typeface="Courier New" pitchFamily="34" charset="-120"/>
              </a:rPr>
              <a:t>:</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rbac.kargo.akuity.io/claims</a:t>
            </a:r>
            <a:r>
              <a:rPr lang="en-US" sz="1450" dirty="0">
                <a:solidFill>
                  <a:srgbClr val="FFFFFF"/>
                </a:solidFill>
                <a:latin typeface="Courier New" pitchFamily="34" charset="0"/>
                <a:ea typeface="Courier New" pitchFamily="34" charset="-122"/>
                <a:cs typeface="Courier New" pitchFamily="34" charset="-120"/>
              </a:rPr>
              <a:t>: '{"groups":["developers"]}'</a:t>
            </a:r>
          </a:p>
          <a:p>
            <a:pPr marL="0" indent="0" algn="l">
              <a:lnSpc>
                <a:spcPct val="100000"/>
              </a:lnSpc>
              <a:spcAft>
                <a:spcPts val="200"/>
              </a:spcAft>
              <a:buNone/>
            </a:pPr>
            <a:r>
              <a:rPr lang="en-US" sz="1450" dirty="0">
                <a:solidFill>
                  <a:srgbClr val="8A9097"/>
                </a:solidFill>
                <a:latin typeface="Courier New" pitchFamily="34" charset="0"/>
                <a:ea typeface="Courier New" pitchFamily="34" charset="-122"/>
                <a:cs typeface="Courier New" pitchFamily="34" charset="-120"/>
              </a:rPr>
              <a:t>---</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kind</a:t>
            </a:r>
            <a:r>
              <a:rPr lang="en-US" sz="1450" dirty="0">
                <a:solidFill>
                  <a:srgbClr val="FFFFFF"/>
                </a:solidFill>
                <a:latin typeface="Courier New" pitchFamily="34" charset="0"/>
                <a:ea typeface="Courier New" pitchFamily="34" charset="-122"/>
                <a:cs typeface="Courier New" pitchFamily="34" charset="-120"/>
              </a:rPr>
              <a:t>: Role</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metadata</a:t>
            </a:r>
            <a:r>
              <a:rPr lang="en-US" sz="1450" dirty="0">
                <a:solidFill>
                  <a:srgbClr val="FFFFFF"/>
                </a:solidFill>
                <a:latin typeface="Courier New" pitchFamily="34" charset="0"/>
                <a:ea typeface="Courier New" pitchFamily="34" charset="-122"/>
                <a:cs typeface="Courier New" pitchFamily="34" charset="-120"/>
              </a:rPr>
              <a:t>:</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name</a:t>
            </a:r>
            <a:r>
              <a:rPr lang="en-US" sz="1450" dirty="0">
                <a:solidFill>
                  <a:srgbClr val="FFFFFF"/>
                </a:solidFill>
                <a:latin typeface="Courier New" pitchFamily="34" charset="0"/>
                <a:ea typeface="Courier New" pitchFamily="34" charset="-122"/>
                <a:cs typeface="Courier New" pitchFamily="34" charset="-120"/>
              </a:rPr>
              <a:t>: dev-promoter</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rules</a:t>
            </a:r>
            <a:r>
              <a:rPr lang="en-US" sz="1450" dirty="0">
                <a:solidFill>
                  <a:srgbClr val="FFFFFF"/>
                </a:solidFill>
                <a:latin typeface="Courier New" pitchFamily="34" charset="0"/>
                <a:ea typeface="Courier New" pitchFamily="34" charset="-122"/>
                <a:cs typeface="Courier New" pitchFamily="34" charset="-120"/>
              </a:rPr>
              <a:t>:</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apiGroups</a:t>
            </a:r>
            <a:r>
              <a:rPr lang="en-US" sz="1450" dirty="0">
                <a:solidFill>
                  <a:srgbClr val="FFFFFF"/>
                </a:solidFill>
                <a:latin typeface="Courier New" pitchFamily="34" charset="0"/>
                <a:ea typeface="Courier New" pitchFamily="34" charset="-122"/>
                <a:cs typeface="Courier New" pitchFamily="34" charset="-120"/>
              </a:rPr>
              <a:t>: [kargo.akuity.io]</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resources</a:t>
            </a:r>
            <a:r>
              <a:rPr lang="en-US" sz="1450" dirty="0">
                <a:solidFill>
                  <a:srgbClr val="FFFFFF"/>
                </a:solidFill>
                <a:latin typeface="Courier New" pitchFamily="34" charset="0"/>
                <a:ea typeface="Courier New" pitchFamily="34" charset="-122"/>
                <a:cs typeface="Courier New" pitchFamily="34" charset="-120"/>
              </a:rPr>
              <a:t>: [promotions]</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verbs</a:t>
            </a:r>
            <a:r>
              <a:rPr lang="en-US" sz="1450" dirty="0">
                <a:solidFill>
                  <a:srgbClr val="FFFFFF"/>
                </a:solidFill>
                <a:latin typeface="Courier New" pitchFamily="34" charset="0"/>
                <a:ea typeface="Courier New" pitchFamily="34" charset="-122"/>
                <a:cs typeface="Courier New" pitchFamily="34" charset="-120"/>
              </a:rPr>
              <a:t>: [create]</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apiGroups</a:t>
            </a:r>
            <a:r>
              <a:rPr lang="en-US" sz="1450" dirty="0">
                <a:solidFill>
                  <a:srgbClr val="FFFFFF"/>
                </a:solidFill>
                <a:latin typeface="Courier New" pitchFamily="34" charset="0"/>
                <a:ea typeface="Courier New" pitchFamily="34" charset="-122"/>
                <a:cs typeface="Courier New" pitchFamily="34" charset="-120"/>
              </a:rPr>
              <a:t>: [kargo.akuity.io]</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resources</a:t>
            </a:r>
            <a:r>
              <a:rPr lang="en-US" sz="1450" dirty="0">
                <a:solidFill>
                  <a:srgbClr val="FFFFFF"/>
                </a:solidFill>
                <a:latin typeface="Courier New" pitchFamily="34" charset="0"/>
                <a:ea typeface="Courier New" pitchFamily="34" charset="-122"/>
                <a:cs typeface="Courier New" pitchFamily="34" charset="-120"/>
              </a:rPr>
              <a:t>: [stages]</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verbs</a:t>
            </a:r>
            <a:r>
              <a:rPr lang="en-US" sz="1450" dirty="0">
                <a:solidFill>
                  <a:srgbClr val="FFFFFF"/>
                </a:solidFill>
                <a:latin typeface="Courier New" pitchFamily="34" charset="0"/>
                <a:ea typeface="Courier New" pitchFamily="34" charset="-122"/>
                <a:cs typeface="Courier New" pitchFamily="34" charset="-120"/>
              </a:rPr>
              <a:t>: [</a:t>
            </a:r>
            <a:r>
              <a:rPr lang="en-US" sz="1450" b="1" dirty="0">
                <a:solidFill>
                  <a:srgbClr val="EE4D62"/>
                </a:solidFill>
                <a:latin typeface="Courier New" pitchFamily="34" charset="0"/>
                <a:ea typeface="Courier New" pitchFamily="34" charset="-122"/>
                <a:cs typeface="Courier New" pitchFamily="34" charset="-120"/>
              </a:rPr>
              <a:t>promote</a:t>
            </a:r>
            <a:r>
              <a:rPr lang="en-US" sz="1450" dirty="0">
                <a:solidFill>
                  <a:srgbClr val="FFFFFF"/>
                </a:solidFill>
                <a:latin typeface="Courier New" pitchFamily="34" charset="0"/>
                <a:ea typeface="Courier New" pitchFamily="34" charset="-122"/>
                <a:cs typeface="Courier New" pitchFamily="34" charset="-120"/>
              </a:rPr>
              <a:t>]</a:t>
            </a:r>
          </a:p>
          <a:p>
            <a:pPr marL="0" indent="0" algn="l">
              <a:lnSpc>
                <a:spcPct val="100000"/>
              </a:lnSpc>
              <a:spcAft>
                <a:spcPts val="200"/>
              </a:spcAft>
              <a:buNone/>
            </a:pPr>
            <a:r>
              <a:rPr lang="en-US" sz="1450" dirty="0">
                <a:solidFill>
                  <a:srgbClr val="F3B5BF"/>
                </a:solidFill>
                <a:latin typeface="Courier New" pitchFamily="34" charset="0"/>
                <a:ea typeface="Courier New" pitchFamily="34" charset="-122"/>
                <a:cs typeface="Courier New" pitchFamily="34" charset="-120"/>
              </a:rPr>
              <a:t>  resourceNames</a:t>
            </a:r>
            <a:r>
              <a:rPr lang="en-US" sz="1450" dirty="0">
                <a:solidFill>
                  <a:srgbClr val="FFFFFF"/>
                </a:solidFill>
                <a:latin typeface="Courier New" pitchFamily="34" charset="0"/>
                <a:ea typeface="Courier New" pitchFamily="34" charset="-122"/>
                <a:cs typeface="Courier New" pitchFamily="34" charset="-120"/>
              </a:rPr>
              <a:t>: [</a:t>
            </a:r>
            <a:r>
              <a:rPr lang="en-US" sz="1450" b="1" dirty="0">
                <a:solidFill>
                  <a:srgbClr val="EE4D62"/>
                </a:solidFill>
                <a:latin typeface="Courier New" pitchFamily="34" charset="0"/>
                <a:ea typeface="Courier New" pitchFamily="34" charset="-122"/>
                <a:cs typeface="Courier New" pitchFamily="34" charset="-120"/>
              </a:rPr>
              <a:t>dev, staging</a:t>
            </a:r>
            <a:r>
              <a:rPr lang="en-US" sz="1450" dirty="0">
                <a:solidFill>
                  <a:srgbClr val="FFFFFF"/>
                </a:solidFill>
                <a:latin typeface="Courier New" pitchFamily="34" charset="0"/>
                <a:ea typeface="Courier New" pitchFamily="34" charset="-122"/>
                <a:cs typeface="Courier New" pitchFamily="34" charset="-120"/>
              </a:rPr>
              <a:t>]</a:t>
            </a:r>
            <a:r>
              <a:rPr lang="en-US" sz="1450" dirty="0">
                <a:solidFill>
                  <a:srgbClr val="8A9097"/>
                </a:solidFill>
                <a:latin typeface="Courier New" pitchFamily="34" charset="0"/>
                <a:ea typeface="Courier New" pitchFamily="34" charset="-122"/>
                <a:cs typeface="Courier New" pitchFamily="34" charset="-120"/>
              </a:rPr>
              <a:t>   # no prod</a:t>
            </a:r>
          </a:p>
          <a:p>
            <a:pPr marL="0" indent="0" algn="l">
              <a:lnSpc>
                <a:spcPct val="100000"/>
              </a:lnSpc>
              <a:spcAft>
                <a:spcPts val="200"/>
              </a:spcAft>
              <a:buNone/>
            </a:pPr>
            <a:r>
              <a:rPr lang="en-US" sz="1450" dirty="0">
                <a:solidFill>
                  <a:srgbClr val="8A9097"/>
                </a:solidFill>
                <a:latin typeface="Courier New" pitchFamily="34" charset="0"/>
                <a:ea typeface="Courier New" pitchFamily="34" charset="-122"/>
                <a:cs typeface="Courier New" pitchFamily="34" charset="-120"/>
              </a:rPr>
              <a:t>---</a:t>
            </a:r>
          </a:p>
          <a:p>
            <a:pPr marL="0" indent="0" algn="l">
              <a:lnSpc>
                <a:spcPct val="100000"/>
              </a:lnSpc>
              <a:spcAft>
                <a:spcPts val="200"/>
              </a:spcAft>
              <a:buNone/>
            </a:pPr>
            <a:r>
              <a:rPr lang="en-US" sz="1450" dirty="0">
                <a:solidFill>
                  <a:srgbClr val="8A9097"/>
                </a:solidFill>
                <a:latin typeface="Courier New" pitchFamily="34" charset="0"/>
                <a:ea typeface="Courier New" pitchFamily="34" charset="-122"/>
                <a:cs typeface="Courier New" pitchFamily="34" charset="-120"/>
              </a:rPr>
              <a:t># + RoleBinding → dev-promoter (and kargo-viewer)</a:t>
            </a:r>
          </a:p>
        </p:txBody>
      </p:sp>
      <p:sp>
        <p:nvSpPr>
          <p:cNvPr id="195" name="Shape 195"/>
          <p:cNvSpPr/>
          <p:nvPr/>
        </p:nvSpPr>
        <p:spPr>
          <a:xfrm>
            <a:off x="1066830" y="9107424"/>
            <a:ext cx="76170" cy="76170"/>
          </a:xfrm>
          <a:prstGeom prst="ellipse">
            <a:avLst/>
          </a:prstGeom>
          <a:solidFill>
            <a:srgbClr val="EE4D62"/>
          </a:solidFill>
          <a:ln>
            <a:noFill/>
          </a:ln>
        </p:spPr>
        <p:txBody>
          <a:bodyPr/>
          <a:lstStyle/>
          <a:p>
            <a:endParaRPr lang="en-US"/>
          </a:p>
        </p:txBody>
      </p:sp>
      <p:sp>
        <p:nvSpPr>
          <p:cNvPr id="196" name="Text 196"/>
          <p:cNvSpPr txBox="1"/>
          <p:nvPr/>
        </p:nvSpPr>
        <p:spPr>
          <a:xfrm>
            <a:off x="1295430" y="8997696"/>
            <a:ext cx="14173200" cy="365760"/>
          </a:xfrm>
          <a:prstGeom prst="rect">
            <a:avLst/>
          </a:prstGeom>
          <a:noFill/>
          <a:ln/>
        </p:spPr>
        <p:txBody>
          <a:bodyPr wrap="square" lIns="0" tIns="0" rIns="0" bIns="0" rtlCol="0" anchor="t">
            <a:noAutofit/>
          </a:bodyPr>
          <a:lstStyle/>
          <a:p>
            <a:pPr marL="0" indent="0" algn="l">
              <a:buNone/>
            </a:pPr>
            <a:r>
              <a:rPr lang="en-US" sz="2000" dirty="0">
                <a:solidFill>
                  <a:srgbClr val="4F555B"/>
                </a:solidFill>
                <a:latin typeface="Arial" pitchFamily="34" charset="0"/>
                <a:ea typeface="Arial" pitchFamily="34" charset="-122"/>
                <a:cs typeface="Arial" pitchFamily="34" charset="-120"/>
              </a:rPr>
              <a:t>GitOps your RBAC: Roles and RoleBindings live in Git, right next to your Stages.</a:t>
            </a:r>
          </a:p>
        </p:txBody>
      </p:sp>
      <p:sp>
        <p:nvSpPr>
          <p:cNvPr id="18" name="Shape 16"/>
          <p:cNvSpPr/>
          <p:nvPr/>
        </p:nvSpPr>
        <p:spPr>
          <a:xfrm>
            <a:off x="1066800" y="9439275"/>
            <a:ext cx="16154400" cy="9525"/>
          </a:xfrm>
          <a:prstGeom prst="rect">
            <a:avLst/>
          </a:prstGeom>
          <a:solidFill>
            <a:srgbClr val="E7E7E9"/>
          </a:solidFill>
          <a:ln/>
        </p:spPr>
        <p:txBody>
          <a:bodyPr/>
          <a:lstStyle/>
          <a:p>
            <a:endParaRPr lang="en-US"/>
          </a:p>
        </p:txBody>
      </p:sp>
      <p:sp>
        <p:nvSpPr>
          <p:cNvPr id="19" name="Text 1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0" name="Text 1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1" name="Text 1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12</a:t>
            </a:r>
            <a:endParaRPr lang="en-US" sz="1800" dirty="0"/>
          </a:p>
        </p:txBody>
      </p:sp>
      <p:pic>
        <p:nvPicPr>
          <p:cNvPr id="22" name="Image 0" descr="preencoded.png">
            <a:extLst>
              <a:ext uri="{FF2B5EF4-FFF2-40B4-BE49-F238E27FC236}">
                <a16:creationId xmlns:a16="http://schemas.microsoft.com/office/drawing/2014/main" id="{6B5617A5-D82C-C456-621E-7D6AD0921DE6}"/>
              </a:ext>
            </a:extLst>
          </p:cNvPr>
          <p:cNvPicPr>
            <a:picLocks noChangeAspect="1"/>
          </p:cNvPicPr>
          <p:nvPr/>
        </p:nvPicPr>
        <p:blipFill>
          <a:blip r:embed="rId2"/>
          <a:stretch>
            <a:fillRect/>
          </a:stretch>
        </p:blipFill>
        <p:spPr>
          <a:xfrm>
            <a:off x="15769158" y="366712"/>
            <a:ext cx="1904256" cy="590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77137" y="-47053"/>
            <a:ext cx="8710863" cy="10715374"/>
          </a:xfrm>
          <a:prstGeom prst="rect">
            <a:avLst/>
          </a:prstGeom>
          <a:solidFill>
            <a:srgbClr val="FBE9EC"/>
          </a:solidFill>
          <a:ln/>
        </p:spPr>
        <p:txBody>
          <a:bodyPr/>
          <a:lstStyle/>
          <a:p>
            <a:endParaRPr lang="en-US"/>
          </a:p>
        </p:txBody>
      </p:sp>
      <p:sp>
        <p:nvSpPr>
          <p:cNvPr id="3" name="Shape 1"/>
          <p:cNvSpPr/>
          <p:nvPr/>
        </p:nvSpPr>
        <p:spPr>
          <a:xfrm>
            <a:off x="1066800" y="1756916"/>
            <a:ext cx="76200" cy="76200"/>
          </a:xfrm>
          <a:prstGeom prst="ellipse">
            <a:avLst/>
          </a:prstGeom>
          <a:solidFill>
            <a:srgbClr val="FFFFFF"/>
          </a:solidFill>
          <a:ln/>
        </p:spPr>
        <p:txBody>
          <a:bodyPr/>
          <a:lstStyle/>
          <a:p>
            <a:endParaRPr lang="en-US"/>
          </a:p>
        </p:txBody>
      </p:sp>
      <p:sp>
        <p:nvSpPr>
          <p:cNvPr id="4" name="Text 2"/>
          <p:cNvSpPr/>
          <p:nvPr/>
        </p:nvSpPr>
        <p:spPr>
          <a:xfrm>
            <a:off x="1295400" y="1642616"/>
            <a:ext cx="2508647" cy="342900"/>
          </a:xfrm>
          <a:prstGeom prst="rect">
            <a:avLst/>
          </a:prstGeom>
          <a:noFill/>
          <a:ln/>
        </p:spPr>
        <p:txBody>
          <a:bodyPr wrap="square" lIns="0" tIns="0" rIns="0" bIns="0" rtlCol="0" anchor="t">
            <a:normAutofit/>
          </a:bodyPr>
          <a:lstStyle/>
          <a:p>
            <a:pPr marL="0" indent="0" algn="l">
              <a:buNone/>
            </a:pPr>
            <a:r>
              <a:rPr lang="en-US" sz="1800" kern="0" spc="288" dirty="0">
                <a:latin typeface="Courier New" pitchFamily="34" charset="0"/>
                <a:ea typeface="Courier New" pitchFamily="34" charset="-122"/>
                <a:cs typeface="Courier New" pitchFamily="34" charset="-120"/>
              </a:rPr>
              <a:t>TOOL IN ACTION</a:t>
            </a:r>
            <a:endParaRPr lang="en-US" sz="1800" dirty="0"/>
          </a:p>
        </p:txBody>
      </p:sp>
      <p:sp>
        <p:nvSpPr>
          <p:cNvPr id="5" name="Text 3"/>
          <p:cNvSpPr/>
          <p:nvPr/>
        </p:nvSpPr>
        <p:spPr>
          <a:xfrm>
            <a:off x="1066800" y="2328416"/>
            <a:ext cx="16639032" cy="2982218"/>
          </a:xfrm>
          <a:prstGeom prst="rect">
            <a:avLst/>
          </a:prstGeom>
          <a:noFill/>
          <a:ln/>
        </p:spPr>
        <p:txBody>
          <a:bodyPr wrap="square" lIns="25400" tIns="25400" rIns="25400" bIns="25400" rtlCol="0" anchor="t">
            <a:normAutofit/>
          </a:bodyPr>
          <a:lstStyle/>
          <a:p>
            <a:pPr marL="0" indent="0" algn="l">
              <a:lnSpc>
                <a:spcPct val="92000"/>
              </a:lnSpc>
              <a:buNone/>
            </a:pPr>
            <a:r>
              <a:rPr lang="en-US" sz="12600" b="1" kern="0" spc="-504" dirty="0">
                <a:latin typeface="Arial" pitchFamily="34" charset="0"/>
                <a:ea typeface="Arial" pitchFamily="34" charset="-122"/>
                <a:cs typeface="Arial" pitchFamily="34" charset="-120"/>
              </a:rPr>
              <a:t>LIVE DEMO</a:t>
            </a:r>
            <a:endParaRPr lang="en-US" sz="12600" dirty="0"/>
          </a:p>
        </p:txBody>
      </p:sp>
      <p:sp>
        <p:nvSpPr>
          <p:cNvPr id="7" name="Shape 5"/>
          <p:cNvSpPr/>
          <p:nvPr/>
        </p:nvSpPr>
        <p:spPr>
          <a:xfrm>
            <a:off x="9989270" y="7596689"/>
            <a:ext cx="4439394" cy="523875"/>
          </a:xfrm>
          <a:prstGeom prst="roundRect">
            <a:avLst>
              <a:gd name="adj" fmla="val 50000"/>
            </a:avLst>
          </a:prstGeom>
          <a:ln w="9525">
            <a:solidFill>
              <a:srgbClr val="FFFFFF">
                <a:alpha val="42000"/>
              </a:srgbClr>
            </a:solidFill>
            <a:prstDash val="solid"/>
          </a:ln>
        </p:spPr>
        <p:txBody>
          <a:bodyPr/>
          <a:lstStyle/>
          <a:p>
            <a:endParaRPr lang="en-US"/>
          </a:p>
        </p:txBody>
      </p:sp>
      <p:sp>
        <p:nvSpPr>
          <p:cNvPr id="9" name="Shape 7"/>
          <p:cNvSpPr/>
          <p:nvPr/>
        </p:nvSpPr>
        <p:spPr>
          <a:xfrm>
            <a:off x="5658594" y="7329934"/>
            <a:ext cx="5153918" cy="523875"/>
          </a:xfrm>
          <a:prstGeom prst="roundRect">
            <a:avLst>
              <a:gd name="adj" fmla="val 50000"/>
            </a:avLst>
          </a:prstGeom>
          <a:ln w="9525">
            <a:solidFill>
              <a:srgbClr val="FFFFFF">
                <a:alpha val="42000"/>
              </a:srgbClr>
            </a:solidFill>
            <a:prstDash val="solid"/>
          </a:ln>
        </p:spPr>
        <p:txBody>
          <a:bodyPr/>
          <a:lstStyle/>
          <a:p>
            <a:endParaRPr lang="en-US"/>
          </a:p>
        </p:txBody>
      </p:sp>
      <p:sp>
        <p:nvSpPr>
          <p:cNvPr id="11" name="Text 9"/>
          <p:cNvSpPr/>
          <p:nvPr/>
        </p:nvSpPr>
        <p:spPr>
          <a:xfrm>
            <a:off x="1143000" y="3864993"/>
            <a:ext cx="7567865" cy="390525"/>
          </a:xfrm>
          <a:prstGeom prst="rect">
            <a:avLst/>
          </a:prstGeom>
          <a:noFill/>
          <a:ln/>
        </p:spPr>
        <p:txBody>
          <a:bodyPr wrap="square" lIns="25400" tIns="25400" rIns="25400" bIns="25400" rtlCol="0" anchor="ctr">
            <a:normAutofit lnSpcReduction="10000"/>
          </a:bodyPr>
          <a:lstStyle/>
          <a:p>
            <a:pPr marL="0" indent="0" algn="l">
              <a:buNone/>
            </a:pPr>
            <a:r>
              <a:rPr lang="en-US" sz="2250" dirty="0">
                <a:latin typeface="Courier New" pitchFamily="34" charset="0"/>
                <a:ea typeface="Courier New" pitchFamily="34" charset="-122"/>
                <a:cs typeface="Courier New" pitchFamily="34" charset="-120"/>
              </a:rPr>
              <a:t>↳ </a:t>
            </a:r>
            <a:r>
              <a:rPr lang="en-US" sz="2250" dirty="0" err="1">
                <a:latin typeface="Courier New" pitchFamily="34" charset="0"/>
                <a:ea typeface="Courier New" pitchFamily="34" charset="-122"/>
                <a:cs typeface="Courier New" pitchFamily="34" charset="-120"/>
              </a:rPr>
              <a:t>github.com</a:t>
            </a:r>
            <a:r>
              <a:rPr lang="en-US" sz="2250" dirty="0">
                <a:latin typeface="Courier New" pitchFamily="34" charset="0"/>
                <a:ea typeface="Courier New" pitchFamily="34" charset="-122"/>
                <a:cs typeface="Courier New" pitchFamily="34" charset="-120"/>
              </a:rPr>
              <a:t>/</a:t>
            </a:r>
            <a:r>
              <a:rPr lang="en-US" sz="2250" dirty="0" err="1">
                <a:latin typeface="Courier New" pitchFamily="34" charset="0"/>
                <a:ea typeface="Courier New" pitchFamily="34" charset="-122"/>
                <a:cs typeface="Courier New" pitchFamily="34" charset="-120"/>
              </a:rPr>
              <a:t>etragni</a:t>
            </a:r>
            <a:r>
              <a:rPr lang="en-US" sz="2250" dirty="0">
                <a:latin typeface="Courier New" pitchFamily="34" charset="0"/>
                <a:ea typeface="Courier New" pitchFamily="34" charset="-122"/>
                <a:cs typeface="Courier New" pitchFamily="34" charset="-120"/>
              </a:rPr>
              <a:t>/talk_kargo</a:t>
            </a:r>
            <a:endParaRPr lang="en-US" sz="2250" dirty="0"/>
          </a:p>
        </p:txBody>
      </p:sp>
      <p:sp>
        <p:nvSpPr>
          <p:cNvPr id="12" name="Shape 10"/>
          <p:cNvSpPr/>
          <p:nvPr/>
        </p:nvSpPr>
        <p:spPr>
          <a:xfrm>
            <a:off x="1066800" y="9439275"/>
            <a:ext cx="16154400" cy="9525"/>
          </a:xfrm>
          <a:prstGeom prst="rect">
            <a:avLst/>
          </a:prstGeom>
          <a:solidFill>
            <a:srgbClr val="E7E7E9"/>
          </a:solidFill>
          <a:ln/>
        </p:spPr>
        <p:txBody>
          <a:bodyPr/>
          <a:lstStyle/>
          <a:p>
            <a:endParaRPr lang="en-US"/>
          </a:p>
        </p:txBody>
      </p:sp>
      <p:sp>
        <p:nvSpPr>
          <p:cNvPr id="13" name="Text 1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latin typeface="Courier New" pitchFamily="34" charset="0"/>
                <a:ea typeface="Courier New" pitchFamily="34" charset="-122"/>
                <a:cs typeface="Courier New" pitchFamily="34" charset="-120"/>
              </a:rPr>
              <a:t>Kargo</a:t>
            </a:r>
            <a:endParaRPr lang="en-US" sz="1800" dirty="0"/>
          </a:p>
        </p:txBody>
      </p:sp>
      <p:sp>
        <p:nvSpPr>
          <p:cNvPr id="14" name="Text 1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latin typeface="Courier New" pitchFamily="34" charset="0"/>
                <a:ea typeface="Courier New" pitchFamily="34" charset="-122"/>
                <a:cs typeface="Courier New" pitchFamily="34" charset="-120"/>
              </a:rPr>
              <a:t>· Dutch Cloud Native Day</a:t>
            </a:r>
            <a:endParaRPr lang="en-US" sz="1800" dirty="0"/>
          </a:p>
        </p:txBody>
      </p:sp>
      <p:sp>
        <p:nvSpPr>
          <p:cNvPr id="15" name="Text 1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latin typeface="Courier New" pitchFamily="34" charset="0"/>
                <a:ea typeface="Courier New" pitchFamily="34" charset="-122"/>
                <a:cs typeface="Courier New" pitchFamily="34" charset="-120"/>
              </a:rPr>
              <a:t>13</a:t>
            </a:r>
            <a:endParaRPr lang="en-US" sz="1800" dirty="0"/>
          </a:p>
        </p:txBody>
      </p:sp>
      <p:pic>
        <p:nvPicPr>
          <p:cNvPr id="17" name="Image 0" descr="preencoded.png">
            <a:extLst>
              <a:ext uri="{FF2B5EF4-FFF2-40B4-BE49-F238E27FC236}">
                <a16:creationId xmlns:a16="http://schemas.microsoft.com/office/drawing/2014/main" id="{11023546-9988-F7FE-8652-9F6BB18D8AE5}"/>
              </a:ext>
            </a:extLst>
          </p:cNvPr>
          <p:cNvPicPr>
            <a:picLocks noChangeAspect="1"/>
          </p:cNvPicPr>
          <p:nvPr/>
        </p:nvPicPr>
        <p:blipFill>
          <a:blip r:embed="rId3"/>
          <a:stretch>
            <a:fillRect/>
          </a:stretch>
        </p:blipFill>
        <p:spPr>
          <a:xfrm>
            <a:off x="7239744" y="247650"/>
            <a:ext cx="1904256" cy="590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7" name="Google Shape;94;p14" descr="image.png">
            <a:extLst>
              <a:ext uri="{FF2B5EF4-FFF2-40B4-BE49-F238E27FC236}">
                <a16:creationId xmlns:a16="http://schemas.microsoft.com/office/drawing/2014/main" id="{6BBDFB7F-2967-94B9-F8A7-870E8CDF7855}"/>
              </a:ext>
            </a:extLst>
          </p:cNvPr>
          <p:cNvPicPr preferRelativeResize="0"/>
          <p:nvPr/>
        </p:nvPicPr>
        <p:blipFill rotWithShape="1">
          <a:blip r:embed="rId3"/>
          <a:srcRect/>
          <a:stretch/>
        </p:blipFill>
        <p:spPr>
          <a:xfrm>
            <a:off x="0" y="7221"/>
            <a:ext cx="18288000" cy="10287000"/>
          </a:xfrm>
          <a:prstGeom prst="rect">
            <a:avLst/>
          </a:prstGeom>
        </p:spPr>
      </p:pic>
      <p:sp>
        <p:nvSpPr>
          <p:cNvPr id="3" name="Text 1"/>
          <p:cNvSpPr/>
          <p:nvPr/>
        </p:nvSpPr>
        <p:spPr>
          <a:xfrm>
            <a:off x="3156566" y="819150"/>
            <a:ext cx="6442137"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DEMO WALKTHROUGH — WHAT YOU WILL SEE</a:t>
            </a:r>
            <a:endParaRPr lang="en-US" sz="1800" dirty="0"/>
          </a:p>
        </p:txBody>
      </p:sp>
      <p:sp>
        <p:nvSpPr>
          <p:cNvPr id="4" name="Text 2"/>
          <p:cNvSpPr/>
          <p:nvPr/>
        </p:nvSpPr>
        <p:spPr>
          <a:xfrm>
            <a:off x="1066800" y="329785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1</a:t>
            </a:r>
            <a:endParaRPr lang="en-US" sz="4350" dirty="0"/>
          </a:p>
        </p:txBody>
      </p:sp>
      <p:sp>
        <p:nvSpPr>
          <p:cNvPr id="5" name="Text 3"/>
          <p:cNvSpPr/>
          <p:nvPr/>
        </p:nvSpPr>
        <p:spPr>
          <a:xfrm>
            <a:off x="1066800" y="417415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CI builds &amp; pushes</a:t>
            </a:r>
            <a:endParaRPr lang="en-US" sz="2325" dirty="0"/>
          </a:p>
        </p:txBody>
      </p:sp>
      <p:sp>
        <p:nvSpPr>
          <p:cNvPr id="6" name="Text 4"/>
          <p:cNvSpPr/>
          <p:nvPr/>
        </p:nvSpPr>
        <p:spPr>
          <a:xfrm>
            <a:off x="1066800" y="4669451"/>
            <a:ext cx="5310835" cy="7200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GitHub Actions: </a:t>
            </a:r>
            <a:r>
              <a:rPr lang="en-US" sz="1800" dirty="0">
                <a:solidFill>
                  <a:srgbClr val="D02A44"/>
                </a:solidFill>
                <a:latin typeface="Courier New" pitchFamily="34" charset="0"/>
                <a:ea typeface="Courier New" pitchFamily="34" charset="-122"/>
                <a:cs typeface="Courier New" pitchFamily="34" charset="-120"/>
              </a:rPr>
              <a:t>docker build </a:t>
            </a:r>
            <a:r>
              <a:rPr lang="en-US" sz="1875" dirty="0">
                <a:solidFill>
                  <a:srgbClr val="4F555B"/>
                </a:solidFill>
                <a:latin typeface="Arial" pitchFamily="34" charset="0"/>
                <a:ea typeface="Arial" pitchFamily="34" charset="-122"/>
                <a:cs typeface="Arial" pitchFamily="34" charset="-120"/>
              </a:rPr>
              <a:t>+ push to GHCR with a SHA-256 digest.</a:t>
            </a:r>
            <a:endParaRPr lang="en-US" sz="1875" dirty="0"/>
          </a:p>
        </p:txBody>
      </p:sp>
      <p:sp>
        <p:nvSpPr>
          <p:cNvPr id="7" name="Text 5"/>
          <p:cNvSpPr/>
          <p:nvPr/>
        </p:nvSpPr>
        <p:spPr>
          <a:xfrm>
            <a:off x="6565850" y="329785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2</a:t>
            </a:r>
            <a:endParaRPr lang="en-US" sz="4350" dirty="0"/>
          </a:p>
        </p:txBody>
      </p:sp>
      <p:sp>
        <p:nvSpPr>
          <p:cNvPr id="8" name="Text 6"/>
          <p:cNvSpPr/>
          <p:nvPr/>
        </p:nvSpPr>
        <p:spPr>
          <a:xfrm>
            <a:off x="6565850" y="417415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Warehouse detects</a:t>
            </a:r>
            <a:endParaRPr lang="en-US" sz="2325" dirty="0"/>
          </a:p>
        </p:txBody>
      </p:sp>
      <p:sp>
        <p:nvSpPr>
          <p:cNvPr id="9" name="Text 7"/>
          <p:cNvSpPr/>
          <p:nvPr/>
        </p:nvSpPr>
        <p:spPr>
          <a:xfrm>
            <a:off x="6565850" y="466945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Kargo Warehouse polls GHCR; a Freight object is created automatically.</a:t>
            </a:r>
            <a:endParaRPr lang="en-US" sz="1875" dirty="0"/>
          </a:p>
        </p:txBody>
      </p:sp>
      <p:sp>
        <p:nvSpPr>
          <p:cNvPr id="10" name="Text 8"/>
          <p:cNvSpPr/>
          <p:nvPr/>
        </p:nvSpPr>
        <p:spPr>
          <a:xfrm>
            <a:off x="12064901" y="329785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3</a:t>
            </a:r>
            <a:endParaRPr lang="en-US" sz="4350" dirty="0"/>
          </a:p>
        </p:txBody>
      </p:sp>
      <p:sp>
        <p:nvSpPr>
          <p:cNvPr id="11" name="Text 9"/>
          <p:cNvSpPr/>
          <p:nvPr/>
        </p:nvSpPr>
        <p:spPr>
          <a:xfrm>
            <a:off x="12064901" y="417415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Auto-promote to dev</a:t>
            </a:r>
            <a:endParaRPr lang="en-US" sz="2325" dirty="0"/>
          </a:p>
        </p:txBody>
      </p:sp>
      <p:sp>
        <p:nvSpPr>
          <p:cNvPr id="12" name="Text 10"/>
          <p:cNvSpPr/>
          <p:nvPr/>
        </p:nvSpPr>
        <p:spPr>
          <a:xfrm>
            <a:off x="12064901" y="4669451"/>
            <a:ext cx="5310835" cy="7200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Stage </a:t>
            </a:r>
            <a:r>
              <a:rPr lang="en-US" sz="1800" dirty="0">
                <a:solidFill>
                  <a:srgbClr val="D02A44"/>
                </a:solidFill>
                <a:latin typeface="Courier New" pitchFamily="34" charset="0"/>
                <a:ea typeface="Courier New" pitchFamily="34" charset="-122"/>
                <a:cs typeface="Courier New" pitchFamily="34" charset="-120"/>
              </a:rPr>
              <a:t>dev </a:t>
            </a:r>
            <a:r>
              <a:rPr lang="en-US" sz="1875" dirty="0">
                <a:solidFill>
                  <a:srgbClr val="4F555B"/>
                </a:solidFill>
                <a:latin typeface="Arial" pitchFamily="34" charset="0"/>
                <a:ea typeface="Arial" pitchFamily="34" charset="-122"/>
                <a:cs typeface="Arial" pitchFamily="34" charset="-120"/>
              </a:rPr>
              <a:t>subscription triggers; Argo CD syncs; smoke test runs.</a:t>
            </a:r>
            <a:endParaRPr lang="en-US" sz="1875" dirty="0"/>
          </a:p>
        </p:txBody>
      </p:sp>
      <p:sp>
        <p:nvSpPr>
          <p:cNvPr id="13" name="Text 11"/>
          <p:cNvSpPr/>
          <p:nvPr/>
        </p:nvSpPr>
        <p:spPr>
          <a:xfrm>
            <a:off x="1066800" y="561808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4</a:t>
            </a:r>
            <a:endParaRPr lang="en-US" sz="4350" dirty="0"/>
          </a:p>
        </p:txBody>
      </p:sp>
      <p:sp>
        <p:nvSpPr>
          <p:cNvPr id="14" name="Text 12"/>
          <p:cNvSpPr/>
          <p:nvPr/>
        </p:nvSpPr>
        <p:spPr>
          <a:xfrm>
            <a:off x="1066800" y="649438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Gate: integration tests</a:t>
            </a:r>
            <a:endParaRPr lang="en-US" sz="2325" dirty="0"/>
          </a:p>
        </p:txBody>
      </p:sp>
      <p:sp>
        <p:nvSpPr>
          <p:cNvPr id="15" name="Text 13"/>
          <p:cNvSpPr/>
          <p:nvPr/>
        </p:nvSpPr>
        <p:spPr>
          <a:xfrm>
            <a:off x="1066800" y="698968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AnalysisRun (Argo Rollouts) validates HTTP 200 + latency &lt; 300 ms.</a:t>
            </a:r>
            <a:endParaRPr lang="en-US" sz="1875" dirty="0"/>
          </a:p>
        </p:txBody>
      </p:sp>
      <p:sp>
        <p:nvSpPr>
          <p:cNvPr id="16" name="Text 14"/>
          <p:cNvSpPr/>
          <p:nvPr/>
        </p:nvSpPr>
        <p:spPr>
          <a:xfrm>
            <a:off x="6565850" y="561808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5</a:t>
            </a:r>
            <a:endParaRPr lang="en-US" sz="4350" dirty="0"/>
          </a:p>
        </p:txBody>
      </p:sp>
      <p:sp>
        <p:nvSpPr>
          <p:cNvPr id="17" name="Text 15"/>
          <p:cNvSpPr/>
          <p:nvPr/>
        </p:nvSpPr>
        <p:spPr>
          <a:xfrm>
            <a:off x="6565850" y="649438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Promote to staging</a:t>
            </a:r>
            <a:endParaRPr lang="en-US" sz="2325" dirty="0"/>
          </a:p>
        </p:txBody>
      </p:sp>
      <p:sp>
        <p:nvSpPr>
          <p:cNvPr id="18" name="Text 16"/>
          <p:cNvSpPr/>
          <p:nvPr/>
        </p:nvSpPr>
        <p:spPr>
          <a:xfrm>
            <a:off x="6565850" y="698968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Freight advances; full regression suite; metrics check vs Prometheus.</a:t>
            </a:r>
            <a:endParaRPr lang="en-US" sz="1875" dirty="0"/>
          </a:p>
        </p:txBody>
      </p:sp>
      <p:sp>
        <p:nvSpPr>
          <p:cNvPr id="19" name="Text 17"/>
          <p:cNvSpPr/>
          <p:nvPr/>
        </p:nvSpPr>
        <p:spPr>
          <a:xfrm>
            <a:off x="12064901" y="561808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6</a:t>
            </a:r>
            <a:endParaRPr lang="en-US" sz="4350" dirty="0"/>
          </a:p>
        </p:txBody>
      </p:sp>
      <p:sp>
        <p:nvSpPr>
          <p:cNvPr id="20" name="Text 18"/>
          <p:cNvSpPr/>
          <p:nvPr/>
        </p:nvSpPr>
        <p:spPr>
          <a:xfrm>
            <a:off x="12064901" y="649438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Manual approval → prod</a:t>
            </a:r>
            <a:endParaRPr lang="en-US" sz="2325" dirty="0"/>
          </a:p>
        </p:txBody>
      </p:sp>
      <p:sp>
        <p:nvSpPr>
          <p:cNvPr id="21" name="Text 19"/>
          <p:cNvSpPr/>
          <p:nvPr/>
        </p:nvSpPr>
        <p:spPr>
          <a:xfrm>
            <a:off x="12064901" y="698968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Approver clicks Approve in the Kargo UI / CLI; Promotion CR created; Argo CD syncs prod.</a:t>
            </a:r>
            <a:endParaRPr lang="en-US" sz="1875" dirty="0"/>
          </a:p>
        </p:txBody>
      </p:sp>
      <p:sp>
        <p:nvSpPr>
          <p:cNvPr id="22" name="Shape 20"/>
          <p:cNvSpPr/>
          <p:nvPr/>
        </p:nvSpPr>
        <p:spPr>
          <a:xfrm>
            <a:off x="1066800" y="9439275"/>
            <a:ext cx="16154400" cy="9525"/>
          </a:xfrm>
          <a:prstGeom prst="rect">
            <a:avLst/>
          </a:prstGeom>
          <a:solidFill>
            <a:srgbClr val="E7E7E9"/>
          </a:solidFill>
          <a:ln/>
        </p:spPr>
        <p:txBody>
          <a:bodyPr/>
          <a:lstStyle/>
          <a:p>
            <a:endParaRPr lang="en-US"/>
          </a:p>
        </p:txBody>
      </p:sp>
      <p:sp>
        <p:nvSpPr>
          <p:cNvPr id="23" name="Text 2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4" name="Text 2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5" name="Text 2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14</a:t>
            </a:r>
            <a:endParaRPr lang="en-US" sz="1800" dirty="0"/>
          </a:p>
        </p:txBody>
      </p:sp>
      <p:pic>
        <p:nvPicPr>
          <p:cNvPr id="26" name="Image 0" descr="preencoded.png">
            <a:extLst>
              <a:ext uri="{FF2B5EF4-FFF2-40B4-BE49-F238E27FC236}">
                <a16:creationId xmlns:a16="http://schemas.microsoft.com/office/drawing/2014/main" id="{8939CF80-5745-5E0E-0415-D9A9BBF38FA2}"/>
              </a:ext>
            </a:extLst>
          </p:cNvPr>
          <p:cNvPicPr>
            <a:picLocks noChangeAspect="1"/>
          </p:cNvPicPr>
          <p:nvPr/>
        </p:nvPicPr>
        <p:blipFill>
          <a:blip r:embed="rId4"/>
          <a:stretch>
            <a:fillRect/>
          </a:stretch>
        </p:blipFill>
        <p:spPr>
          <a:xfrm>
            <a:off x="15769158" y="366712"/>
            <a:ext cx="1904256" cy="5905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566714" y="819151"/>
            <a:ext cx="1813620"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COMPARISON</a:t>
            </a:r>
            <a:endParaRPr lang="en-US" sz="1800" dirty="0"/>
          </a:p>
        </p:txBody>
      </p:sp>
      <p:sp>
        <p:nvSpPr>
          <p:cNvPr id="4" name="Text 2"/>
          <p:cNvSpPr/>
          <p:nvPr/>
        </p:nvSpPr>
        <p:spPr>
          <a:xfrm>
            <a:off x="1066800" y="1352977"/>
            <a:ext cx="16639032" cy="572988"/>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050" b="1" kern="0" spc="-81" dirty="0">
                <a:solidFill>
                  <a:srgbClr val="2B3035"/>
                </a:solidFill>
                <a:latin typeface="Arial" pitchFamily="34" charset="0"/>
                <a:ea typeface="Arial" pitchFamily="34" charset="-122"/>
                <a:cs typeface="Arial" pitchFamily="34" charset="-120"/>
              </a:rPr>
              <a:t>Kargo vs ApplicationSets vs Flux Promoter</a:t>
            </a:r>
            <a:endParaRPr lang="en-US" sz="4050" dirty="0"/>
          </a:p>
        </p:txBody>
      </p:sp>
      <p:sp>
        <p:nvSpPr>
          <p:cNvPr id="5" name="Shape 3"/>
          <p:cNvSpPr/>
          <p:nvPr/>
        </p:nvSpPr>
        <p:spPr>
          <a:xfrm>
            <a:off x="1066800" y="2789436"/>
            <a:ext cx="4361557" cy="9525"/>
          </a:xfrm>
          <a:prstGeom prst="rect">
            <a:avLst/>
          </a:prstGeom>
          <a:solidFill>
            <a:srgbClr val="E7E7E9"/>
          </a:solidFill>
          <a:ln/>
        </p:spPr>
        <p:txBody>
          <a:bodyPr/>
          <a:lstStyle/>
          <a:p>
            <a:endParaRPr lang="en-US"/>
          </a:p>
        </p:txBody>
      </p:sp>
      <p:sp>
        <p:nvSpPr>
          <p:cNvPr id="6" name="Text 4"/>
          <p:cNvSpPr/>
          <p:nvPr/>
        </p:nvSpPr>
        <p:spPr>
          <a:xfrm>
            <a:off x="1314450" y="2270324"/>
            <a:ext cx="3997104" cy="347663"/>
          </a:xfrm>
          <a:prstGeom prst="rect">
            <a:avLst/>
          </a:prstGeom>
          <a:noFill/>
          <a:ln/>
        </p:spPr>
        <p:txBody>
          <a:bodyPr wrap="square" lIns="25400" tIns="25400" rIns="25400" bIns="25400" rtlCol="0" anchor="b">
            <a:normAutofit/>
          </a:bodyPr>
          <a:lstStyle/>
          <a:p>
            <a:pPr marL="0" indent="0" algn="l">
              <a:buNone/>
            </a:pPr>
            <a:r>
              <a:rPr lang="en-US" sz="1875" kern="0" spc="75" dirty="0">
                <a:latin typeface="Courier New" pitchFamily="34" charset="0"/>
                <a:ea typeface="Courier New" pitchFamily="34" charset="-122"/>
                <a:cs typeface="Courier New" pitchFamily="34" charset="-120"/>
              </a:rPr>
              <a:t>FEATURE</a:t>
            </a:r>
            <a:endParaRPr lang="en-US" sz="1875" dirty="0"/>
          </a:p>
        </p:txBody>
      </p:sp>
      <p:sp>
        <p:nvSpPr>
          <p:cNvPr id="7" name="Shape 5"/>
          <p:cNvSpPr/>
          <p:nvPr/>
        </p:nvSpPr>
        <p:spPr>
          <a:xfrm>
            <a:off x="5428357" y="2060774"/>
            <a:ext cx="4361557" cy="738188"/>
          </a:xfrm>
          <a:prstGeom prst="rect">
            <a:avLst/>
          </a:prstGeom>
          <a:solidFill>
            <a:srgbClr val="FDF4F5"/>
          </a:solidFill>
          <a:ln/>
        </p:spPr>
        <p:txBody>
          <a:bodyPr/>
          <a:lstStyle/>
          <a:p>
            <a:endParaRPr lang="en-US"/>
          </a:p>
        </p:txBody>
      </p:sp>
      <p:sp>
        <p:nvSpPr>
          <p:cNvPr id="8" name="Shape 6"/>
          <p:cNvSpPr/>
          <p:nvPr/>
        </p:nvSpPr>
        <p:spPr>
          <a:xfrm>
            <a:off x="5428357" y="2789436"/>
            <a:ext cx="4361557" cy="9525"/>
          </a:xfrm>
          <a:prstGeom prst="rect">
            <a:avLst/>
          </a:prstGeom>
          <a:solidFill>
            <a:srgbClr val="E7E7E9"/>
          </a:solidFill>
          <a:ln/>
        </p:spPr>
        <p:txBody>
          <a:bodyPr/>
          <a:lstStyle/>
          <a:p>
            <a:endParaRPr lang="en-US"/>
          </a:p>
        </p:txBody>
      </p:sp>
      <p:sp>
        <p:nvSpPr>
          <p:cNvPr id="9" name="Text 7"/>
          <p:cNvSpPr/>
          <p:nvPr/>
        </p:nvSpPr>
        <p:spPr>
          <a:xfrm>
            <a:off x="5676007" y="2270324"/>
            <a:ext cx="3997104" cy="347663"/>
          </a:xfrm>
          <a:prstGeom prst="rect">
            <a:avLst/>
          </a:prstGeom>
          <a:noFill/>
          <a:ln/>
        </p:spPr>
        <p:txBody>
          <a:bodyPr wrap="square" lIns="25400" tIns="25400" rIns="25400" bIns="25400" rtlCol="0" anchor="b">
            <a:normAutofit/>
          </a:bodyPr>
          <a:lstStyle/>
          <a:p>
            <a:pPr marL="0" indent="0" algn="l">
              <a:buNone/>
            </a:pPr>
            <a:r>
              <a:rPr lang="en-US" sz="1875" kern="0" spc="75" dirty="0">
                <a:solidFill>
                  <a:srgbClr val="D02A44"/>
                </a:solidFill>
                <a:latin typeface="Courier New" pitchFamily="34" charset="0"/>
                <a:ea typeface="Courier New" pitchFamily="34" charset="-122"/>
                <a:cs typeface="Courier New" pitchFamily="34" charset="-120"/>
              </a:rPr>
              <a:t>KARGO</a:t>
            </a:r>
            <a:endParaRPr lang="en-US" sz="1875" dirty="0"/>
          </a:p>
        </p:txBody>
      </p:sp>
      <p:sp>
        <p:nvSpPr>
          <p:cNvPr id="10" name="Shape 8"/>
          <p:cNvSpPr/>
          <p:nvPr/>
        </p:nvSpPr>
        <p:spPr>
          <a:xfrm>
            <a:off x="9789914" y="2789436"/>
            <a:ext cx="4043660" cy="9525"/>
          </a:xfrm>
          <a:prstGeom prst="rect">
            <a:avLst/>
          </a:prstGeom>
          <a:solidFill>
            <a:srgbClr val="E7E7E9"/>
          </a:solidFill>
          <a:ln/>
        </p:spPr>
        <p:txBody>
          <a:bodyPr/>
          <a:lstStyle/>
          <a:p>
            <a:endParaRPr lang="en-US"/>
          </a:p>
        </p:txBody>
      </p:sp>
      <p:sp>
        <p:nvSpPr>
          <p:cNvPr id="11" name="Text 9"/>
          <p:cNvSpPr/>
          <p:nvPr/>
        </p:nvSpPr>
        <p:spPr>
          <a:xfrm>
            <a:off x="10037564" y="2270324"/>
            <a:ext cx="3669670" cy="347663"/>
          </a:xfrm>
          <a:prstGeom prst="rect">
            <a:avLst/>
          </a:prstGeom>
          <a:noFill/>
          <a:ln/>
        </p:spPr>
        <p:txBody>
          <a:bodyPr wrap="square" lIns="25400" tIns="25400" rIns="25400" bIns="25400" rtlCol="0" anchor="b">
            <a:normAutofit/>
          </a:bodyPr>
          <a:lstStyle/>
          <a:p>
            <a:pPr marL="0" indent="0" algn="l">
              <a:buNone/>
            </a:pPr>
            <a:r>
              <a:rPr lang="en-US" sz="1875" kern="0" spc="75" dirty="0">
                <a:latin typeface="Courier New" pitchFamily="34" charset="0"/>
                <a:ea typeface="Courier New" pitchFamily="34" charset="-122"/>
                <a:cs typeface="Courier New" pitchFamily="34" charset="-120"/>
              </a:rPr>
              <a:t>ARGO APPLICATIONSETS</a:t>
            </a:r>
            <a:endParaRPr lang="en-US" sz="1875" dirty="0"/>
          </a:p>
        </p:txBody>
      </p:sp>
      <p:sp>
        <p:nvSpPr>
          <p:cNvPr id="12" name="Shape 10"/>
          <p:cNvSpPr/>
          <p:nvPr/>
        </p:nvSpPr>
        <p:spPr>
          <a:xfrm>
            <a:off x="13833574" y="2789436"/>
            <a:ext cx="3387626" cy="9525"/>
          </a:xfrm>
          <a:prstGeom prst="rect">
            <a:avLst/>
          </a:prstGeom>
          <a:solidFill>
            <a:srgbClr val="E7E7E9"/>
          </a:solidFill>
          <a:ln/>
        </p:spPr>
        <p:txBody>
          <a:bodyPr/>
          <a:lstStyle/>
          <a:p>
            <a:endParaRPr lang="en-US"/>
          </a:p>
        </p:txBody>
      </p:sp>
      <p:sp>
        <p:nvSpPr>
          <p:cNvPr id="13" name="Text 11"/>
          <p:cNvSpPr/>
          <p:nvPr/>
        </p:nvSpPr>
        <p:spPr>
          <a:xfrm>
            <a:off x="14081224" y="2270324"/>
            <a:ext cx="2993955" cy="347663"/>
          </a:xfrm>
          <a:prstGeom prst="rect">
            <a:avLst/>
          </a:prstGeom>
          <a:noFill/>
          <a:ln/>
        </p:spPr>
        <p:txBody>
          <a:bodyPr wrap="square" lIns="25400" tIns="25400" rIns="25400" bIns="25400" rtlCol="0" anchor="b">
            <a:normAutofit/>
          </a:bodyPr>
          <a:lstStyle/>
          <a:p>
            <a:pPr marL="0" indent="0" algn="l">
              <a:buNone/>
            </a:pPr>
            <a:r>
              <a:rPr lang="en-US" sz="1875" kern="0" spc="75" dirty="0">
                <a:latin typeface="Courier New" pitchFamily="34" charset="0"/>
                <a:ea typeface="Courier New" pitchFamily="34" charset="-122"/>
                <a:cs typeface="Courier New" pitchFamily="34" charset="-120"/>
              </a:rPr>
              <a:t>FLUX PROMOTER</a:t>
            </a:r>
            <a:endParaRPr lang="en-US" sz="1875" dirty="0"/>
          </a:p>
        </p:txBody>
      </p:sp>
      <p:sp>
        <p:nvSpPr>
          <p:cNvPr id="14" name="Shape 12"/>
          <p:cNvSpPr/>
          <p:nvPr/>
        </p:nvSpPr>
        <p:spPr>
          <a:xfrm>
            <a:off x="1066800" y="3872459"/>
            <a:ext cx="4361557" cy="9525"/>
          </a:xfrm>
          <a:prstGeom prst="rect">
            <a:avLst/>
          </a:prstGeom>
          <a:solidFill>
            <a:srgbClr val="E7E7E9"/>
          </a:solidFill>
          <a:ln/>
        </p:spPr>
        <p:txBody>
          <a:bodyPr/>
          <a:lstStyle/>
          <a:p>
            <a:endParaRPr lang="en-US"/>
          </a:p>
        </p:txBody>
      </p:sp>
      <p:sp>
        <p:nvSpPr>
          <p:cNvPr id="15" name="Text 13"/>
          <p:cNvSpPr/>
          <p:nvPr/>
        </p:nvSpPr>
        <p:spPr>
          <a:xfrm>
            <a:off x="1314450" y="3008511"/>
            <a:ext cx="3997104"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Purpose</a:t>
            </a:r>
            <a:endParaRPr lang="en-US" sz="2025" dirty="0"/>
          </a:p>
        </p:txBody>
      </p:sp>
      <p:sp>
        <p:nvSpPr>
          <p:cNvPr id="16" name="Shape 14"/>
          <p:cNvSpPr/>
          <p:nvPr/>
        </p:nvSpPr>
        <p:spPr>
          <a:xfrm>
            <a:off x="5428357" y="2798961"/>
            <a:ext cx="4361557" cy="1083022"/>
          </a:xfrm>
          <a:prstGeom prst="rect">
            <a:avLst/>
          </a:prstGeom>
          <a:solidFill>
            <a:srgbClr val="FDF4F5"/>
          </a:solidFill>
          <a:ln/>
        </p:spPr>
        <p:txBody>
          <a:bodyPr/>
          <a:lstStyle/>
          <a:p>
            <a:endParaRPr lang="en-US"/>
          </a:p>
        </p:txBody>
      </p:sp>
      <p:sp>
        <p:nvSpPr>
          <p:cNvPr id="17" name="Shape 15"/>
          <p:cNvSpPr/>
          <p:nvPr/>
        </p:nvSpPr>
        <p:spPr>
          <a:xfrm>
            <a:off x="5428357" y="3872459"/>
            <a:ext cx="4361557" cy="9525"/>
          </a:xfrm>
          <a:prstGeom prst="rect">
            <a:avLst/>
          </a:prstGeom>
          <a:solidFill>
            <a:srgbClr val="E7E7E9"/>
          </a:solidFill>
          <a:ln/>
        </p:spPr>
        <p:txBody>
          <a:bodyPr/>
          <a:lstStyle/>
          <a:p>
            <a:endParaRPr lang="en-US"/>
          </a:p>
        </p:txBody>
      </p:sp>
      <p:sp>
        <p:nvSpPr>
          <p:cNvPr id="18" name="Text 16"/>
          <p:cNvSpPr/>
          <p:nvPr/>
        </p:nvSpPr>
        <p:spPr>
          <a:xfrm>
            <a:off x="5676007" y="3008511"/>
            <a:ext cx="3997104" cy="692497"/>
          </a:xfrm>
          <a:prstGeom prst="rect">
            <a:avLst/>
          </a:prstGeom>
          <a:noFill/>
          <a:ln/>
        </p:spPr>
        <p:txBody>
          <a:bodyPr wrap="square" lIns="25400" tIns="25400" rIns="25400" bIns="25400" rtlCol="0" anchor="ctr">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Purpose-built promotion</a:t>
            </a:r>
            <a:endParaRPr lang="en-US" sz="2025" dirty="0"/>
          </a:p>
        </p:txBody>
      </p:sp>
      <p:sp>
        <p:nvSpPr>
          <p:cNvPr id="19" name="Shape 17"/>
          <p:cNvSpPr/>
          <p:nvPr/>
        </p:nvSpPr>
        <p:spPr>
          <a:xfrm>
            <a:off x="9789914" y="3872459"/>
            <a:ext cx="4043660" cy="9525"/>
          </a:xfrm>
          <a:prstGeom prst="rect">
            <a:avLst/>
          </a:prstGeom>
          <a:solidFill>
            <a:srgbClr val="E7E7E9"/>
          </a:solidFill>
          <a:ln/>
        </p:spPr>
        <p:txBody>
          <a:bodyPr/>
          <a:lstStyle/>
          <a:p>
            <a:endParaRPr lang="en-US"/>
          </a:p>
        </p:txBody>
      </p:sp>
      <p:sp>
        <p:nvSpPr>
          <p:cNvPr id="20" name="Text 18"/>
          <p:cNvSpPr/>
          <p:nvPr/>
        </p:nvSpPr>
        <p:spPr>
          <a:xfrm>
            <a:off x="10037564" y="3008511"/>
            <a:ext cx="3669670" cy="692497"/>
          </a:xfrm>
          <a:prstGeom prst="rect">
            <a:avLst/>
          </a:prstGeom>
          <a:noFill/>
          <a:ln/>
        </p:spPr>
        <p:txBody>
          <a:bodyPr wrap="square" lIns="25400" tIns="25400" rIns="25400" bIns="25400" rtlCol="0" anchor="ctr">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App templating / rollout</a:t>
            </a:r>
            <a:endParaRPr lang="en-US" sz="2025" dirty="0"/>
          </a:p>
        </p:txBody>
      </p:sp>
      <p:sp>
        <p:nvSpPr>
          <p:cNvPr id="21" name="Shape 19"/>
          <p:cNvSpPr/>
          <p:nvPr/>
        </p:nvSpPr>
        <p:spPr>
          <a:xfrm>
            <a:off x="13833574" y="3872459"/>
            <a:ext cx="3387626" cy="9525"/>
          </a:xfrm>
          <a:prstGeom prst="rect">
            <a:avLst/>
          </a:prstGeom>
          <a:solidFill>
            <a:srgbClr val="E7E7E9"/>
          </a:solidFill>
          <a:ln/>
        </p:spPr>
        <p:txBody>
          <a:bodyPr/>
          <a:lstStyle/>
          <a:p>
            <a:endParaRPr lang="en-US"/>
          </a:p>
        </p:txBody>
      </p:sp>
      <p:sp>
        <p:nvSpPr>
          <p:cNvPr id="22" name="Text 20"/>
          <p:cNvSpPr/>
          <p:nvPr/>
        </p:nvSpPr>
        <p:spPr>
          <a:xfrm>
            <a:off x="14081224" y="3008511"/>
            <a:ext cx="2993955" cy="692497"/>
          </a:xfrm>
          <a:prstGeom prst="rect">
            <a:avLst/>
          </a:prstGeom>
          <a:noFill/>
          <a:ln/>
        </p:spPr>
        <p:txBody>
          <a:bodyPr wrap="square" lIns="25400" tIns="25400" rIns="25400" bIns="25400" rtlCol="0" anchor="ctr">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Flux-native promotion</a:t>
            </a:r>
            <a:endParaRPr lang="en-US" sz="2025" dirty="0"/>
          </a:p>
        </p:txBody>
      </p:sp>
      <p:sp>
        <p:nvSpPr>
          <p:cNvPr id="23" name="Shape 21"/>
          <p:cNvSpPr/>
          <p:nvPr/>
        </p:nvSpPr>
        <p:spPr>
          <a:xfrm>
            <a:off x="1066800" y="5036741"/>
            <a:ext cx="4361557" cy="9525"/>
          </a:xfrm>
          <a:prstGeom prst="rect">
            <a:avLst/>
          </a:prstGeom>
          <a:solidFill>
            <a:srgbClr val="E7E7E9"/>
          </a:solidFill>
          <a:ln/>
        </p:spPr>
        <p:txBody>
          <a:bodyPr/>
          <a:lstStyle/>
          <a:p>
            <a:endParaRPr lang="en-US"/>
          </a:p>
        </p:txBody>
      </p:sp>
      <p:sp>
        <p:nvSpPr>
          <p:cNvPr id="24" name="Text 22"/>
          <p:cNvSpPr/>
          <p:nvPr/>
        </p:nvSpPr>
        <p:spPr>
          <a:xfrm>
            <a:off x="1314450" y="4091534"/>
            <a:ext cx="3997104"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Freight tracking</a:t>
            </a:r>
            <a:endParaRPr lang="en-US" sz="2025" dirty="0"/>
          </a:p>
        </p:txBody>
      </p:sp>
      <p:sp>
        <p:nvSpPr>
          <p:cNvPr id="25" name="Shape 23"/>
          <p:cNvSpPr/>
          <p:nvPr/>
        </p:nvSpPr>
        <p:spPr>
          <a:xfrm>
            <a:off x="5428357" y="3881984"/>
            <a:ext cx="4361557" cy="1164283"/>
          </a:xfrm>
          <a:prstGeom prst="rect">
            <a:avLst/>
          </a:prstGeom>
          <a:solidFill>
            <a:srgbClr val="FDF4F5"/>
          </a:solidFill>
          <a:ln/>
        </p:spPr>
        <p:txBody>
          <a:bodyPr/>
          <a:lstStyle/>
          <a:p>
            <a:endParaRPr lang="en-US"/>
          </a:p>
        </p:txBody>
      </p:sp>
      <p:sp>
        <p:nvSpPr>
          <p:cNvPr id="26" name="Shape 24"/>
          <p:cNvSpPr/>
          <p:nvPr/>
        </p:nvSpPr>
        <p:spPr>
          <a:xfrm>
            <a:off x="5428357" y="5036741"/>
            <a:ext cx="4361557" cy="9525"/>
          </a:xfrm>
          <a:prstGeom prst="rect">
            <a:avLst/>
          </a:prstGeom>
          <a:solidFill>
            <a:srgbClr val="E7E7E9"/>
          </a:solidFill>
          <a:ln/>
        </p:spPr>
        <p:txBody>
          <a:bodyPr/>
          <a:lstStyle/>
          <a:p>
            <a:endParaRPr lang="en-US"/>
          </a:p>
        </p:txBody>
      </p:sp>
      <p:sp>
        <p:nvSpPr>
          <p:cNvPr id="27" name="Text 25"/>
          <p:cNvSpPr/>
          <p:nvPr/>
        </p:nvSpPr>
        <p:spPr>
          <a:xfrm>
            <a:off x="5676007" y="4091534"/>
            <a:ext cx="3997104"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native</a:t>
            </a:r>
            <a:endParaRPr lang="en-US" sz="2025" dirty="0"/>
          </a:p>
        </p:txBody>
      </p:sp>
      <p:sp>
        <p:nvSpPr>
          <p:cNvPr id="28" name="Shape 26"/>
          <p:cNvSpPr/>
          <p:nvPr/>
        </p:nvSpPr>
        <p:spPr>
          <a:xfrm>
            <a:off x="9789914" y="5036741"/>
            <a:ext cx="4043660" cy="9525"/>
          </a:xfrm>
          <a:prstGeom prst="rect">
            <a:avLst/>
          </a:prstGeom>
          <a:solidFill>
            <a:srgbClr val="E7E7E9"/>
          </a:solidFill>
          <a:ln/>
        </p:spPr>
        <p:txBody>
          <a:bodyPr/>
          <a:lstStyle/>
          <a:p>
            <a:endParaRPr lang="en-US"/>
          </a:p>
        </p:txBody>
      </p:sp>
      <p:sp>
        <p:nvSpPr>
          <p:cNvPr id="29" name="Text 27"/>
          <p:cNvSpPr/>
          <p:nvPr/>
        </p:nvSpPr>
        <p:spPr>
          <a:xfrm>
            <a:off x="10037564" y="4091534"/>
            <a:ext cx="3669670"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manual image updates</a:t>
            </a:r>
            <a:endParaRPr lang="en-US" sz="2025" dirty="0"/>
          </a:p>
        </p:txBody>
      </p:sp>
      <p:sp>
        <p:nvSpPr>
          <p:cNvPr id="30" name="Shape 28"/>
          <p:cNvSpPr/>
          <p:nvPr/>
        </p:nvSpPr>
        <p:spPr>
          <a:xfrm>
            <a:off x="13833574" y="5036741"/>
            <a:ext cx="3387626" cy="9525"/>
          </a:xfrm>
          <a:prstGeom prst="rect">
            <a:avLst/>
          </a:prstGeom>
          <a:solidFill>
            <a:srgbClr val="E7E7E9"/>
          </a:solidFill>
          <a:ln/>
        </p:spPr>
        <p:txBody>
          <a:bodyPr/>
          <a:lstStyle/>
          <a:p>
            <a:endParaRPr lang="en-US"/>
          </a:p>
        </p:txBody>
      </p:sp>
      <p:sp>
        <p:nvSpPr>
          <p:cNvPr id="31" name="Text 29"/>
          <p:cNvSpPr/>
          <p:nvPr/>
        </p:nvSpPr>
        <p:spPr>
          <a:xfrm>
            <a:off x="14081224" y="4091534"/>
            <a:ext cx="2993955"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via ImagePolicy</a:t>
            </a:r>
            <a:endParaRPr lang="en-US" sz="2025" dirty="0"/>
          </a:p>
        </p:txBody>
      </p:sp>
      <p:sp>
        <p:nvSpPr>
          <p:cNvPr id="32" name="Shape 30"/>
          <p:cNvSpPr/>
          <p:nvPr/>
        </p:nvSpPr>
        <p:spPr>
          <a:xfrm>
            <a:off x="1066800" y="6201024"/>
            <a:ext cx="4361557" cy="9525"/>
          </a:xfrm>
          <a:prstGeom prst="rect">
            <a:avLst/>
          </a:prstGeom>
          <a:solidFill>
            <a:srgbClr val="E7E7E9"/>
          </a:solidFill>
          <a:ln/>
        </p:spPr>
        <p:txBody>
          <a:bodyPr/>
          <a:lstStyle/>
          <a:p>
            <a:endParaRPr lang="en-US"/>
          </a:p>
        </p:txBody>
      </p:sp>
      <p:sp>
        <p:nvSpPr>
          <p:cNvPr id="33" name="Text 31"/>
          <p:cNvSpPr/>
          <p:nvPr/>
        </p:nvSpPr>
        <p:spPr>
          <a:xfrm>
            <a:off x="1314450" y="5255816"/>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Promotion gates</a:t>
            </a:r>
            <a:endParaRPr lang="en-US" sz="2025" dirty="0"/>
          </a:p>
        </p:txBody>
      </p:sp>
      <p:sp>
        <p:nvSpPr>
          <p:cNvPr id="34" name="Shape 32"/>
          <p:cNvSpPr/>
          <p:nvPr/>
        </p:nvSpPr>
        <p:spPr>
          <a:xfrm>
            <a:off x="5428357" y="5046266"/>
            <a:ext cx="4361557" cy="1164282"/>
          </a:xfrm>
          <a:prstGeom prst="rect">
            <a:avLst/>
          </a:prstGeom>
          <a:solidFill>
            <a:srgbClr val="FDF4F5"/>
          </a:solidFill>
          <a:ln/>
        </p:spPr>
        <p:txBody>
          <a:bodyPr/>
          <a:lstStyle/>
          <a:p>
            <a:endParaRPr lang="en-US"/>
          </a:p>
        </p:txBody>
      </p:sp>
      <p:sp>
        <p:nvSpPr>
          <p:cNvPr id="35" name="Shape 33"/>
          <p:cNvSpPr/>
          <p:nvPr/>
        </p:nvSpPr>
        <p:spPr>
          <a:xfrm>
            <a:off x="5428357" y="6201024"/>
            <a:ext cx="4361557" cy="9525"/>
          </a:xfrm>
          <a:prstGeom prst="rect">
            <a:avLst/>
          </a:prstGeom>
          <a:solidFill>
            <a:srgbClr val="E7E7E9"/>
          </a:solidFill>
          <a:ln/>
        </p:spPr>
        <p:txBody>
          <a:bodyPr/>
          <a:lstStyle/>
          <a:p>
            <a:endParaRPr lang="en-US"/>
          </a:p>
        </p:txBody>
      </p:sp>
      <p:sp>
        <p:nvSpPr>
          <p:cNvPr id="36" name="Text 34"/>
          <p:cNvSpPr/>
          <p:nvPr/>
        </p:nvSpPr>
        <p:spPr>
          <a:xfrm>
            <a:off x="5676007" y="5255816"/>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built-in (Analysis)</a:t>
            </a:r>
            <a:endParaRPr lang="en-US" sz="2025" dirty="0"/>
          </a:p>
        </p:txBody>
      </p:sp>
      <p:sp>
        <p:nvSpPr>
          <p:cNvPr id="37" name="Shape 35"/>
          <p:cNvSpPr/>
          <p:nvPr/>
        </p:nvSpPr>
        <p:spPr>
          <a:xfrm>
            <a:off x="9789914" y="6201024"/>
            <a:ext cx="4043660" cy="9525"/>
          </a:xfrm>
          <a:prstGeom prst="rect">
            <a:avLst/>
          </a:prstGeom>
          <a:solidFill>
            <a:srgbClr val="E7E7E9"/>
          </a:solidFill>
          <a:ln/>
        </p:spPr>
        <p:txBody>
          <a:bodyPr/>
          <a:lstStyle/>
          <a:p>
            <a:endParaRPr lang="en-US"/>
          </a:p>
        </p:txBody>
      </p:sp>
      <p:sp>
        <p:nvSpPr>
          <p:cNvPr id="38" name="Text 36"/>
          <p:cNvSpPr/>
          <p:nvPr/>
        </p:nvSpPr>
        <p:spPr>
          <a:xfrm>
            <a:off x="10037564" y="5255816"/>
            <a:ext cx="3669670"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external scripts</a:t>
            </a:r>
            <a:endParaRPr lang="en-US" sz="2025" dirty="0"/>
          </a:p>
        </p:txBody>
      </p:sp>
      <p:sp>
        <p:nvSpPr>
          <p:cNvPr id="39" name="Shape 37"/>
          <p:cNvSpPr/>
          <p:nvPr/>
        </p:nvSpPr>
        <p:spPr>
          <a:xfrm>
            <a:off x="13833574" y="6201024"/>
            <a:ext cx="3387626" cy="9525"/>
          </a:xfrm>
          <a:prstGeom prst="rect">
            <a:avLst/>
          </a:prstGeom>
          <a:solidFill>
            <a:srgbClr val="E7E7E9"/>
          </a:solidFill>
          <a:ln/>
        </p:spPr>
        <p:txBody>
          <a:bodyPr/>
          <a:lstStyle/>
          <a:p>
            <a:endParaRPr lang="en-US"/>
          </a:p>
        </p:txBody>
      </p:sp>
      <p:sp>
        <p:nvSpPr>
          <p:cNvPr id="40" name="Text 38"/>
          <p:cNvSpPr/>
          <p:nvPr/>
        </p:nvSpPr>
        <p:spPr>
          <a:xfrm>
            <a:off x="14081224" y="5255816"/>
            <a:ext cx="2993955"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limited</a:t>
            </a:r>
            <a:endParaRPr lang="en-US" sz="2025" dirty="0"/>
          </a:p>
        </p:txBody>
      </p:sp>
      <p:sp>
        <p:nvSpPr>
          <p:cNvPr id="41" name="Shape 39"/>
          <p:cNvSpPr/>
          <p:nvPr/>
        </p:nvSpPr>
        <p:spPr>
          <a:xfrm>
            <a:off x="1066800" y="7284046"/>
            <a:ext cx="4361557" cy="9525"/>
          </a:xfrm>
          <a:prstGeom prst="rect">
            <a:avLst/>
          </a:prstGeom>
          <a:solidFill>
            <a:srgbClr val="E7E7E9"/>
          </a:solidFill>
          <a:ln/>
        </p:spPr>
        <p:txBody>
          <a:bodyPr/>
          <a:lstStyle/>
          <a:p>
            <a:endParaRPr lang="en-US"/>
          </a:p>
        </p:txBody>
      </p:sp>
      <p:sp>
        <p:nvSpPr>
          <p:cNvPr id="42" name="Text 40"/>
          <p:cNvSpPr/>
          <p:nvPr/>
        </p:nvSpPr>
        <p:spPr>
          <a:xfrm>
            <a:off x="1314450" y="6420099"/>
            <a:ext cx="3997104"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Manual approvals</a:t>
            </a:r>
            <a:endParaRPr lang="en-US" sz="2025" dirty="0"/>
          </a:p>
        </p:txBody>
      </p:sp>
      <p:sp>
        <p:nvSpPr>
          <p:cNvPr id="43" name="Shape 41"/>
          <p:cNvSpPr/>
          <p:nvPr/>
        </p:nvSpPr>
        <p:spPr>
          <a:xfrm>
            <a:off x="5428357" y="6210549"/>
            <a:ext cx="4361557" cy="1083022"/>
          </a:xfrm>
          <a:prstGeom prst="rect">
            <a:avLst/>
          </a:prstGeom>
          <a:solidFill>
            <a:srgbClr val="FDF4F5"/>
          </a:solidFill>
          <a:ln/>
        </p:spPr>
        <p:txBody>
          <a:bodyPr/>
          <a:lstStyle/>
          <a:p>
            <a:endParaRPr lang="en-US"/>
          </a:p>
        </p:txBody>
      </p:sp>
      <p:sp>
        <p:nvSpPr>
          <p:cNvPr id="44" name="Shape 42"/>
          <p:cNvSpPr/>
          <p:nvPr/>
        </p:nvSpPr>
        <p:spPr>
          <a:xfrm>
            <a:off x="5428357" y="7284046"/>
            <a:ext cx="4361557" cy="9525"/>
          </a:xfrm>
          <a:prstGeom prst="rect">
            <a:avLst/>
          </a:prstGeom>
          <a:solidFill>
            <a:srgbClr val="E7E7E9"/>
          </a:solidFill>
          <a:ln/>
        </p:spPr>
        <p:txBody>
          <a:bodyPr/>
          <a:lstStyle/>
          <a:p>
            <a:endParaRPr lang="en-US"/>
          </a:p>
        </p:txBody>
      </p:sp>
      <p:sp>
        <p:nvSpPr>
          <p:cNvPr id="45" name="Text 43"/>
          <p:cNvSpPr/>
          <p:nvPr/>
        </p:nvSpPr>
        <p:spPr>
          <a:xfrm>
            <a:off x="5676007" y="6420099"/>
            <a:ext cx="3997104"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UI + CLI + K8s RBAC</a:t>
            </a:r>
            <a:endParaRPr lang="en-US" sz="2025" dirty="0"/>
          </a:p>
        </p:txBody>
      </p:sp>
      <p:sp>
        <p:nvSpPr>
          <p:cNvPr id="46" name="Shape 44"/>
          <p:cNvSpPr/>
          <p:nvPr/>
        </p:nvSpPr>
        <p:spPr>
          <a:xfrm>
            <a:off x="9789914" y="7284046"/>
            <a:ext cx="4043660" cy="9525"/>
          </a:xfrm>
          <a:prstGeom prst="rect">
            <a:avLst/>
          </a:prstGeom>
          <a:solidFill>
            <a:srgbClr val="E7E7E9"/>
          </a:solidFill>
          <a:ln/>
        </p:spPr>
        <p:txBody>
          <a:bodyPr/>
          <a:lstStyle/>
          <a:p>
            <a:endParaRPr lang="en-US"/>
          </a:p>
        </p:txBody>
      </p:sp>
      <p:sp>
        <p:nvSpPr>
          <p:cNvPr id="47" name="Text 45"/>
          <p:cNvSpPr/>
          <p:nvPr/>
        </p:nvSpPr>
        <p:spPr>
          <a:xfrm>
            <a:off x="10037564" y="6420099"/>
            <a:ext cx="3669670"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GitOps PR only</a:t>
            </a:r>
            <a:endParaRPr lang="en-US" sz="2025" dirty="0"/>
          </a:p>
        </p:txBody>
      </p:sp>
      <p:sp>
        <p:nvSpPr>
          <p:cNvPr id="48" name="Shape 46"/>
          <p:cNvSpPr/>
          <p:nvPr/>
        </p:nvSpPr>
        <p:spPr>
          <a:xfrm>
            <a:off x="13833574" y="7284046"/>
            <a:ext cx="3387626" cy="9525"/>
          </a:xfrm>
          <a:prstGeom prst="rect">
            <a:avLst/>
          </a:prstGeom>
          <a:solidFill>
            <a:srgbClr val="E7E7E9"/>
          </a:solidFill>
          <a:ln/>
        </p:spPr>
        <p:txBody>
          <a:bodyPr/>
          <a:lstStyle/>
          <a:p>
            <a:endParaRPr lang="en-US"/>
          </a:p>
        </p:txBody>
      </p:sp>
      <p:sp>
        <p:nvSpPr>
          <p:cNvPr id="49" name="Text 47"/>
          <p:cNvSpPr/>
          <p:nvPr/>
        </p:nvSpPr>
        <p:spPr>
          <a:xfrm>
            <a:off x="14081224" y="6420099"/>
            <a:ext cx="2993955"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GitOps PR only</a:t>
            </a:r>
            <a:endParaRPr lang="en-US" sz="2025" dirty="0"/>
          </a:p>
        </p:txBody>
      </p:sp>
      <p:sp>
        <p:nvSpPr>
          <p:cNvPr id="50" name="Shape 48"/>
          <p:cNvSpPr/>
          <p:nvPr/>
        </p:nvSpPr>
        <p:spPr>
          <a:xfrm>
            <a:off x="1066800" y="8448329"/>
            <a:ext cx="4361557" cy="9525"/>
          </a:xfrm>
          <a:prstGeom prst="rect">
            <a:avLst/>
          </a:prstGeom>
          <a:solidFill>
            <a:srgbClr val="E7E7E9"/>
          </a:solidFill>
          <a:ln/>
        </p:spPr>
        <p:txBody>
          <a:bodyPr/>
          <a:lstStyle/>
          <a:p>
            <a:endParaRPr lang="en-US"/>
          </a:p>
        </p:txBody>
      </p:sp>
      <p:sp>
        <p:nvSpPr>
          <p:cNvPr id="51" name="Text 49"/>
          <p:cNvSpPr/>
          <p:nvPr/>
        </p:nvSpPr>
        <p:spPr>
          <a:xfrm>
            <a:off x="1314450" y="7503121"/>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Multi-step pipeline</a:t>
            </a:r>
            <a:endParaRPr lang="en-US" sz="2025" dirty="0"/>
          </a:p>
        </p:txBody>
      </p:sp>
      <p:sp>
        <p:nvSpPr>
          <p:cNvPr id="52" name="Shape 50"/>
          <p:cNvSpPr/>
          <p:nvPr/>
        </p:nvSpPr>
        <p:spPr>
          <a:xfrm>
            <a:off x="5428357" y="7293571"/>
            <a:ext cx="4361557" cy="1164282"/>
          </a:xfrm>
          <a:prstGeom prst="rect">
            <a:avLst/>
          </a:prstGeom>
          <a:solidFill>
            <a:srgbClr val="FDF4F5"/>
          </a:solidFill>
          <a:ln/>
        </p:spPr>
        <p:txBody>
          <a:bodyPr/>
          <a:lstStyle/>
          <a:p>
            <a:endParaRPr lang="en-US"/>
          </a:p>
        </p:txBody>
      </p:sp>
      <p:sp>
        <p:nvSpPr>
          <p:cNvPr id="53" name="Shape 51"/>
          <p:cNvSpPr/>
          <p:nvPr/>
        </p:nvSpPr>
        <p:spPr>
          <a:xfrm>
            <a:off x="5428357" y="8448329"/>
            <a:ext cx="4361557" cy="9525"/>
          </a:xfrm>
          <a:prstGeom prst="rect">
            <a:avLst/>
          </a:prstGeom>
          <a:solidFill>
            <a:srgbClr val="E7E7E9"/>
          </a:solidFill>
          <a:ln/>
        </p:spPr>
        <p:txBody>
          <a:bodyPr/>
          <a:lstStyle/>
          <a:p>
            <a:endParaRPr lang="en-US"/>
          </a:p>
        </p:txBody>
      </p:sp>
      <p:sp>
        <p:nvSpPr>
          <p:cNvPr id="54" name="Text 52"/>
          <p:cNvSpPr/>
          <p:nvPr/>
        </p:nvSpPr>
        <p:spPr>
          <a:xfrm>
            <a:off x="5676007" y="7503121"/>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PromotionTask</a:t>
            </a:r>
            <a:endParaRPr lang="en-US" sz="2025" dirty="0"/>
          </a:p>
        </p:txBody>
      </p:sp>
      <p:sp>
        <p:nvSpPr>
          <p:cNvPr id="55" name="Shape 53"/>
          <p:cNvSpPr/>
          <p:nvPr/>
        </p:nvSpPr>
        <p:spPr>
          <a:xfrm>
            <a:off x="9789914" y="8448329"/>
            <a:ext cx="4043660" cy="9525"/>
          </a:xfrm>
          <a:prstGeom prst="rect">
            <a:avLst/>
          </a:prstGeom>
          <a:solidFill>
            <a:srgbClr val="E7E7E9"/>
          </a:solidFill>
          <a:ln/>
        </p:spPr>
        <p:txBody>
          <a:bodyPr/>
          <a:lstStyle/>
          <a:p>
            <a:endParaRPr lang="en-US"/>
          </a:p>
        </p:txBody>
      </p:sp>
      <p:sp>
        <p:nvSpPr>
          <p:cNvPr id="56" name="Text 54"/>
          <p:cNvSpPr/>
          <p:nvPr/>
        </p:nvSpPr>
        <p:spPr>
          <a:xfrm>
            <a:off x="10037564" y="7503121"/>
            <a:ext cx="3669670"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a:t>
            </a:r>
            <a:endParaRPr lang="en-US" sz="2025" dirty="0"/>
          </a:p>
        </p:txBody>
      </p:sp>
      <p:sp>
        <p:nvSpPr>
          <p:cNvPr id="57" name="Shape 55"/>
          <p:cNvSpPr/>
          <p:nvPr/>
        </p:nvSpPr>
        <p:spPr>
          <a:xfrm>
            <a:off x="13833574" y="8448329"/>
            <a:ext cx="3387626" cy="9525"/>
          </a:xfrm>
          <a:prstGeom prst="rect">
            <a:avLst/>
          </a:prstGeom>
          <a:solidFill>
            <a:srgbClr val="E7E7E9"/>
          </a:solidFill>
          <a:ln/>
        </p:spPr>
        <p:txBody>
          <a:bodyPr/>
          <a:lstStyle/>
          <a:p>
            <a:endParaRPr lang="en-US"/>
          </a:p>
        </p:txBody>
      </p:sp>
      <p:sp>
        <p:nvSpPr>
          <p:cNvPr id="58" name="Text 56"/>
          <p:cNvSpPr/>
          <p:nvPr/>
        </p:nvSpPr>
        <p:spPr>
          <a:xfrm>
            <a:off x="14081224" y="7503121"/>
            <a:ext cx="2993955"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in progress</a:t>
            </a:r>
            <a:endParaRPr lang="en-US" sz="2025" dirty="0"/>
          </a:p>
        </p:txBody>
      </p:sp>
      <p:sp>
        <p:nvSpPr>
          <p:cNvPr id="59" name="Shape 57"/>
          <p:cNvSpPr/>
          <p:nvPr/>
        </p:nvSpPr>
        <p:spPr>
          <a:xfrm>
            <a:off x="1066800" y="9531648"/>
            <a:ext cx="4361557" cy="9525"/>
          </a:xfrm>
          <a:prstGeom prst="rect">
            <a:avLst/>
          </a:prstGeom>
          <a:solidFill>
            <a:srgbClr val="E7E7E9"/>
          </a:solidFill>
          <a:ln/>
        </p:spPr>
        <p:txBody>
          <a:bodyPr/>
          <a:lstStyle/>
          <a:p>
            <a:endParaRPr lang="en-US"/>
          </a:p>
        </p:txBody>
      </p:sp>
      <p:sp>
        <p:nvSpPr>
          <p:cNvPr id="60" name="Text 58"/>
          <p:cNvSpPr/>
          <p:nvPr/>
        </p:nvSpPr>
        <p:spPr>
          <a:xfrm>
            <a:off x="1314450" y="8667404"/>
            <a:ext cx="3997104"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GitOps agents</a:t>
            </a:r>
            <a:endParaRPr lang="en-US" sz="2025" dirty="0"/>
          </a:p>
        </p:txBody>
      </p:sp>
      <p:sp>
        <p:nvSpPr>
          <p:cNvPr id="61" name="Shape 59"/>
          <p:cNvSpPr/>
          <p:nvPr/>
        </p:nvSpPr>
        <p:spPr>
          <a:xfrm>
            <a:off x="5428357" y="8457854"/>
            <a:ext cx="4361557" cy="1083320"/>
          </a:xfrm>
          <a:prstGeom prst="rect">
            <a:avLst/>
          </a:prstGeom>
          <a:solidFill>
            <a:srgbClr val="FDF4F5"/>
          </a:solidFill>
          <a:ln/>
        </p:spPr>
        <p:txBody>
          <a:bodyPr/>
          <a:lstStyle/>
          <a:p>
            <a:endParaRPr lang="en-US"/>
          </a:p>
        </p:txBody>
      </p:sp>
      <p:sp>
        <p:nvSpPr>
          <p:cNvPr id="62" name="Shape 60"/>
          <p:cNvSpPr/>
          <p:nvPr/>
        </p:nvSpPr>
        <p:spPr>
          <a:xfrm>
            <a:off x="5428357" y="9531648"/>
            <a:ext cx="4361557" cy="9525"/>
          </a:xfrm>
          <a:prstGeom prst="rect">
            <a:avLst/>
          </a:prstGeom>
          <a:solidFill>
            <a:srgbClr val="E7E7E9"/>
          </a:solidFill>
          <a:ln/>
        </p:spPr>
        <p:txBody>
          <a:bodyPr/>
          <a:lstStyle/>
          <a:p>
            <a:endParaRPr lang="en-US"/>
          </a:p>
        </p:txBody>
      </p:sp>
      <p:sp>
        <p:nvSpPr>
          <p:cNvPr id="63" name="Text 61"/>
          <p:cNvSpPr/>
          <p:nvPr/>
        </p:nvSpPr>
        <p:spPr>
          <a:xfrm>
            <a:off x="5676007" y="8667404"/>
            <a:ext cx="3997104"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Argo CD, Flux, any</a:t>
            </a:r>
            <a:endParaRPr lang="en-US" sz="2025" dirty="0"/>
          </a:p>
        </p:txBody>
      </p:sp>
      <p:sp>
        <p:nvSpPr>
          <p:cNvPr id="64" name="Shape 62"/>
          <p:cNvSpPr/>
          <p:nvPr/>
        </p:nvSpPr>
        <p:spPr>
          <a:xfrm>
            <a:off x="9789914" y="9531648"/>
            <a:ext cx="4043660" cy="9525"/>
          </a:xfrm>
          <a:prstGeom prst="rect">
            <a:avLst/>
          </a:prstGeom>
          <a:solidFill>
            <a:srgbClr val="E7E7E9"/>
          </a:solidFill>
          <a:ln/>
        </p:spPr>
        <p:txBody>
          <a:bodyPr/>
          <a:lstStyle/>
          <a:p>
            <a:endParaRPr lang="en-US"/>
          </a:p>
        </p:txBody>
      </p:sp>
      <p:sp>
        <p:nvSpPr>
          <p:cNvPr id="65" name="Text 63"/>
          <p:cNvSpPr/>
          <p:nvPr/>
        </p:nvSpPr>
        <p:spPr>
          <a:xfrm>
            <a:off x="10037564" y="8667404"/>
            <a:ext cx="3669670"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Argo CD only</a:t>
            </a:r>
            <a:endParaRPr lang="en-US" sz="2025" dirty="0"/>
          </a:p>
        </p:txBody>
      </p:sp>
      <p:sp>
        <p:nvSpPr>
          <p:cNvPr id="66" name="Shape 64"/>
          <p:cNvSpPr/>
          <p:nvPr/>
        </p:nvSpPr>
        <p:spPr>
          <a:xfrm>
            <a:off x="13833574" y="9531648"/>
            <a:ext cx="3387626" cy="9525"/>
          </a:xfrm>
          <a:prstGeom prst="rect">
            <a:avLst/>
          </a:prstGeom>
          <a:solidFill>
            <a:srgbClr val="E7E7E9"/>
          </a:solidFill>
          <a:ln/>
        </p:spPr>
        <p:txBody>
          <a:bodyPr/>
          <a:lstStyle/>
          <a:p>
            <a:endParaRPr lang="en-US"/>
          </a:p>
        </p:txBody>
      </p:sp>
      <p:sp>
        <p:nvSpPr>
          <p:cNvPr id="67" name="Text 65"/>
          <p:cNvSpPr/>
          <p:nvPr/>
        </p:nvSpPr>
        <p:spPr>
          <a:xfrm>
            <a:off x="14081224" y="8667404"/>
            <a:ext cx="2993955"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Flux only</a:t>
            </a:r>
            <a:endParaRPr lang="en-US" sz="2025" dirty="0"/>
          </a:p>
        </p:txBody>
      </p:sp>
      <p:sp>
        <p:nvSpPr>
          <p:cNvPr id="68" name="Shape 66"/>
          <p:cNvSpPr/>
          <p:nvPr/>
        </p:nvSpPr>
        <p:spPr>
          <a:xfrm>
            <a:off x="1066800" y="9439275"/>
            <a:ext cx="16154400" cy="9525"/>
          </a:xfrm>
          <a:prstGeom prst="rect">
            <a:avLst/>
          </a:prstGeom>
          <a:solidFill>
            <a:srgbClr val="E7E7E9"/>
          </a:solidFill>
          <a:ln/>
        </p:spPr>
        <p:txBody>
          <a:bodyPr/>
          <a:lstStyle/>
          <a:p>
            <a:endParaRPr lang="en-US"/>
          </a:p>
        </p:txBody>
      </p:sp>
      <p:sp>
        <p:nvSpPr>
          <p:cNvPr id="69" name="Text 6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70" name="Text 6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71" name="Text 6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15</a:t>
            </a:r>
            <a:endParaRPr lang="en-US" sz="1800" dirty="0"/>
          </a:p>
        </p:txBody>
      </p:sp>
      <p:pic>
        <p:nvPicPr>
          <p:cNvPr id="72" name="Image 0" descr="preencoded.png">
            <a:extLst>
              <a:ext uri="{FF2B5EF4-FFF2-40B4-BE49-F238E27FC236}">
                <a16:creationId xmlns:a16="http://schemas.microsoft.com/office/drawing/2014/main" id="{29A71EC3-AAA6-AC7F-A5B4-552397810476}"/>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Google Shape;220;p22" descr="image.png">
            <a:extLst>
              <a:ext uri="{FF2B5EF4-FFF2-40B4-BE49-F238E27FC236}">
                <a16:creationId xmlns:a16="http://schemas.microsoft.com/office/drawing/2014/main" id="{121A6B7B-5AAC-12D7-8DD8-22B3F2EB43E5}"/>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4" name="Text 2"/>
          <p:cNvSpPr/>
          <p:nvPr/>
        </p:nvSpPr>
        <p:spPr>
          <a:xfrm>
            <a:off x="1566714" y="819151"/>
            <a:ext cx="2334816"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KEY TAKEAWAYS</a:t>
            </a:r>
            <a:endParaRPr lang="en-US" sz="1800" dirty="0"/>
          </a:p>
        </p:txBody>
      </p:sp>
      <p:sp>
        <p:nvSpPr>
          <p:cNvPr id="5" name="Text 3"/>
          <p:cNvSpPr/>
          <p:nvPr/>
        </p:nvSpPr>
        <p:spPr>
          <a:xfrm>
            <a:off x="1066800" y="1352978"/>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Four things to take home</a:t>
            </a:r>
            <a:endParaRPr lang="en-US" sz="4950" dirty="0"/>
          </a:p>
        </p:txBody>
      </p:sp>
      <p:sp>
        <p:nvSpPr>
          <p:cNvPr id="6" name="Text 4"/>
          <p:cNvSpPr/>
          <p:nvPr/>
        </p:nvSpPr>
        <p:spPr>
          <a:xfrm>
            <a:off x="1066800" y="4189513"/>
            <a:ext cx="746820"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01</a:t>
            </a:r>
            <a:endParaRPr lang="en-US" sz="4800" dirty="0"/>
          </a:p>
        </p:txBody>
      </p:sp>
      <p:sp>
        <p:nvSpPr>
          <p:cNvPr id="7" name="Text 5"/>
          <p:cNvSpPr/>
          <p:nvPr/>
        </p:nvSpPr>
        <p:spPr>
          <a:xfrm>
            <a:off x="2004120" y="4246663"/>
            <a:ext cx="7079376"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Deployment ≠ promotion</a:t>
            </a:r>
            <a:endParaRPr lang="en-US" sz="2550" dirty="0"/>
          </a:p>
        </p:txBody>
      </p:sp>
      <p:sp>
        <p:nvSpPr>
          <p:cNvPr id="8" name="Text 6"/>
          <p:cNvSpPr/>
          <p:nvPr/>
        </p:nvSpPr>
        <p:spPr>
          <a:xfrm>
            <a:off x="2004120" y="4751488"/>
            <a:ext cx="7079376"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GitOps gives you deployment. Kargo gives you promotion. They are complementary.</a:t>
            </a:r>
            <a:endParaRPr lang="en-US" sz="1875" dirty="0"/>
          </a:p>
        </p:txBody>
      </p:sp>
      <p:sp>
        <p:nvSpPr>
          <p:cNvPr id="9" name="Text 7"/>
          <p:cNvSpPr/>
          <p:nvPr/>
        </p:nvSpPr>
        <p:spPr>
          <a:xfrm>
            <a:off x="9410700" y="4189513"/>
            <a:ext cx="833438"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02</a:t>
            </a:r>
            <a:endParaRPr lang="en-US" sz="4800" dirty="0"/>
          </a:p>
        </p:txBody>
      </p:sp>
      <p:sp>
        <p:nvSpPr>
          <p:cNvPr id="10" name="Text 8"/>
          <p:cNvSpPr/>
          <p:nvPr/>
        </p:nvSpPr>
        <p:spPr>
          <a:xfrm>
            <a:off x="10434638" y="4246663"/>
            <a:ext cx="6990159"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Digests, not tags</a:t>
            </a:r>
            <a:endParaRPr lang="en-US" sz="2550" dirty="0"/>
          </a:p>
        </p:txBody>
      </p:sp>
      <p:sp>
        <p:nvSpPr>
          <p:cNvPr id="11" name="Text 9"/>
          <p:cNvSpPr/>
          <p:nvPr/>
        </p:nvSpPr>
        <p:spPr>
          <a:xfrm>
            <a:off x="10434638" y="4751488"/>
            <a:ext cx="6990159"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Immutability is the foundation of safe promotion — deploy exactly what you tested.</a:t>
            </a:r>
            <a:endParaRPr lang="en-US" sz="1875" dirty="0"/>
          </a:p>
        </p:txBody>
      </p:sp>
      <p:sp>
        <p:nvSpPr>
          <p:cNvPr id="12" name="Text 10"/>
          <p:cNvSpPr/>
          <p:nvPr/>
        </p:nvSpPr>
        <p:spPr>
          <a:xfrm>
            <a:off x="1066800" y="5703988"/>
            <a:ext cx="841921"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03</a:t>
            </a:r>
            <a:endParaRPr lang="en-US" sz="4800" dirty="0"/>
          </a:p>
        </p:txBody>
      </p:sp>
      <p:sp>
        <p:nvSpPr>
          <p:cNvPr id="13" name="Text 11"/>
          <p:cNvSpPr/>
          <p:nvPr/>
        </p:nvSpPr>
        <p:spPr>
          <a:xfrm>
            <a:off x="2099221" y="5761138"/>
            <a:ext cx="6981422"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Encode gates &amp; approvals</a:t>
            </a:r>
            <a:endParaRPr lang="en-US" sz="2550" dirty="0"/>
          </a:p>
        </p:txBody>
      </p:sp>
      <p:sp>
        <p:nvSpPr>
          <p:cNvPr id="14" name="Text 12"/>
          <p:cNvSpPr/>
          <p:nvPr/>
        </p:nvSpPr>
        <p:spPr>
          <a:xfrm>
            <a:off x="2099221" y="6265963"/>
            <a:ext cx="6981422"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Gates, approvals and who may promote live in tooling and RBAC. Not in Slack, not in people's heads.</a:t>
            </a:r>
            <a:endParaRPr lang="en-US" sz="1875" dirty="0"/>
          </a:p>
        </p:txBody>
      </p:sp>
      <p:sp>
        <p:nvSpPr>
          <p:cNvPr id="15" name="Text 13"/>
          <p:cNvSpPr/>
          <p:nvPr/>
        </p:nvSpPr>
        <p:spPr>
          <a:xfrm>
            <a:off x="9410700" y="5703988"/>
            <a:ext cx="859036"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04</a:t>
            </a:r>
            <a:endParaRPr lang="en-US" sz="4800" dirty="0"/>
          </a:p>
        </p:txBody>
      </p:sp>
      <p:sp>
        <p:nvSpPr>
          <p:cNvPr id="16" name="Text 14"/>
          <p:cNvSpPr/>
          <p:nvPr/>
        </p:nvSpPr>
        <p:spPr>
          <a:xfrm>
            <a:off x="10460236" y="5761138"/>
            <a:ext cx="6963793"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Pipelines as CRDs</a:t>
            </a:r>
            <a:endParaRPr lang="en-US" sz="2550" dirty="0"/>
          </a:p>
        </p:txBody>
      </p:sp>
      <p:sp>
        <p:nvSpPr>
          <p:cNvPr id="17" name="Text 15"/>
          <p:cNvSpPr/>
          <p:nvPr/>
        </p:nvSpPr>
        <p:spPr>
          <a:xfrm>
            <a:off x="10460236" y="6265963"/>
            <a:ext cx="6963793"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Kargo's CRD model keeps your pipeline version-controlled, auditable and GitOps-friendly.</a:t>
            </a:r>
            <a:endParaRPr lang="en-US" sz="1875" dirty="0"/>
          </a:p>
        </p:txBody>
      </p:sp>
      <p:sp>
        <p:nvSpPr>
          <p:cNvPr id="18" name="Shape 16"/>
          <p:cNvSpPr/>
          <p:nvPr/>
        </p:nvSpPr>
        <p:spPr>
          <a:xfrm>
            <a:off x="1066800" y="9439275"/>
            <a:ext cx="16154400" cy="9525"/>
          </a:xfrm>
          <a:prstGeom prst="rect">
            <a:avLst/>
          </a:prstGeom>
          <a:solidFill>
            <a:srgbClr val="E7E7E9"/>
          </a:solidFill>
          <a:ln/>
        </p:spPr>
        <p:txBody>
          <a:bodyPr/>
          <a:lstStyle/>
          <a:p>
            <a:endParaRPr lang="en-US"/>
          </a:p>
        </p:txBody>
      </p:sp>
      <p:sp>
        <p:nvSpPr>
          <p:cNvPr id="19" name="Text 1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0" name="Text 1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21" name="Text 1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16</a:t>
            </a:r>
            <a:endParaRPr lang="en-US" sz="1800" dirty="0"/>
          </a:p>
        </p:txBody>
      </p:sp>
      <p:pic>
        <p:nvPicPr>
          <p:cNvPr id="22" name="Image 0" descr="preencoded.png">
            <a:extLst>
              <a:ext uri="{FF2B5EF4-FFF2-40B4-BE49-F238E27FC236}">
                <a16:creationId xmlns:a16="http://schemas.microsoft.com/office/drawing/2014/main" id="{414E12F2-EDBA-5915-1EA5-89DF97B22049}"/>
              </a:ext>
            </a:extLst>
          </p:cNvPr>
          <p:cNvPicPr>
            <a:picLocks noChangeAspect="1"/>
          </p:cNvPicPr>
          <p:nvPr/>
        </p:nvPicPr>
        <p:blipFill>
          <a:blip r:embed="rId4"/>
          <a:stretch>
            <a:fillRect/>
          </a:stretch>
        </p:blipFill>
        <p:spPr>
          <a:xfrm>
            <a:off x="15769158" y="366712"/>
            <a:ext cx="1904256" cy="590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16" name="Google Shape;94;p14" descr="image.png">
            <a:extLst>
              <a:ext uri="{FF2B5EF4-FFF2-40B4-BE49-F238E27FC236}">
                <a16:creationId xmlns:a16="http://schemas.microsoft.com/office/drawing/2014/main" id="{F802BD50-924F-DB9E-43E0-CE9964EE31F6}"/>
              </a:ext>
            </a:extLst>
          </p:cNvPr>
          <p:cNvPicPr preferRelativeResize="0"/>
          <p:nvPr/>
        </p:nvPicPr>
        <p:blipFill rotWithShape="1">
          <a:blip r:embed="rId3"/>
          <a:srcRect/>
          <a:stretch/>
        </p:blipFill>
        <p:spPr>
          <a:xfrm>
            <a:off x="0" y="0"/>
            <a:ext cx="18288000" cy="10287000"/>
          </a:xfrm>
          <a:prstGeom prst="rect">
            <a:avLst/>
          </a:prstGeom>
        </p:spPr>
      </p:pic>
      <p:pic>
        <p:nvPicPr>
          <p:cNvPr id="27" name="Image 0" descr="preencoded.png">
            <a:extLst>
              <a:ext uri="{FF2B5EF4-FFF2-40B4-BE49-F238E27FC236}">
                <a16:creationId xmlns:a16="http://schemas.microsoft.com/office/drawing/2014/main" id="{6EF66B5F-E387-4C51-4372-8E45DA27E29F}"/>
              </a:ext>
            </a:extLst>
          </p:cNvPr>
          <p:cNvPicPr>
            <a:picLocks noChangeAspect="1"/>
          </p:cNvPicPr>
          <p:nvPr/>
        </p:nvPicPr>
        <p:blipFill>
          <a:blip r:embed="rId4"/>
          <a:stretch>
            <a:fillRect/>
          </a:stretch>
        </p:blipFill>
        <p:spPr>
          <a:xfrm>
            <a:off x="15769158" y="366712"/>
            <a:ext cx="1904256" cy="590550"/>
          </a:xfrm>
          <a:prstGeom prst="rect">
            <a:avLst/>
          </a:prstGeom>
        </p:spPr>
      </p:pic>
      <p:sp>
        <p:nvSpPr>
          <p:cNvPr id="28" name="Freeform 8">
            <a:extLst>
              <a:ext uri="{FF2B5EF4-FFF2-40B4-BE49-F238E27FC236}">
                <a16:creationId xmlns:a16="http://schemas.microsoft.com/office/drawing/2014/main" id="{6970D641-1CEC-D15A-6C02-AD54A188A17B}"/>
              </a:ext>
            </a:extLst>
          </p:cNvPr>
          <p:cNvSpPr/>
          <p:nvPr/>
        </p:nvSpPr>
        <p:spPr>
          <a:xfrm>
            <a:off x="556823" y="1916430"/>
            <a:ext cx="5090000" cy="6454140"/>
          </a:xfrm>
          <a:custGeom>
            <a:avLst/>
            <a:gdLst/>
            <a:ahLst/>
            <a:cxnLst/>
            <a:rect l="l" t="t" r="r" b="b"/>
            <a:pathLst>
              <a:path w="3994632" h="3830328">
                <a:moveTo>
                  <a:pt x="0" y="0"/>
                </a:moveTo>
                <a:lnTo>
                  <a:pt x="3994632" y="0"/>
                </a:lnTo>
                <a:lnTo>
                  <a:pt x="3994632" y="3830328"/>
                </a:lnTo>
                <a:lnTo>
                  <a:pt x="0" y="3830328"/>
                </a:lnTo>
                <a:lnTo>
                  <a:pt x="0" y="0"/>
                </a:lnTo>
                <a:close/>
              </a:path>
            </a:pathLst>
          </a:custGeom>
          <a:blipFill>
            <a:blip r:embed="rId5"/>
            <a:stretch>
              <a:fillRect/>
            </a:stretch>
          </a:blipFill>
        </p:spPr>
        <p:txBody>
          <a:bodyPr/>
          <a:lstStyle/>
          <a:p>
            <a:endParaRPr lang="en-US" dirty="0"/>
          </a:p>
        </p:txBody>
      </p:sp>
      <p:sp>
        <p:nvSpPr>
          <p:cNvPr id="2" name="Text 18">
            <a:extLst>
              <a:ext uri="{FF2B5EF4-FFF2-40B4-BE49-F238E27FC236}">
                <a16:creationId xmlns:a16="http://schemas.microsoft.com/office/drawing/2014/main" id="{9C898D7C-8102-4DED-5902-AC2EA6EEC557}"/>
              </a:ext>
            </a:extLst>
          </p:cNvPr>
          <p:cNvSpPr/>
          <p:nvPr/>
        </p:nvSpPr>
        <p:spPr>
          <a:xfrm>
            <a:off x="7631230" y="3572249"/>
            <a:ext cx="1609421" cy="1802483"/>
          </a:xfrm>
          <a:prstGeom prst="rect">
            <a:avLst/>
          </a:prstGeom>
          <a:noFill/>
          <a:ln/>
        </p:spPr>
        <p:txBody>
          <a:bodyPr wrap="square" lIns="25400" tIns="25400" rIns="25400" bIns="25400" rtlCol="0" anchor="t">
            <a:normAutofit fontScale="92500" lnSpcReduction="10000"/>
          </a:bodyPr>
          <a:lstStyle/>
          <a:p>
            <a:pPr marL="0" indent="0" algn="l">
              <a:lnSpc>
                <a:spcPct val="80000"/>
              </a:lnSpc>
              <a:buNone/>
            </a:pPr>
            <a:r>
              <a:rPr lang="en-US" sz="16500" b="1" kern="0" spc="-660" dirty="0">
                <a:solidFill>
                  <a:srgbClr val="EE4D62"/>
                </a:solidFill>
                <a:latin typeface="Arial" pitchFamily="34" charset="0"/>
                <a:ea typeface="Arial" pitchFamily="34" charset="-122"/>
                <a:cs typeface="Arial" pitchFamily="34" charset="-120"/>
              </a:rPr>
              <a:t>?</a:t>
            </a:r>
            <a:endParaRPr lang="en-US" sz="16500" dirty="0"/>
          </a:p>
        </p:txBody>
      </p:sp>
      <p:sp>
        <p:nvSpPr>
          <p:cNvPr id="29" name="Text 19">
            <a:extLst>
              <a:ext uri="{FF2B5EF4-FFF2-40B4-BE49-F238E27FC236}">
                <a16:creationId xmlns:a16="http://schemas.microsoft.com/office/drawing/2014/main" id="{FD82692B-F15A-6A1C-919B-3BEA1E1E5C67}"/>
              </a:ext>
            </a:extLst>
          </p:cNvPr>
          <p:cNvSpPr/>
          <p:nvPr/>
        </p:nvSpPr>
        <p:spPr>
          <a:xfrm>
            <a:off x="6182062" y="4862700"/>
            <a:ext cx="4977987" cy="722068"/>
          </a:xfrm>
          <a:prstGeom prst="rect">
            <a:avLst/>
          </a:prstGeom>
          <a:noFill/>
          <a:ln/>
        </p:spPr>
        <p:txBody>
          <a:bodyPr wrap="square" lIns="25400" tIns="25400" rIns="25400" bIns="25400" rtlCol="0" anchor="t">
            <a:normAutofit/>
          </a:bodyPr>
          <a:lstStyle/>
          <a:p>
            <a:pPr marL="0" indent="0" algn="l">
              <a:buNone/>
            </a:pPr>
            <a:r>
              <a:rPr lang="en-US" sz="3600" b="1" dirty="0">
                <a:solidFill>
                  <a:srgbClr val="2B3035"/>
                </a:solidFill>
                <a:latin typeface="Arial" pitchFamily="34" charset="0"/>
                <a:ea typeface="Arial" pitchFamily="34" charset="-122"/>
                <a:cs typeface="Arial" pitchFamily="34" charset="-120"/>
              </a:rPr>
              <a:t>Questions welcome</a:t>
            </a:r>
            <a:endParaRPr lang="en-US" sz="3600" dirty="0"/>
          </a:p>
        </p:txBody>
      </p:sp>
      <p:sp>
        <p:nvSpPr>
          <p:cNvPr id="30" name="Text 20">
            <a:extLst>
              <a:ext uri="{FF2B5EF4-FFF2-40B4-BE49-F238E27FC236}">
                <a16:creationId xmlns:a16="http://schemas.microsoft.com/office/drawing/2014/main" id="{52C08297-1F5D-B00B-83CF-7FE6BB3F1D0D}"/>
              </a:ext>
            </a:extLst>
          </p:cNvPr>
          <p:cNvSpPr/>
          <p:nvPr/>
        </p:nvSpPr>
        <p:spPr>
          <a:xfrm>
            <a:off x="7168256" y="5338604"/>
            <a:ext cx="2694949" cy="361299"/>
          </a:xfrm>
          <a:prstGeom prst="rect">
            <a:avLst/>
          </a:prstGeom>
          <a:noFill/>
          <a:ln/>
        </p:spPr>
        <p:txBody>
          <a:bodyPr wrap="square" lIns="25400" tIns="25400" rIns="25400" bIns="25400" rtlCol="0" anchor="t">
            <a:normAutofit/>
          </a:bodyPr>
          <a:lstStyle/>
          <a:p>
            <a:pPr marL="0" indent="0" algn="l">
              <a:buNone/>
            </a:pPr>
            <a:r>
              <a:rPr lang="en-US" sz="1875" dirty="0">
                <a:solidFill>
                  <a:srgbClr val="4F555B"/>
                </a:solidFill>
                <a:latin typeface="Arial" pitchFamily="34" charset="0"/>
                <a:ea typeface="Arial" pitchFamily="34" charset="-122"/>
                <a:cs typeface="Arial" pitchFamily="34" charset="-120"/>
              </a:rPr>
              <a:t>Thank you — Evan</a:t>
            </a:r>
            <a:endParaRPr lang="en-US" sz="1875" dirty="0"/>
          </a:p>
        </p:txBody>
      </p:sp>
      <p:sp>
        <p:nvSpPr>
          <p:cNvPr id="31" name="Text 1">
            <a:extLst>
              <a:ext uri="{FF2B5EF4-FFF2-40B4-BE49-F238E27FC236}">
                <a16:creationId xmlns:a16="http://schemas.microsoft.com/office/drawing/2014/main" id="{069D33A7-6683-A6A8-385F-570D0390FD2E}"/>
              </a:ext>
            </a:extLst>
          </p:cNvPr>
          <p:cNvSpPr/>
          <p:nvPr/>
        </p:nvSpPr>
        <p:spPr>
          <a:xfrm>
            <a:off x="14212007" y="2664052"/>
            <a:ext cx="3851404" cy="393299"/>
          </a:xfrm>
          <a:prstGeom prst="rect">
            <a:avLst/>
          </a:prstGeom>
          <a:noFill/>
          <a:ln/>
        </p:spPr>
        <p:txBody>
          <a:bodyPr wrap="square" lIns="0" tIns="0" rIns="0" bIns="0" rtlCol="0" anchor="t">
            <a:noAutofit/>
          </a:bodyPr>
          <a:lstStyle/>
          <a:p>
            <a:pPr marL="0" indent="0" algn="l">
              <a:buNone/>
            </a:pPr>
            <a:r>
              <a:rPr lang="en-US" sz="2800" kern="0" spc="288" dirty="0">
                <a:solidFill>
                  <a:srgbClr val="EE4D62"/>
                </a:solidFill>
                <a:latin typeface="Courier New" pitchFamily="34" charset="0"/>
                <a:ea typeface="Courier New" pitchFamily="34" charset="-122"/>
                <a:cs typeface="Courier New" pitchFamily="34" charset="-120"/>
              </a:rPr>
              <a:t>RESOURCES &amp; Q&amp;A</a:t>
            </a:r>
            <a:endParaRPr lang="en-US" sz="2800" dirty="0"/>
          </a:p>
        </p:txBody>
      </p:sp>
      <p:sp>
        <p:nvSpPr>
          <p:cNvPr id="32" name="Shape 2">
            <a:extLst>
              <a:ext uri="{FF2B5EF4-FFF2-40B4-BE49-F238E27FC236}">
                <a16:creationId xmlns:a16="http://schemas.microsoft.com/office/drawing/2014/main" id="{E5A695BC-6632-C08C-7D23-3E7FA249D707}"/>
              </a:ext>
            </a:extLst>
          </p:cNvPr>
          <p:cNvSpPr/>
          <p:nvPr/>
        </p:nvSpPr>
        <p:spPr>
          <a:xfrm flipV="1">
            <a:off x="11524362" y="3782637"/>
            <a:ext cx="6539049" cy="45719"/>
          </a:xfrm>
          <a:prstGeom prst="rect">
            <a:avLst/>
          </a:prstGeom>
          <a:solidFill>
            <a:srgbClr val="E7E7E9"/>
          </a:solidFill>
          <a:ln/>
        </p:spPr>
        <p:txBody>
          <a:bodyPr/>
          <a:lstStyle/>
          <a:p>
            <a:endParaRPr lang="en-US"/>
          </a:p>
        </p:txBody>
      </p:sp>
      <p:sp>
        <p:nvSpPr>
          <p:cNvPr id="33" name="Shape 5">
            <a:extLst>
              <a:ext uri="{FF2B5EF4-FFF2-40B4-BE49-F238E27FC236}">
                <a16:creationId xmlns:a16="http://schemas.microsoft.com/office/drawing/2014/main" id="{4710ED20-3C79-D91B-6865-4F6AA4964166}"/>
              </a:ext>
            </a:extLst>
          </p:cNvPr>
          <p:cNvSpPr/>
          <p:nvPr/>
        </p:nvSpPr>
        <p:spPr>
          <a:xfrm>
            <a:off x="11524362" y="4885632"/>
            <a:ext cx="6539049" cy="45719"/>
          </a:xfrm>
          <a:prstGeom prst="rect">
            <a:avLst/>
          </a:prstGeom>
          <a:solidFill>
            <a:srgbClr val="E7E7E9"/>
          </a:solidFill>
          <a:ln/>
        </p:spPr>
        <p:txBody>
          <a:bodyPr/>
          <a:lstStyle/>
          <a:p>
            <a:endParaRPr lang="en-US"/>
          </a:p>
        </p:txBody>
      </p:sp>
      <p:sp>
        <p:nvSpPr>
          <p:cNvPr id="34" name="Shape 8">
            <a:extLst>
              <a:ext uri="{FF2B5EF4-FFF2-40B4-BE49-F238E27FC236}">
                <a16:creationId xmlns:a16="http://schemas.microsoft.com/office/drawing/2014/main" id="{BDF05961-EAEF-3048-0CFB-ADC1FFC649C7}"/>
              </a:ext>
            </a:extLst>
          </p:cNvPr>
          <p:cNvSpPr/>
          <p:nvPr/>
        </p:nvSpPr>
        <p:spPr>
          <a:xfrm>
            <a:off x="11524362" y="5942907"/>
            <a:ext cx="6539049" cy="45719"/>
          </a:xfrm>
          <a:prstGeom prst="rect">
            <a:avLst/>
          </a:prstGeom>
          <a:solidFill>
            <a:srgbClr val="E7E7E9"/>
          </a:solidFill>
          <a:ln/>
        </p:spPr>
        <p:txBody>
          <a:bodyPr/>
          <a:lstStyle/>
          <a:p>
            <a:endParaRPr lang="en-US"/>
          </a:p>
        </p:txBody>
      </p:sp>
      <p:sp>
        <p:nvSpPr>
          <p:cNvPr id="38" name="Shape 21">
            <a:extLst>
              <a:ext uri="{FF2B5EF4-FFF2-40B4-BE49-F238E27FC236}">
                <a16:creationId xmlns:a16="http://schemas.microsoft.com/office/drawing/2014/main" id="{D01B0003-6CA6-7702-B100-B4CD9B06C468}"/>
              </a:ext>
            </a:extLst>
          </p:cNvPr>
          <p:cNvSpPr/>
          <p:nvPr/>
        </p:nvSpPr>
        <p:spPr>
          <a:xfrm>
            <a:off x="1066800" y="9439275"/>
            <a:ext cx="16154400" cy="9525"/>
          </a:xfrm>
          <a:prstGeom prst="rect">
            <a:avLst/>
          </a:prstGeom>
          <a:solidFill>
            <a:srgbClr val="E7E7E9"/>
          </a:solidFill>
          <a:ln/>
        </p:spPr>
        <p:txBody>
          <a:bodyPr/>
          <a:lstStyle/>
          <a:p>
            <a:endParaRPr lang="en-US"/>
          </a:p>
        </p:txBody>
      </p:sp>
      <p:sp>
        <p:nvSpPr>
          <p:cNvPr id="39" name="Text 22">
            <a:extLst>
              <a:ext uri="{FF2B5EF4-FFF2-40B4-BE49-F238E27FC236}">
                <a16:creationId xmlns:a16="http://schemas.microsoft.com/office/drawing/2014/main" id="{02758E03-8305-C5C6-B5E7-1B8E28297A1F}"/>
              </a:ext>
            </a:extLst>
          </p:cNvPr>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40" name="Text 23">
            <a:extLst>
              <a:ext uri="{FF2B5EF4-FFF2-40B4-BE49-F238E27FC236}">
                <a16:creationId xmlns:a16="http://schemas.microsoft.com/office/drawing/2014/main" id="{1481380B-50E1-C8F7-FE9F-06D65E6DA018}"/>
              </a:ext>
            </a:extLst>
          </p:cNvPr>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Dutch Cloud Native Day</a:t>
            </a:r>
            <a:endParaRPr lang="en-US" sz="1800" dirty="0"/>
          </a:p>
        </p:txBody>
      </p:sp>
      <p:sp>
        <p:nvSpPr>
          <p:cNvPr id="41" name="Text 24">
            <a:extLst>
              <a:ext uri="{FF2B5EF4-FFF2-40B4-BE49-F238E27FC236}">
                <a16:creationId xmlns:a16="http://schemas.microsoft.com/office/drawing/2014/main" id="{76184246-E32E-A3B9-6124-C8057FD2F232}"/>
              </a:ext>
            </a:extLst>
          </p:cNvPr>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17</a:t>
            </a:r>
            <a:endParaRPr lang="en-US" sz="1800" dirty="0"/>
          </a:p>
        </p:txBody>
      </p:sp>
      <p:sp>
        <p:nvSpPr>
          <p:cNvPr id="52" name="Text 3">
            <a:extLst>
              <a:ext uri="{FF2B5EF4-FFF2-40B4-BE49-F238E27FC236}">
                <a16:creationId xmlns:a16="http://schemas.microsoft.com/office/drawing/2014/main" id="{BC712DC1-2F9B-514C-D29F-3B89525EA7BD}"/>
              </a:ext>
            </a:extLst>
          </p:cNvPr>
          <p:cNvSpPr/>
          <p:nvPr/>
        </p:nvSpPr>
        <p:spPr>
          <a:xfrm>
            <a:off x="11384639" y="3075885"/>
            <a:ext cx="9248165" cy="333375"/>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EE4D62"/>
                </a:solidFill>
                <a:latin typeface="Courier New" pitchFamily="34" charset="0"/>
                <a:ea typeface="Courier New" pitchFamily="34" charset="-122"/>
                <a:cs typeface="Courier New" pitchFamily="34" charset="-120"/>
              </a:rPr>
              <a:t>docs.kargo.io</a:t>
            </a:r>
            <a:endParaRPr lang="en-US" sz="2100" dirty="0"/>
          </a:p>
        </p:txBody>
      </p:sp>
      <p:sp>
        <p:nvSpPr>
          <p:cNvPr id="53" name="Text 4">
            <a:extLst>
              <a:ext uri="{FF2B5EF4-FFF2-40B4-BE49-F238E27FC236}">
                <a16:creationId xmlns:a16="http://schemas.microsoft.com/office/drawing/2014/main" id="{C2CD3638-C167-5218-8C7A-FB7AD91649A4}"/>
              </a:ext>
            </a:extLst>
          </p:cNvPr>
          <p:cNvSpPr/>
          <p:nvPr/>
        </p:nvSpPr>
        <p:spPr>
          <a:xfrm>
            <a:off x="11384640" y="3428310"/>
            <a:ext cx="6486266" cy="285753"/>
          </a:xfrm>
          <a:prstGeom prst="rect">
            <a:avLst/>
          </a:prstGeom>
          <a:noFill/>
          <a:ln/>
        </p:spPr>
        <p:txBody>
          <a:bodyPr wrap="square" lIns="25400" tIns="25400" rIns="25400" bIns="25400" rtlCol="0" anchor="t">
            <a:normAutofit fontScale="92500" lnSpcReduction="10000"/>
          </a:bodyPr>
          <a:lstStyle/>
          <a:p>
            <a:pPr marL="0" indent="0" algn="l">
              <a:buNone/>
            </a:pPr>
            <a:r>
              <a:rPr lang="en-US" sz="1875" dirty="0">
                <a:solidFill>
                  <a:srgbClr val="4F555B"/>
                </a:solidFill>
                <a:latin typeface="Arial" pitchFamily="34" charset="0"/>
                <a:ea typeface="Arial" pitchFamily="34" charset="-122"/>
                <a:cs typeface="Arial" pitchFamily="34" charset="-120"/>
              </a:rPr>
              <a:t>Official Kargo documentation</a:t>
            </a:r>
            <a:endParaRPr lang="en-US" sz="1875" dirty="0"/>
          </a:p>
        </p:txBody>
      </p:sp>
      <p:sp>
        <p:nvSpPr>
          <p:cNvPr id="54" name="Text 6">
            <a:extLst>
              <a:ext uri="{FF2B5EF4-FFF2-40B4-BE49-F238E27FC236}">
                <a16:creationId xmlns:a16="http://schemas.microsoft.com/office/drawing/2014/main" id="{1D6FD18F-C2A1-42A4-5D39-96BF99034A7A}"/>
              </a:ext>
            </a:extLst>
          </p:cNvPr>
          <p:cNvSpPr/>
          <p:nvPr/>
        </p:nvSpPr>
        <p:spPr>
          <a:xfrm>
            <a:off x="11384639" y="4133160"/>
            <a:ext cx="9248165" cy="333375"/>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EE4D62"/>
                </a:solidFill>
                <a:latin typeface="Courier New" pitchFamily="34" charset="0"/>
                <a:ea typeface="Courier New" pitchFamily="34" charset="-122"/>
                <a:cs typeface="Courier New" pitchFamily="34" charset="-120"/>
              </a:rPr>
              <a:t>github.com/akuity/kargo</a:t>
            </a:r>
            <a:endParaRPr lang="en-US" sz="2100" dirty="0"/>
          </a:p>
        </p:txBody>
      </p:sp>
      <p:sp>
        <p:nvSpPr>
          <p:cNvPr id="55" name="Text 7">
            <a:extLst>
              <a:ext uri="{FF2B5EF4-FFF2-40B4-BE49-F238E27FC236}">
                <a16:creationId xmlns:a16="http://schemas.microsoft.com/office/drawing/2014/main" id="{90C5F070-EFC2-5513-7B7D-1EE8F5886103}"/>
              </a:ext>
            </a:extLst>
          </p:cNvPr>
          <p:cNvSpPr/>
          <p:nvPr/>
        </p:nvSpPr>
        <p:spPr>
          <a:xfrm>
            <a:off x="11384640" y="4466535"/>
            <a:ext cx="6346538" cy="33337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4F555B"/>
                </a:solidFill>
                <a:latin typeface="Arial" pitchFamily="34" charset="0"/>
                <a:ea typeface="Arial" pitchFamily="34" charset="-122"/>
                <a:cs typeface="Arial" pitchFamily="34" charset="-120"/>
              </a:rPr>
              <a:t>Kargo source code</a:t>
            </a:r>
            <a:endParaRPr lang="en-US" sz="1875" dirty="0"/>
          </a:p>
        </p:txBody>
      </p:sp>
      <p:sp>
        <p:nvSpPr>
          <p:cNvPr id="60" name="Text 16">
            <a:extLst>
              <a:ext uri="{FF2B5EF4-FFF2-40B4-BE49-F238E27FC236}">
                <a16:creationId xmlns:a16="http://schemas.microsoft.com/office/drawing/2014/main" id="{A9A992B5-438B-7C76-1190-8603D776D99C}"/>
              </a:ext>
            </a:extLst>
          </p:cNvPr>
          <p:cNvSpPr/>
          <p:nvPr/>
        </p:nvSpPr>
        <p:spPr>
          <a:xfrm>
            <a:off x="11384639" y="5140786"/>
            <a:ext cx="9248165" cy="333375"/>
          </a:xfrm>
          <a:prstGeom prst="rect">
            <a:avLst/>
          </a:prstGeom>
          <a:noFill/>
          <a:ln/>
        </p:spPr>
        <p:txBody>
          <a:bodyPr wrap="square" lIns="25400" tIns="25400" rIns="25400" bIns="25400" rtlCol="0" anchor="t">
            <a:normAutofit fontScale="92500" lnSpcReduction="10000"/>
          </a:bodyPr>
          <a:lstStyle/>
          <a:p>
            <a:r>
              <a:rPr lang="en-US" sz="2100" dirty="0">
                <a:solidFill>
                  <a:srgbClr val="EE4D62"/>
                </a:solidFill>
                <a:latin typeface="Courier New" pitchFamily="34" charset="0"/>
                <a:ea typeface="Courier New" pitchFamily="34" charset="-122"/>
                <a:cs typeface="Courier New" pitchFamily="34" charset="-120"/>
              </a:rPr>
              <a:t>https://</a:t>
            </a:r>
            <a:r>
              <a:rPr lang="en-US" sz="2100" dirty="0" err="1">
                <a:solidFill>
                  <a:srgbClr val="EE4D62"/>
                </a:solidFill>
                <a:latin typeface="Courier New" pitchFamily="34" charset="0"/>
                <a:ea typeface="Courier New" pitchFamily="34" charset="-122"/>
                <a:cs typeface="Courier New" pitchFamily="34" charset="-120"/>
              </a:rPr>
              <a:t>github.com</a:t>
            </a:r>
            <a:r>
              <a:rPr lang="en-US" sz="2100" dirty="0">
                <a:solidFill>
                  <a:srgbClr val="EE4D62"/>
                </a:solidFill>
                <a:latin typeface="Courier New" pitchFamily="34" charset="0"/>
                <a:ea typeface="Courier New" pitchFamily="34" charset="-122"/>
                <a:cs typeface="Courier New" pitchFamily="34" charset="-120"/>
              </a:rPr>
              <a:t>/</a:t>
            </a:r>
            <a:r>
              <a:rPr lang="en-US" sz="2100" dirty="0" err="1">
                <a:solidFill>
                  <a:srgbClr val="EE4D62"/>
                </a:solidFill>
                <a:latin typeface="Courier New" pitchFamily="34" charset="0"/>
                <a:ea typeface="Courier New" pitchFamily="34" charset="-122"/>
                <a:cs typeface="Courier New" pitchFamily="34" charset="-120"/>
              </a:rPr>
              <a:t>etragni</a:t>
            </a:r>
            <a:r>
              <a:rPr lang="en-US" sz="2100" dirty="0">
                <a:solidFill>
                  <a:srgbClr val="EE4D62"/>
                </a:solidFill>
                <a:latin typeface="Courier New" pitchFamily="34" charset="0"/>
                <a:ea typeface="Courier New" pitchFamily="34" charset="-122"/>
                <a:cs typeface="Courier New" pitchFamily="34" charset="-120"/>
              </a:rPr>
              <a:t>/talk_kargo</a:t>
            </a:r>
            <a:endParaRPr lang="en-US" sz="2100" dirty="0"/>
          </a:p>
        </p:txBody>
      </p:sp>
      <p:sp>
        <p:nvSpPr>
          <p:cNvPr id="61" name="Text 17">
            <a:extLst>
              <a:ext uri="{FF2B5EF4-FFF2-40B4-BE49-F238E27FC236}">
                <a16:creationId xmlns:a16="http://schemas.microsoft.com/office/drawing/2014/main" id="{59927F0B-30A5-A3C3-ECE1-22B74AD60739}"/>
              </a:ext>
            </a:extLst>
          </p:cNvPr>
          <p:cNvSpPr/>
          <p:nvPr/>
        </p:nvSpPr>
        <p:spPr>
          <a:xfrm>
            <a:off x="11384638" y="5584768"/>
            <a:ext cx="6678773" cy="230270"/>
          </a:xfrm>
          <a:prstGeom prst="rect">
            <a:avLst/>
          </a:prstGeom>
          <a:noFill/>
          <a:ln/>
        </p:spPr>
        <p:txBody>
          <a:bodyPr wrap="square" lIns="25400" tIns="25400" rIns="25400" bIns="25400" rtlCol="0" anchor="t">
            <a:normAutofit fontScale="70000" lnSpcReduction="20000"/>
          </a:bodyPr>
          <a:lstStyle/>
          <a:p>
            <a:pPr marL="0" indent="0" algn="l">
              <a:buNone/>
            </a:pPr>
            <a:r>
              <a:rPr lang="en-US" sz="1875" dirty="0">
                <a:solidFill>
                  <a:srgbClr val="4F555B"/>
                </a:solidFill>
                <a:latin typeface="Arial" pitchFamily="34" charset="0"/>
                <a:ea typeface="Arial" pitchFamily="34" charset="-122"/>
                <a:cs typeface="Arial" pitchFamily="34" charset="-120"/>
              </a:rPr>
              <a:t>This demo repo</a:t>
            </a:r>
            <a:endParaRPr lang="en-US" sz="18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2110</TotalTime>
  <Words>2630</Words>
  <Application>Microsoft Macintosh PowerPoint</Application>
  <PresentationFormat>Custom</PresentationFormat>
  <Paragraphs>372</Paragraphs>
  <Slides>17</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Evangelista TRAGNI</cp:lastModifiedBy>
  <cp:revision>11</cp:revision>
  <dcterms:created xsi:type="dcterms:W3CDTF">2026-06-15T09:21:31Z</dcterms:created>
  <dcterms:modified xsi:type="dcterms:W3CDTF">2026-10-30T11:43:32Z</dcterms:modified>
</cp:coreProperties>
</file>